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slid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377A900-7B2E-46D6-9B85-6FA399898D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745613-B39A-4462-81A8-41ADE3AE6A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F287AB-3E26-413C-A7E0-139F487F6F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D99077-08A5-4A87-B3EF-BD73A316B5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3FE14-43BB-4A7C-94CC-BB9ED08779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913BAD-E0AA-40F4-BBC3-E277EFA111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10A571-CB34-4FFD-95B8-83A8B03B81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BFA21D-278A-4949-BB2A-6AFC4D408F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B0DCC8-A446-43EC-83D3-5751DFAB22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92A1CA-273A-48D0-BC1A-EFEBC9288A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5BD822-50A9-44C6-A33E-5674BCC332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C50C08-8DBE-445C-A1D5-4F03FC8356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8B47DD-D099-4BF1-9EEB-B9CA4C5C7B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347400" y="6537960"/>
            <a:ext cx="11503080" cy="360"/>
          </a:xfrm>
          <a:prstGeom prst="line">
            <a:avLst/>
          </a:prstGeom>
          <a:ln w="12700">
            <a:solidFill>
              <a:srgbClr val="D9C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FDCAED-C6A5-4295-8865-C884B2F5ADBF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FF5CA8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713160" y="658440"/>
            <a:ext cx="6217560" cy="516600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6510">
            <a:solidFill>
              <a:srgbClr val="454855"/>
            </a:solidFill>
            <a:round/>
          </a:ln>
          <a:effectLst>
            <a:outerShdw algn="bl" blurRad="25560" dir="2700000" dist="13746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Text 3"/>
          <p:cNvSpPr/>
          <p:nvPr/>
        </p:nvSpPr>
        <p:spPr>
          <a:xfrm>
            <a:off x="1051560" y="1078920"/>
            <a:ext cx="55317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DOMINIOS Y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ALOJAMIENTO WEB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1078920" y="2770560"/>
            <a:ext cx="525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5CA8"/>
                </a:solidFill>
                <a:effectLst/>
                <a:uFillTx/>
                <a:latin typeface="Aptos"/>
                <a:ea typeface="Aptos"/>
              </a:rPr>
              <a:t>Cómo funcionan, cuánto cuestan y qué se necesita para publicar un sistema web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1078920" y="3968280"/>
            <a:ext cx="4480560" cy="360"/>
          </a:xfrm>
          <a:prstGeom prst="line">
            <a:avLst/>
          </a:prstGeom>
          <a:ln w="38100">
            <a:solidFill>
              <a:srgbClr val="FF5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Text 6"/>
          <p:cNvSpPr/>
          <p:nvPr/>
        </p:nvSpPr>
        <p:spPr>
          <a:xfrm>
            <a:off x="1078920" y="4160520"/>
            <a:ext cx="5303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Aplicación al proyecto de rehabilitación del IESS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1078920" y="5047560"/>
            <a:ext cx="5394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Andony Cortez · Neicer Jimenez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GRUPO 6 · Interacción Hombre Máquina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/mnt/data/a_clean_vector_3d_ish_flat_yet_glossy_icon_illustr.png"/>
          <p:cNvPicPr/>
          <p:nvPr/>
        </p:nvPicPr>
        <p:blipFill>
          <a:blip r:embed="rId1"/>
          <a:stretch/>
        </p:blipFill>
        <p:spPr>
          <a:xfrm>
            <a:off x="7406640" y="1216080"/>
            <a:ext cx="3885840" cy="38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sldNum" idx="5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0AA6FC-1B7B-4563-A127-63BE1C6A68C7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20B7B0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Text 2"/>
          <p:cNvSpPr/>
          <p:nvPr/>
        </p:nvSpPr>
        <p:spPr>
          <a:xfrm>
            <a:off x="594360" y="292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¿QUÉ ES UN DOMINIO Y CÓMO </a:t>
            </a: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FUNCIONA EL DNS?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621720" y="914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B7B0"/>
                </a:solidFill>
                <a:effectLst/>
                <a:uFillTx/>
                <a:latin typeface="Aptos"/>
                <a:ea typeface="Aptos"/>
              </a:rPr>
              <a:t>Con</a:t>
            </a:r>
            <a:r>
              <a:rPr lang="en-US" sz="1500" b="1" u="none" strike="noStrike">
                <a:solidFill>
                  <a:srgbClr val="20B7B0"/>
                </a:solidFill>
                <a:effectLst/>
                <a:uFillTx/>
                <a:latin typeface="Aptos"/>
                <a:ea typeface="Aptos"/>
              </a:rPr>
              <a:t>cept</a:t>
            </a:r>
            <a:r>
              <a:rPr lang="en-US" sz="1500" b="1" u="none" strike="noStrike">
                <a:solidFill>
                  <a:srgbClr val="20B7B0"/>
                </a:solidFill>
                <a:effectLst/>
                <a:uFillTx/>
                <a:latin typeface="Aptos"/>
                <a:ea typeface="Aptos"/>
              </a:rPr>
              <a:t>os </a:t>
            </a:r>
            <a:r>
              <a:rPr lang="en-US" sz="1500" b="1" u="none" strike="noStrike">
                <a:solidFill>
                  <a:srgbClr val="20B7B0"/>
                </a:solidFill>
                <a:effectLst/>
                <a:uFillTx/>
                <a:latin typeface="Aptos"/>
                <a:ea typeface="Aptos"/>
              </a:rPr>
              <a:t>bási</a:t>
            </a:r>
            <a:r>
              <a:rPr lang="en-US" sz="1500" b="1" u="none" strike="noStrike">
                <a:solidFill>
                  <a:srgbClr val="20B7B0"/>
                </a:solidFill>
                <a:effectLst/>
                <a:uFillTx/>
                <a:latin typeface="Aptos"/>
                <a:ea typeface="Aptos"/>
              </a:rPr>
              <a:t>cos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20B7B0"/>
          </a:solidFill>
          <a:ln w="12700">
            <a:solidFill>
              <a:srgbClr val="20B7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Text 5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/mnt/data/a_clean_vector_3d_ish_flat_yet_glossy_icon_illustr.png"/>
          <p:cNvPicPr/>
          <p:nvPr/>
        </p:nvPicPr>
        <p:blipFill>
          <a:blip r:embed="rId1"/>
          <a:stretch/>
        </p:blipFill>
        <p:spPr>
          <a:xfrm>
            <a:off x="8412480" y="1417320"/>
            <a:ext cx="2788560" cy="278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Shape 6"/>
          <p:cNvSpPr/>
          <p:nvPr/>
        </p:nvSpPr>
        <p:spPr>
          <a:xfrm>
            <a:off x="685800" y="1444680"/>
            <a:ext cx="6811920" cy="20113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3970">
            <a:solidFill>
              <a:srgbClr val="4548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Text 7"/>
          <p:cNvSpPr/>
          <p:nvPr/>
        </p:nvSpPr>
        <p:spPr>
          <a:xfrm>
            <a:off x="960120" y="1719000"/>
            <a:ext cx="6217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Un dominio es el nombre que identifica un servicio en Internet. Evita que el usuario tenga que recordar una dirección IP.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960120" y="2670120"/>
            <a:ext cx="6217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0B7B0"/>
                </a:solidFill>
                <a:effectLst/>
                <a:uFillTx/>
                <a:latin typeface="Aptos"/>
                <a:ea typeface="Aptos"/>
              </a:rPr>
              <a:t>El DNS relaciona ese nombre con la dirección o servicio técnico correspondiente.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777240" y="3886200"/>
            <a:ext cx="3245760" cy="1462680"/>
          </a:xfrm>
          <a:prstGeom prst="roundRect">
            <a:avLst>
              <a:gd name="adj" fmla="val 5000"/>
            </a:avLst>
          </a:prstGeom>
          <a:solidFill>
            <a:srgbClr val="DCEBFF"/>
          </a:solidFill>
          <a:ln w="15240">
            <a:solidFill>
              <a:srgbClr val="DCEBFF"/>
            </a:solidFill>
            <a:round/>
          </a:ln>
          <a:effectLst>
            <a:outerShdw algn="bl" blurRad="322580160" dir="0" dist="17741916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941760" y="4050720"/>
            <a:ext cx="2916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DOMINIO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941760" y="4507920"/>
            <a:ext cx="2916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No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mbr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 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que 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escr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ibe 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el 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usu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ario.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Ej.: 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eje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mpl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o.co</a:t>
            </a:r>
            <a:r>
              <a:rPr lang="en-US" sz="18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4480560" y="3886200"/>
            <a:ext cx="3245760" cy="1462680"/>
          </a:xfrm>
          <a:prstGeom prst="roundRect">
            <a:avLst>
              <a:gd name="adj" fmla="val 5000"/>
            </a:avLst>
          </a:prstGeom>
          <a:solidFill>
            <a:srgbClr val="DDF7F3"/>
          </a:solidFill>
          <a:ln w="15240">
            <a:solidFill>
              <a:srgbClr val="DDF7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4645080" y="4050720"/>
            <a:ext cx="2916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DNS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4645080" y="4507920"/>
            <a:ext cx="2916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Conecta el nombre con el servidor o servicio correcto.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5"/>
          <p:cNvSpPr/>
          <p:nvPr/>
        </p:nvSpPr>
        <p:spPr>
          <a:xfrm>
            <a:off x="8183880" y="3886200"/>
            <a:ext cx="3245760" cy="1462680"/>
          </a:xfrm>
          <a:prstGeom prst="roundRect">
            <a:avLst>
              <a:gd name="adj" fmla="val 5000"/>
            </a:avLst>
          </a:prstGeom>
          <a:solidFill>
            <a:srgbClr val="FFF0CF"/>
          </a:solidFill>
          <a:ln w="15240">
            <a:solidFill>
              <a:srgbClr val="FFF0C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348400" y="4050720"/>
            <a:ext cx="2916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HOSTING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8348400" y="4507920"/>
            <a:ext cx="2916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Infraestructura donde se ejecuta o almacena la web o sistema.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3090600" y="5779080"/>
            <a:ext cx="5988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5CA8"/>
                </a:solidFill>
                <a:effectLst/>
                <a:uFillTx/>
                <a:latin typeface="Georgia"/>
                <a:ea typeface="Georgia"/>
              </a:rPr>
              <a:t>Dominio y alojamiento NO son lo mismo.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sldNum" idx="6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28C259-8016-4B76-AF4B-87A215464BDA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7C3AED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Text 2"/>
          <p:cNvSpPr/>
          <p:nvPr/>
        </p:nvSpPr>
        <p:spPr>
          <a:xfrm>
            <a:off x="594360" y="292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TIPOS DE EXTENSIONES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621720" y="914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C3AED"/>
                </a:solidFill>
                <a:effectLst/>
                <a:uFillTx/>
                <a:latin typeface="Aptos"/>
                <a:ea typeface="Aptos"/>
              </a:rPr>
              <a:t>¿Cuál se usa y por qué?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Text 5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6"/>
          <p:cNvSpPr/>
          <p:nvPr/>
        </p:nvSpPr>
        <p:spPr>
          <a:xfrm>
            <a:off x="438840" y="1600200"/>
            <a:ext cx="2139480" cy="3154320"/>
          </a:xfrm>
          <a:prstGeom prst="roundRect">
            <a:avLst>
              <a:gd name="adj" fmla="val 3419"/>
            </a:avLst>
          </a:prstGeom>
          <a:solidFill>
            <a:srgbClr val="DCEBFF"/>
          </a:solidFill>
          <a:ln w="15240">
            <a:solidFill>
              <a:srgbClr val="DCEB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Text 7"/>
          <p:cNvSpPr/>
          <p:nvPr/>
        </p:nvSpPr>
        <p:spPr>
          <a:xfrm>
            <a:off x="603360" y="176472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.com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603360" y="2221920"/>
            <a:ext cx="1810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Empresas y proyectos de uso general.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2779920" y="1600200"/>
            <a:ext cx="2139480" cy="3154320"/>
          </a:xfrm>
          <a:prstGeom prst="roundRect">
            <a:avLst>
              <a:gd name="adj" fmla="val 3419"/>
            </a:avLst>
          </a:prstGeom>
          <a:solidFill>
            <a:srgbClr val="FFF0CF"/>
          </a:solidFill>
          <a:ln w="15240">
            <a:solidFill>
              <a:srgbClr val="FFF0C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2944440" y="176472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.ec / .com.ec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2944440" y="2221920"/>
            <a:ext cx="1810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Proyectos relacionados con Ecuador.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5120640" y="1600200"/>
            <a:ext cx="2139480" cy="3154320"/>
          </a:xfrm>
          <a:prstGeom prst="roundRect">
            <a:avLst>
              <a:gd name="adj" fmla="val 3419"/>
            </a:avLst>
          </a:prstGeom>
          <a:solidFill>
            <a:srgbClr val="EEE4FF"/>
          </a:solidFill>
          <a:ln w="15240">
            <a:solidFill>
              <a:srgbClr val="EEE4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5285160" y="176472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7C3AED"/>
                </a:solidFill>
                <a:effectLst/>
                <a:uFillTx/>
                <a:latin typeface="Aptos"/>
                <a:ea typeface="Aptos"/>
              </a:rPr>
              <a:t>.edu.ec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5285160" y="2221920"/>
            <a:ext cx="1810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Instituciones educativas del Ecuador.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5"/>
          <p:cNvSpPr/>
          <p:nvPr/>
        </p:nvSpPr>
        <p:spPr>
          <a:xfrm>
            <a:off x="7461360" y="1600200"/>
            <a:ext cx="2139480" cy="3154320"/>
          </a:xfrm>
          <a:prstGeom prst="roundRect">
            <a:avLst>
              <a:gd name="adj" fmla="val 3419"/>
            </a:avLst>
          </a:prstGeom>
          <a:solidFill>
            <a:srgbClr val="DDF7F3"/>
          </a:solidFill>
          <a:ln w="15240">
            <a:solidFill>
              <a:srgbClr val="DDF7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7626240" y="176472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.org.ec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7626240" y="2221920"/>
            <a:ext cx="1810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Organizaciones sociales sin fines de lucro.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8"/>
          <p:cNvSpPr/>
          <p:nvPr/>
        </p:nvSpPr>
        <p:spPr>
          <a:xfrm>
            <a:off x="9802440" y="1600200"/>
            <a:ext cx="2139480" cy="3154320"/>
          </a:xfrm>
          <a:prstGeom prst="roundRect">
            <a:avLst>
              <a:gd name="adj" fmla="val 3419"/>
            </a:avLst>
          </a:prstGeom>
          <a:solidFill>
            <a:srgbClr val="FFE2DE"/>
          </a:solidFill>
          <a:ln w="15240">
            <a:solidFill>
              <a:srgbClr val="FFE2DE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9966960" y="176472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74C3C"/>
                </a:solidFill>
                <a:effectLst/>
                <a:uFillTx/>
                <a:latin typeface="Aptos"/>
                <a:ea typeface="Aptos"/>
              </a:rPr>
              <a:t>.gob.ec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9966960" y="2221920"/>
            <a:ext cx="1810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Entidades del Gobierno del Ecuador.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1"/>
          <p:cNvSpPr/>
          <p:nvPr/>
        </p:nvSpPr>
        <p:spPr>
          <a:xfrm>
            <a:off x="960120" y="5166360"/>
            <a:ext cx="10195200" cy="868320"/>
          </a:xfrm>
          <a:prstGeom prst="roundRect">
            <a:avLst>
              <a:gd name="adj" fmla="val 16667"/>
            </a:avLst>
          </a:prstGeom>
          <a:solidFill>
            <a:srgbClr val="FFF0C7"/>
          </a:solidFill>
          <a:ln w="17780">
            <a:solidFill>
              <a:srgbClr val="E8A3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8" name="Text 22"/>
          <p:cNvSpPr/>
          <p:nvPr/>
        </p:nvSpPr>
        <p:spPr>
          <a:xfrm>
            <a:off x="1170360" y="5394960"/>
            <a:ext cx="97837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IMPORTANTE: algunas extensiones especiales exigen requisitos y aprobación. Por ejemplo, .edu.ec y .gob.ec no se registran igual que un .com.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594360" y="6346080"/>
            <a:ext cx="10240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57A71"/>
                </a:solidFill>
                <a:effectLst/>
                <a:uFillTx/>
                <a:latin typeface="Aptos"/>
                <a:ea typeface="Aptos"/>
              </a:rPr>
              <a:t>Fuente: NIC.EC — políticas y requisitos de dominios .ec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sldNum" idx="7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DFDF0B-28F9-4977-95F4-47ABC29529E6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FF5CA8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3" name="Text 2"/>
          <p:cNvSpPr/>
          <p:nvPr/>
        </p:nvSpPr>
        <p:spPr>
          <a:xfrm>
            <a:off x="594360" y="292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CRITERIOS TÉCNICOS PARA ELEGIR UN DOMINIO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621720" y="914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5CA8"/>
                </a:solidFill>
                <a:effectLst/>
                <a:uFillTx/>
                <a:latin typeface="Aptos"/>
                <a:ea typeface="Aptos"/>
              </a:rPr>
              <a:t>No se elige solo por “verse bonito”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FF5CA8"/>
          </a:solidFill>
          <a:ln w="12700">
            <a:solidFill>
              <a:srgbClr val="FF5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6" name="Text 5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640080" y="1417320"/>
            <a:ext cx="3154320" cy="1874160"/>
          </a:xfrm>
          <a:prstGeom prst="roundRect">
            <a:avLst>
              <a:gd name="adj" fmla="val 3902"/>
            </a:avLst>
          </a:prstGeom>
          <a:solidFill>
            <a:srgbClr val="DCEBFF"/>
          </a:solidFill>
          <a:ln w="15240">
            <a:solidFill>
              <a:srgbClr val="DCEB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Text 7"/>
          <p:cNvSpPr/>
          <p:nvPr/>
        </p:nvSpPr>
        <p:spPr>
          <a:xfrm>
            <a:off x="804600" y="1581840"/>
            <a:ext cx="282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1. Nombre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804600" y="2039040"/>
            <a:ext cx="2825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Corto, fácil de escribir y relacionado con el servicio.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4187880" y="1417320"/>
            <a:ext cx="3154320" cy="1874160"/>
          </a:xfrm>
          <a:prstGeom prst="roundRect">
            <a:avLst>
              <a:gd name="adj" fmla="val 3902"/>
            </a:avLst>
          </a:prstGeom>
          <a:solidFill>
            <a:srgbClr val="DDF7F3"/>
          </a:solidFill>
          <a:ln w="15240">
            <a:solidFill>
              <a:srgbClr val="DDF7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4352400" y="1581840"/>
            <a:ext cx="282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2. Disponibilidad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4352400" y="2039040"/>
            <a:ext cx="2825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Debe estar libre y no confundirse con otra entidad o marca.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7735680" y="1417320"/>
            <a:ext cx="3154320" cy="1874160"/>
          </a:xfrm>
          <a:prstGeom prst="roundRect">
            <a:avLst>
              <a:gd name="adj" fmla="val 3902"/>
            </a:avLst>
          </a:prstGeom>
          <a:solidFill>
            <a:srgbClr val="FFF0CF"/>
          </a:solidFill>
          <a:ln w="15240">
            <a:solidFill>
              <a:srgbClr val="FFF0C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7900560" y="1581840"/>
            <a:ext cx="282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3. Extensión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7900560" y="2039040"/>
            <a:ext cx="2825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Debe corresponder al proyecto y cumplir sus requisitos.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5"/>
          <p:cNvSpPr/>
          <p:nvPr/>
        </p:nvSpPr>
        <p:spPr>
          <a:xfrm>
            <a:off x="640080" y="3794760"/>
            <a:ext cx="3154320" cy="1874160"/>
          </a:xfrm>
          <a:prstGeom prst="roundRect">
            <a:avLst>
              <a:gd name="adj" fmla="val 3902"/>
            </a:avLst>
          </a:prstGeom>
          <a:solidFill>
            <a:srgbClr val="EEE4FF"/>
          </a:solidFill>
          <a:ln w="15240">
            <a:solidFill>
              <a:srgbClr val="EEE4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804600" y="3959280"/>
            <a:ext cx="282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7C3AED"/>
                </a:solidFill>
                <a:effectLst/>
                <a:uFillTx/>
                <a:latin typeface="Aptos"/>
                <a:ea typeface="Aptos"/>
              </a:rPr>
              <a:t>4. DNS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804600" y="4416480"/>
            <a:ext cx="2825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Debe dirigir correctamente web, correo, API u otros servicios.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8"/>
          <p:cNvSpPr/>
          <p:nvPr/>
        </p:nvSpPr>
        <p:spPr>
          <a:xfrm>
            <a:off x="4187880" y="3794760"/>
            <a:ext cx="3154320" cy="1874160"/>
          </a:xfrm>
          <a:prstGeom prst="roundRect">
            <a:avLst>
              <a:gd name="adj" fmla="val 3902"/>
            </a:avLst>
          </a:prstGeom>
          <a:solidFill>
            <a:srgbClr val="FFE2DE"/>
          </a:solidFill>
          <a:ln w="15240">
            <a:solidFill>
              <a:srgbClr val="FFE2DE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4352400" y="3959280"/>
            <a:ext cx="282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74C3C"/>
                </a:solidFill>
                <a:effectLst/>
                <a:uFillTx/>
                <a:latin typeface="Aptos"/>
                <a:ea typeface="Aptos"/>
              </a:rPr>
              <a:t>5. Seguridad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0"/>
          <p:cNvSpPr/>
          <p:nvPr/>
        </p:nvSpPr>
        <p:spPr>
          <a:xfrm>
            <a:off x="4352400" y="4416480"/>
            <a:ext cx="2825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Administración protegida y uso de HTTPS/TLS.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1"/>
          <p:cNvSpPr/>
          <p:nvPr/>
        </p:nvSpPr>
        <p:spPr>
          <a:xfrm>
            <a:off x="7735680" y="3794760"/>
            <a:ext cx="3154320" cy="1874160"/>
          </a:xfrm>
          <a:prstGeom prst="roundRect">
            <a:avLst>
              <a:gd name="adj" fmla="val 3902"/>
            </a:avLst>
          </a:prstGeom>
          <a:solidFill>
            <a:srgbClr val="EAF4E0"/>
          </a:solidFill>
          <a:ln w="15240">
            <a:solidFill>
              <a:srgbClr val="EAF4E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3" name="Text 22"/>
          <p:cNvSpPr/>
          <p:nvPr/>
        </p:nvSpPr>
        <p:spPr>
          <a:xfrm>
            <a:off x="7900560" y="3959280"/>
            <a:ext cx="2825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4F8A10"/>
                </a:solidFill>
                <a:effectLst/>
                <a:uFillTx/>
                <a:latin typeface="Aptos"/>
                <a:ea typeface="Aptos"/>
              </a:rPr>
              <a:t>6. Renovación y crecimiento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3"/>
          <p:cNvSpPr/>
          <p:nvPr/>
        </p:nvSpPr>
        <p:spPr>
          <a:xfrm>
            <a:off x="7900560" y="4416480"/>
            <a:ext cx="2825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Definir responsable, presupuesto y posibles subdominios.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sldNum" idx="8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235ABD-387E-49FD-ADAA-402015D443DA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F59E0B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94360" y="292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¿DE QUÉ DEPENDE EL COSTO?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621720" y="914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Dominio y alojamiento se calculan por separado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658440" y="1353240"/>
            <a:ext cx="5440320" cy="440712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 w="15240">
            <a:solidFill>
              <a:srgbClr val="1468D4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1051560" y="16732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COSTO DEL DOMINIO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1051560" y="2414160"/>
            <a:ext cx="127800" cy="127800"/>
          </a:xfrm>
          <a:prstGeom prst="ellipse">
            <a:avLst/>
          </a:prstGeom>
          <a:solidFill>
            <a:srgbClr val="1468D4"/>
          </a:solidFill>
          <a:ln w="12700">
            <a:solidFill>
              <a:srgbClr val="146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1280160" y="2331720"/>
            <a:ext cx="434304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Extensión elegida (.com, .ec, .edu.ec, etc.)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1051560" y="3076920"/>
            <a:ext cx="127800" cy="127800"/>
          </a:xfrm>
          <a:prstGeom prst="ellipse">
            <a:avLst/>
          </a:prstGeom>
          <a:solidFill>
            <a:srgbClr val="1468D4"/>
          </a:solidFill>
          <a:ln w="12700">
            <a:solidFill>
              <a:srgbClr val="146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1280160" y="2994840"/>
            <a:ext cx="434304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Registrador y periodo de registro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1051560" y="3740040"/>
            <a:ext cx="127800" cy="127800"/>
          </a:xfrm>
          <a:prstGeom prst="ellipse">
            <a:avLst/>
          </a:prstGeom>
          <a:solidFill>
            <a:srgbClr val="1468D4"/>
          </a:solidFill>
          <a:ln w="12700">
            <a:solidFill>
              <a:srgbClr val="146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1280160" y="3657600"/>
            <a:ext cx="434304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Precio de renovación anual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1051560" y="4402800"/>
            <a:ext cx="127800" cy="127800"/>
          </a:xfrm>
          <a:prstGeom prst="ellipse">
            <a:avLst/>
          </a:prstGeom>
          <a:solidFill>
            <a:srgbClr val="1468D4"/>
          </a:solidFill>
          <a:ln w="12700">
            <a:solidFill>
              <a:srgbClr val="146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1280160" y="4320720"/>
            <a:ext cx="4343040" cy="62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Servicios adicionales y requisitos administrativos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6355080" y="1353240"/>
            <a:ext cx="5166000" cy="4407120"/>
          </a:xfrm>
          <a:prstGeom prst="roundRect">
            <a:avLst>
              <a:gd name="adj" fmla="val 16667"/>
            </a:avLst>
          </a:prstGeom>
          <a:solidFill>
            <a:srgbClr val="FFF0CF"/>
          </a:solidFill>
          <a:ln w="15240">
            <a:solidFill>
              <a:srgbClr val="F59E0B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3" name="Text 17"/>
          <p:cNvSpPr/>
          <p:nvPr/>
        </p:nvSpPr>
        <p:spPr>
          <a:xfrm>
            <a:off x="6766560" y="1673280"/>
            <a:ext cx="4343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COSTO DEL HOSTING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6812280" y="2350080"/>
            <a:ext cx="127800" cy="127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5" name="Text 19"/>
          <p:cNvSpPr/>
          <p:nvPr/>
        </p:nvSpPr>
        <p:spPr>
          <a:xfrm>
            <a:off x="7040880" y="2267640"/>
            <a:ext cx="41144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CPU y memoria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0"/>
          <p:cNvSpPr/>
          <p:nvPr/>
        </p:nvSpPr>
        <p:spPr>
          <a:xfrm>
            <a:off x="6812280" y="2926080"/>
            <a:ext cx="127800" cy="127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7040880" y="2843640"/>
            <a:ext cx="41144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Almacenamiento y tráfico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2"/>
          <p:cNvSpPr/>
          <p:nvPr/>
        </p:nvSpPr>
        <p:spPr>
          <a:xfrm>
            <a:off x="6812280" y="3502080"/>
            <a:ext cx="127800" cy="127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9" name="Text 23"/>
          <p:cNvSpPr/>
          <p:nvPr/>
        </p:nvSpPr>
        <p:spPr>
          <a:xfrm>
            <a:off x="7040880" y="3420000"/>
            <a:ext cx="41144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Base de datos y respaldos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4"/>
          <p:cNvSpPr/>
          <p:nvPr/>
        </p:nvSpPr>
        <p:spPr>
          <a:xfrm>
            <a:off x="6812280" y="4078080"/>
            <a:ext cx="127800" cy="127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1" name="Text 25"/>
          <p:cNvSpPr/>
          <p:nvPr/>
        </p:nvSpPr>
        <p:spPr>
          <a:xfrm>
            <a:off x="7040880" y="3996000"/>
            <a:ext cx="41144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Seguridad, monitoreo y soporte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6"/>
          <p:cNvSpPr/>
          <p:nvPr/>
        </p:nvSpPr>
        <p:spPr>
          <a:xfrm>
            <a:off x="6812280" y="4654440"/>
            <a:ext cx="127800" cy="127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3" name="Text 27"/>
          <p:cNvSpPr/>
          <p:nvPr/>
        </p:nvSpPr>
        <p:spPr>
          <a:xfrm>
            <a:off x="7040880" y="4572000"/>
            <a:ext cx="41144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Disponibilidad y escalabilidad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8"/>
          <p:cNvSpPr/>
          <p:nvPr/>
        </p:nvSpPr>
        <p:spPr>
          <a:xfrm>
            <a:off x="1280160" y="5925240"/>
            <a:ext cx="9646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FF5CA8"/>
                </a:solidFill>
                <a:effectLst/>
                <a:uFillTx/>
                <a:latin typeface="Georgia"/>
                <a:ea typeface="Georgia"/>
              </a:rPr>
              <a:t>Una página informativa puede costar muy poco; un sistema con usuarios y datos persistentes necesita más infraestructura.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9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222A63-02EB-4653-B07A-512A5DAA3BCB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20B7B0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7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594360" y="292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ALOJAMIENTO WEB (HOSTING)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621720" y="914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B7B0"/>
                </a:solidFill>
                <a:effectLst/>
                <a:uFillTx/>
                <a:latin typeface="Aptos"/>
                <a:ea typeface="Aptos"/>
              </a:rPr>
              <a:t>¿Dónde vive realmente una web o sistema?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20B7B0"/>
          </a:solidFill>
          <a:ln w="12700">
            <a:solidFill>
              <a:srgbClr val="20B7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a_clean_colorful_vector_style_illustration_of_clo.png"/>
          <p:cNvPicPr/>
          <p:nvPr/>
        </p:nvPicPr>
        <p:blipFill>
          <a:blip r:embed="rId1"/>
          <a:stretch/>
        </p:blipFill>
        <p:spPr>
          <a:xfrm>
            <a:off x="8389800" y="1371600"/>
            <a:ext cx="2605680" cy="26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6"/>
          <p:cNvSpPr/>
          <p:nvPr/>
        </p:nvSpPr>
        <p:spPr>
          <a:xfrm>
            <a:off x="731520" y="141732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El alojamiento es la infraestructura donde se almacenan y ejecutan los componentes del sistema.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731520" y="2331720"/>
            <a:ext cx="6629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Puede ser estático, compartido, VPS, nube o infraestructura propia de una institución.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777240" y="3337560"/>
            <a:ext cx="3382920" cy="1874160"/>
          </a:xfrm>
          <a:prstGeom prst="roundRect">
            <a:avLst>
              <a:gd name="adj" fmla="val 3902"/>
            </a:avLst>
          </a:prstGeom>
          <a:solidFill>
            <a:srgbClr val="DCEBFF"/>
          </a:solidFill>
          <a:ln w="15240">
            <a:solidFill>
              <a:srgbClr val="DCEB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941760" y="3502080"/>
            <a:ext cx="3053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Sitio estático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941760" y="3959280"/>
            <a:ext cx="3053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Entrega HTML, CSS y JavaScript. Ideal para contenido que cambia poco y no necesita lógica de servidor.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4407480" y="3337560"/>
            <a:ext cx="3382920" cy="1874160"/>
          </a:xfrm>
          <a:prstGeom prst="roundRect">
            <a:avLst>
              <a:gd name="adj" fmla="val 3902"/>
            </a:avLst>
          </a:prstGeom>
          <a:solidFill>
            <a:srgbClr val="DDF7F3"/>
          </a:solidFill>
          <a:ln w="15240">
            <a:solidFill>
              <a:srgbClr val="DDF7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4572000" y="3502080"/>
            <a:ext cx="3053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Sistema dinámico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4572000" y="3959280"/>
            <a:ext cx="3053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Necesita backend/API para procesar usuarios, reglas de negocio, citas, pagos u otras acciones.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4"/>
          <p:cNvSpPr/>
          <p:nvPr/>
        </p:nvSpPr>
        <p:spPr>
          <a:xfrm>
            <a:off x="8028360" y="3337560"/>
            <a:ext cx="3382920" cy="1874160"/>
          </a:xfrm>
          <a:prstGeom prst="roundRect">
            <a:avLst>
              <a:gd name="adj" fmla="val 3902"/>
            </a:avLst>
          </a:prstGeom>
          <a:solidFill>
            <a:srgbClr val="FFF0CF"/>
          </a:solidFill>
          <a:ln w="15240">
            <a:solidFill>
              <a:srgbClr val="FFF0C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8192880" y="3502080"/>
            <a:ext cx="3053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Datos persistentes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8192880" y="3959280"/>
            <a:ext cx="3053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Cuando existe base de datos se requieren controles de acceso, respaldos y recuperación.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sldNum" idx="10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5D4D5D-3B39-4CAE-8DBA-3F7700F78FEC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1468D4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594360" y="292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¿CÓMO FUNCIONA DOMINIO + DNS + HOSTING?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621720" y="914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Flujo típico de un sistema web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1468D4"/>
          </a:solidFill>
          <a:ln w="12700">
            <a:solidFill>
              <a:srgbClr val="146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502920" y="2423160"/>
            <a:ext cx="1416960" cy="114264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 w="19050">
            <a:solidFill>
              <a:srgbClr val="1468D4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576000" y="2734200"/>
            <a:ext cx="127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USUARIO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1965960" y="2989800"/>
            <a:ext cx="200880" cy="360"/>
          </a:xfrm>
          <a:prstGeom prst="line">
            <a:avLst/>
          </a:prstGeom>
          <a:ln w="3175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2212920" y="2423160"/>
            <a:ext cx="1481040" cy="1142640"/>
          </a:xfrm>
          <a:prstGeom prst="roundRect">
            <a:avLst>
              <a:gd name="adj" fmla="val 16667"/>
            </a:avLst>
          </a:prstGeom>
          <a:solidFill>
            <a:srgbClr val="FBE7F1"/>
          </a:solidFill>
          <a:ln w="19050">
            <a:solidFill>
              <a:srgbClr val="FF5CA8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2286000" y="2734200"/>
            <a:ext cx="133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5CA8"/>
                </a:solidFill>
                <a:effectLst/>
                <a:uFillTx/>
                <a:latin typeface="Aptos"/>
                <a:ea typeface="Aptos"/>
              </a:rPr>
              <a:t>DOMINIO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1"/>
          <p:cNvSpPr/>
          <p:nvPr/>
        </p:nvSpPr>
        <p:spPr>
          <a:xfrm>
            <a:off x="3739680" y="2989800"/>
            <a:ext cx="219600" cy="360"/>
          </a:xfrm>
          <a:prstGeom prst="line">
            <a:avLst/>
          </a:prstGeom>
          <a:ln w="3175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4005000" y="2423160"/>
            <a:ext cx="1416960" cy="1142640"/>
          </a:xfrm>
          <a:prstGeom prst="roundRect">
            <a:avLst>
              <a:gd name="adj" fmla="val 16667"/>
            </a:avLst>
          </a:prstGeom>
          <a:solidFill>
            <a:srgbClr val="DDF7F3"/>
          </a:solidFill>
          <a:ln w="19050">
            <a:solidFill>
              <a:srgbClr val="1F9D74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4078080" y="2734200"/>
            <a:ext cx="127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DNS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5468040" y="2989800"/>
            <a:ext cx="219240" cy="360"/>
          </a:xfrm>
          <a:prstGeom prst="line">
            <a:avLst/>
          </a:prstGeom>
          <a:ln w="3175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0" name="Shape 15"/>
          <p:cNvSpPr/>
          <p:nvPr/>
        </p:nvSpPr>
        <p:spPr>
          <a:xfrm>
            <a:off x="5733360" y="2423160"/>
            <a:ext cx="1782720" cy="1142640"/>
          </a:xfrm>
          <a:prstGeom prst="roundRect">
            <a:avLst>
              <a:gd name="adj" fmla="val 16667"/>
            </a:avLst>
          </a:prstGeom>
          <a:solidFill>
            <a:srgbClr val="FFF0CF"/>
          </a:solidFill>
          <a:ln w="19050">
            <a:solidFill>
              <a:srgbClr val="F59E0B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5806440" y="2734200"/>
            <a:ext cx="1636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FRONTEND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7"/>
          <p:cNvSpPr/>
          <p:nvPr/>
        </p:nvSpPr>
        <p:spPr>
          <a:xfrm>
            <a:off x="7561800" y="2989800"/>
            <a:ext cx="237960" cy="360"/>
          </a:xfrm>
          <a:prstGeom prst="line">
            <a:avLst/>
          </a:prstGeom>
          <a:ln w="3175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7845480" y="2423160"/>
            <a:ext cx="1691280" cy="1142640"/>
          </a:xfrm>
          <a:prstGeom prst="roundRect">
            <a:avLst>
              <a:gd name="adj" fmla="val 16667"/>
            </a:avLst>
          </a:prstGeom>
          <a:solidFill>
            <a:srgbClr val="EEE4FF"/>
          </a:solidFill>
          <a:ln w="19050">
            <a:solidFill>
              <a:srgbClr val="7C3AED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4" name="Text 19"/>
          <p:cNvSpPr/>
          <p:nvPr/>
        </p:nvSpPr>
        <p:spPr>
          <a:xfrm>
            <a:off x="7918560" y="2734200"/>
            <a:ext cx="1545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7C3AED"/>
                </a:solidFill>
                <a:effectLst/>
                <a:uFillTx/>
                <a:latin typeface="Aptos"/>
                <a:ea typeface="Aptos"/>
              </a:rPr>
              <a:t>BACKEND / API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0"/>
          <p:cNvSpPr/>
          <p:nvPr/>
        </p:nvSpPr>
        <p:spPr>
          <a:xfrm>
            <a:off x="9582840" y="2989800"/>
            <a:ext cx="246960" cy="360"/>
          </a:xfrm>
          <a:prstGeom prst="line">
            <a:avLst/>
          </a:prstGeom>
          <a:ln w="3175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6" name="Shape 21"/>
          <p:cNvSpPr/>
          <p:nvPr/>
        </p:nvSpPr>
        <p:spPr>
          <a:xfrm>
            <a:off x="9875520" y="2423160"/>
            <a:ext cx="1782720" cy="1142640"/>
          </a:xfrm>
          <a:prstGeom prst="roundRect">
            <a:avLst>
              <a:gd name="adj" fmla="val 16667"/>
            </a:avLst>
          </a:prstGeom>
          <a:solidFill>
            <a:srgbClr val="FFE2DE"/>
          </a:solidFill>
          <a:ln w="19050">
            <a:solidFill>
              <a:srgbClr val="E74C3C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7" name="Text 22"/>
          <p:cNvSpPr/>
          <p:nvPr/>
        </p:nvSpPr>
        <p:spPr>
          <a:xfrm>
            <a:off x="9948600" y="2734200"/>
            <a:ext cx="1636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Aptos"/>
                <a:ea typeface="Aptos"/>
              </a:rPr>
              <a:t>BASE 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Aptos"/>
                <a:ea typeface="Aptos"/>
              </a:rPr>
              <a:t>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3"/>
          <p:cNvSpPr/>
          <p:nvPr/>
        </p:nvSpPr>
        <p:spPr>
          <a:xfrm>
            <a:off x="960120" y="4160520"/>
            <a:ext cx="10286640" cy="13255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3970">
            <a:solidFill>
              <a:srgbClr val="4548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9" name="Text 24"/>
          <p:cNvSpPr/>
          <p:nvPr/>
        </p:nvSpPr>
        <p:spPr>
          <a:xfrm>
            <a:off x="1280160" y="4462200"/>
            <a:ext cx="96465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El usuario escribe el dominio → el DNS encuentra el servicio → el frontend muestra la interfaz → el backend procesa las solicitudes → la base de datos guarda la información.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5"/>
          <p:cNvSpPr/>
          <p:nvPr/>
        </p:nvSpPr>
        <p:spPr>
          <a:xfrm>
            <a:off x="2286000" y="5715000"/>
            <a:ext cx="7634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Georgia"/>
                <a:ea typeface="Georgia"/>
              </a:rPr>
              <a:t>La base de datos de producción no debería quedar expuesta directamente a Internet.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sldNum" idx="11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E62F27-A754-4BD5-B986-ABCA23917024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1F9D74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594360" y="292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UNA ALTERNATIVA SENCILLA PARA PÁGINAS PEQUEÑAS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621720" y="914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Portafolios, páginas informativas y pequeños negocios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1F9D74"/>
          </a:solidFill>
          <a:ln w="12700">
            <a:solidFill>
              <a:srgbClr val="1F9D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49880" y="1325880"/>
            <a:ext cx="6400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Cuando el sitio principalmente muestra contenido y no maneja información sensible, puede usarse una plataforma de publicación estática.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749880" y="2331720"/>
            <a:ext cx="64461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9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Ejemplos: GitHub Pages o Cloudflare Pages. La plataforma publica los archivos, permite conectar un dominio propio y facilita el uso de HTTPS.</a:t>
            </a:r>
            <a:endParaRPr lang="en-US" sz="18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0" descr="/mnt/data/a_clean_colorful_vector_style_illustration_of_clo.png"/>
          <p:cNvPicPr/>
          <p:nvPr/>
        </p:nvPicPr>
        <p:blipFill>
          <a:blip r:embed="rId1"/>
          <a:stretch/>
        </p:blipFill>
        <p:spPr>
          <a:xfrm>
            <a:off x="8755560" y="1234440"/>
            <a:ext cx="228564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Shape 8"/>
          <p:cNvSpPr/>
          <p:nvPr/>
        </p:nvSpPr>
        <p:spPr>
          <a:xfrm>
            <a:off x="658440" y="3977640"/>
            <a:ext cx="1508400" cy="86832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 w="15240">
            <a:solidFill>
              <a:srgbClr val="146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704160" y="4224600"/>
            <a:ext cx="14169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Código / repositorio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0"/>
          <p:cNvSpPr/>
          <p:nvPr/>
        </p:nvSpPr>
        <p:spPr>
          <a:xfrm>
            <a:off x="2194560" y="4407120"/>
            <a:ext cx="228600" cy="360"/>
          </a:xfrm>
          <a:prstGeom prst="line">
            <a:avLst/>
          </a:prstGeom>
          <a:ln w="3175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2514600" y="3977640"/>
            <a:ext cx="1874160" cy="868320"/>
          </a:xfrm>
          <a:prstGeom prst="roundRect">
            <a:avLst>
              <a:gd name="adj" fmla="val 16667"/>
            </a:avLst>
          </a:prstGeom>
          <a:solidFill>
            <a:srgbClr val="FFF0CF"/>
          </a:solidFill>
          <a:ln w="1524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2560320" y="4224600"/>
            <a:ext cx="1782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Plataforma de publicación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3"/>
          <p:cNvSpPr/>
          <p:nvPr/>
        </p:nvSpPr>
        <p:spPr>
          <a:xfrm>
            <a:off x="4416480" y="4407120"/>
            <a:ext cx="228600" cy="360"/>
          </a:xfrm>
          <a:prstGeom prst="line">
            <a:avLst/>
          </a:prstGeom>
          <a:ln w="3175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4736520" y="3977640"/>
            <a:ext cx="1234080" cy="868320"/>
          </a:xfrm>
          <a:prstGeom prst="roundRect">
            <a:avLst>
              <a:gd name="adj" fmla="val 16667"/>
            </a:avLst>
          </a:prstGeom>
          <a:solidFill>
            <a:srgbClr val="DDF7F3"/>
          </a:solidFill>
          <a:ln w="15240">
            <a:solidFill>
              <a:srgbClr val="1F9D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8" name="Text 15"/>
          <p:cNvSpPr/>
          <p:nvPr/>
        </p:nvSpPr>
        <p:spPr>
          <a:xfrm>
            <a:off x="4782240" y="4224600"/>
            <a:ext cx="11426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DNS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6"/>
          <p:cNvSpPr/>
          <p:nvPr/>
        </p:nvSpPr>
        <p:spPr>
          <a:xfrm>
            <a:off x="5998320" y="4407120"/>
            <a:ext cx="228600" cy="360"/>
          </a:xfrm>
          <a:prstGeom prst="line">
            <a:avLst/>
          </a:prstGeom>
          <a:ln w="3175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0" name="Shape 17"/>
          <p:cNvSpPr/>
          <p:nvPr/>
        </p:nvSpPr>
        <p:spPr>
          <a:xfrm>
            <a:off x="6318360" y="3977640"/>
            <a:ext cx="1416960" cy="868320"/>
          </a:xfrm>
          <a:prstGeom prst="roundRect">
            <a:avLst>
              <a:gd name="adj" fmla="val 16667"/>
            </a:avLst>
          </a:prstGeom>
          <a:solidFill>
            <a:srgbClr val="FBE7F1"/>
          </a:solidFill>
          <a:ln w="15240">
            <a:solidFill>
              <a:srgbClr val="FF5C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1" name="Text 18"/>
          <p:cNvSpPr/>
          <p:nvPr/>
        </p:nvSpPr>
        <p:spPr>
          <a:xfrm>
            <a:off x="6364080" y="4224600"/>
            <a:ext cx="13255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FF5CA8"/>
                </a:solidFill>
                <a:effectLst/>
                <a:uFillTx/>
                <a:latin typeface="Aptos"/>
                <a:ea typeface="Aptos"/>
              </a:rPr>
              <a:t>Dominio propio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7763040" y="4407120"/>
            <a:ext cx="228600" cy="360"/>
          </a:xfrm>
          <a:prstGeom prst="line">
            <a:avLst/>
          </a:prstGeom>
          <a:ln w="3175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3" name="Shape 20"/>
          <p:cNvSpPr/>
          <p:nvPr/>
        </p:nvSpPr>
        <p:spPr>
          <a:xfrm>
            <a:off x="8083440" y="3977640"/>
            <a:ext cx="1142640" cy="868320"/>
          </a:xfrm>
          <a:prstGeom prst="roundRect">
            <a:avLst>
              <a:gd name="adj" fmla="val 16667"/>
            </a:avLst>
          </a:prstGeom>
          <a:solidFill>
            <a:srgbClr val="EEE4FF"/>
          </a:solidFill>
          <a:ln w="1524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8129160" y="4224600"/>
            <a:ext cx="105120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7C3AED"/>
                </a:solidFill>
                <a:effectLst/>
                <a:uFillTx/>
                <a:latin typeface="Aptos"/>
                <a:ea typeface="Aptos"/>
              </a:rPr>
              <a:t>HTTPS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2"/>
          <p:cNvSpPr/>
          <p:nvPr/>
        </p:nvSpPr>
        <p:spPr>
          <a:xfrm>
            <a:off x="9253440" y="4407120"/>
            <a:ext cx="228600" cy="360"/>
          </a:xfrm>
          <a:prstGeom prst="line">
            <a:avLst/>
          </a:prstGeom>
          <a:ln w="3175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6" name="Shape 23"/>
          <p:cNvSpPr/>
          <p:nvPr/>
        </p:nvSpPr>
        <p:spPr>
          <a:xfrm>
            <a:off x="9573840" y="3977640"/>
            <a:ext cx="1234080" cy="868320"/>
          </a:xfrm>
          <a:prstGeom prst="roundRect">
            <a:avLst>
              <a:gd name="adj" fmla="val 16667"/>
            </a:avLst>
          </a:prstGeom>
          <a:solidFill>
            <a:srgbClr val="EAF4E0"/>
          </a:solidFill>
          <a:ln w="15240">
            <a:solidFill>
              <a:srgbClr val="4F8A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7" name="Text 24"/>
          <p:cNvSpPr/>
          <p:nvPr/>
        </p:nvSpPr>
        <p:spPr>
          <a:xfrm>
            <a:off x="9619560" y="4224600"/>
            <a:ext cx="11426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40" b="1" u="none" strike="noStrike">
                <a:solidFill>
                  <a:srgbClr val="4F8A10"/>
                </a:solidFill>
                <a:effectLst/>
                <a:uFillTx/>
                <a:latin typeface="Aptos"/>
                <a:ea typeface="Aptos"/>
              </a:rPr>
              <a:t>Usuario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5"/>
          <p:cNvSpPr/>
          <p:nvPr/>
        </p:nvSpPr>
        <p:spPr>
          <a:xfrm>
            <a:off x="914400" y="5321880"/>
            <a:ext cx="10149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20" b="1" u="none" strike="noStrike">
                <a:solidFill>
                  <a:srgbClr val="FF5CA8"/>
                </a:solidFill>
                <a:effectLst/>
                <a:uFillTx/>
                <a:latin typeface="Georgia"/>
                <a:ea typeface="Georgia"/>
              </a:rPr>
              <a:t>Sirve muy bien para mostrar información. Si aparecen cuentas, citas, pagos, inventario o una base de datos privada, ya se necesita una arquitectura más completa.</a:t>
            </a:r>
            <a:endParaRPr lang="en-US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6"/>
          <p:cNvSpPr/>
          <p:nvPr/>
        </p:nvSpPr>
        <p:spPr>
          <a:xfrm>
            <a:off x="594360" y="6346080"/>
            <a:ext cx="10240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57A71"/>
                </a:solidFill>
                <a:effectLst/>
                <a:uFillTx/>
                <a:latin typeface="Aptos"/>
                <a:ea typeface="Aptos"/>
              </a:rPr>
              <a:t>Ejemplos de servicios: GitHub Pages y Cloudflare Pages.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sldNum" idx="12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507769-D991-4F09-8EBE-7234ACE693D2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F59E0B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2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594360" y="292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¿CUÁNDO YA NO BASTA UNA PUBLICACIÓN SENCILLA?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621720" y="914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La infraestructura depende de lo que hace el producto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6"/>
          <p:cNvSpPr/>
          <p:nvPr/>
        </p:nvSpPr>
        <p:spPr>
          <a:xfrm>
            <a:off x="713160" y="1417320"/>
            <a:ext cx="5230080" cy="4434480"/>
          </a:xfrm>
          <a:prstGeom prst="roundRect">
            <a:avLst>
              <a:gd name="adj" fmla="val 16667"/>
            </a:avLst>
          </a:prstGeom>
          <a:solidFill>
            <a:srgbClr val="EAF4E0"/>
          </a:solidFill>
          <a:ln w="15240">
            <a:solidFill>
              <a:srgbClr val="4F8A1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1005840" y="17373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F8A10"/>
                </a:solidFill>
                <a:effectLst/>
                <a:uFillTx/>
                <a:latin typeface="Aptos"/>
                <a:ea typeface="Aptos"/>
              </a:rPr>
              <a:t>PÁGINA SENCILLA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1143000" y="2505600"/>
            <a:ext cx="127800" cy="127800"/>
          </a:xfrm>
          <a:prstGeom prst="ellipse">
            <a:avLst/>
          </a:prstGeom>
          <a:solidFill>
            <a:srgbClr val="4F8A10"/>
          </a:solidFill>
          <a:ln w="12700">
            <a:solidFill>
              <a:srgbClr val="4F8A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1371600" y="242316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Portafolio personal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0"/>
          <p:cNvSpPr/>
          <p:nvPr/>
        </p:nvSpPr>
        <p:spPr>
          <a:xfrm>
            <a:off x="1143000" y="3044880"/>
            <a:ext cx="127800" cy="127800"/>
          </a:xfrm>
          <a:prstGeom prst="ellipse">
            <a:avLst/>
          </a:prstGeom>
          <a:solidFill>
            <a:srgbClr val="4F8A10"/>
          </a:solidFill>
          <a:ln w="12700">
            <a:solidFill>
              <a:srgbClr val="4F8A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1371600" y="296280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Menú de restaurante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2"/>
          <p:cNvSpPr/>
          <p:nvPr/>
        </p:nvSpPr>
        <p:spPr>
          <a:xfrm>
            <a:off x="1143000" y="3584520"/>
            <a:ext cx="127800" cy="127800"/>
          </a:xfrm>
          <a:prstGeom prst="ellipse">
            <a:avLst/>
          </a:prstGeom>
          <a:solidFill>
            <a:srgbClr val="4F8A10"/>
          </a:solidFill>
          <a:ln w="12700">
            <a:solidFill>
              <a:srgbClr val="4F8A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1371600" y="350208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Información de contacto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4"/>
          <p:cNvSpPr/>
          <p:nvPr/>
        </p:nvSpPr>
        <p:spPr>
          <a:xfrm>
            <a:off x="1143000" y="4123800"/>
            <a:ext cx="127800" cy="127800"/>
          </a:xfrm>
          <a:prstGeom prst="ellipse">
            <a:avLst/>
          </a:prstGeom>
          <a:solidFill>
            <a:srgbClr val="4F8A10"/>
          </a:solidFill>
          <a:ln w="12700">
            <a:solidFill>
              <a:srgbClr val="4F8A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1371600" y="404172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Catálogo sin compra en línea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6"/>
          <p:cNvSpPr/>
          <p:nvPr/>
        </p:nvSpPr>
        <p:spPr>
          <a:xfrm>
            <a:off x="1143000" y="4663440"/>
            <a:ext cx="127800" cy="127800"/>
          </a:xfrm>
          <a:prstGeom prst="ellipse">
            <a:avLst/>
          </a:prstGeom>
          <a:solidFill>
            <a:srgbClr val="4F8A10"/>
          </a:solidFill>
          <a:ln w="12700">
            <a:solidFill>
              <a:srgbClr val="4F8A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1371600" y="4581000"/>
            <a:ext cx="4251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Landing page o proyecto académico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8"/>
          <p:cNvSpPr/>
          <p:nvPr/>
        </p:nvSpPr>
        <p:spPr>
          <a:xfrm>
            <a:off x="6236280" y="1417320"/>
            <a:ext cx="5230080" cy="4434480"/>
          </a:xfrm>
          <a:prstGeom prst="roundRect">
            <a:avLst>
              <a:gd name="adj" fmla="val 16667"/>
            </a:avLst>
          </a:prstGeom>
          <a:solidFill>
            <a:srgbClr val="FFE2DE"/>
          </a:solidFill>
          <a:ln w="15240">
            <a:solidFill>
              <a:srgbClr val="E74C3C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6519600" y="17373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74C3C"/>
                </a:solidFill>
                <a:effectLst/>
                <a:uFillTx/>
                <a:latin typeface="Aptos"/>
                <a:ea typeface="Aptos"/>
              </a:rPr>
              <a:t>SISTEMA CON DATOS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0"/>
          <p:cNvSpPr/>
          <p:nvPr/>
        </p:nvSpPr>
        <p:spPr>
          <a:xfrm>
            <a:off x="6675120" y="2505600"/>
            <a:ext cx="127800" cy="1278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6903720" y="242316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Usuarios y autenticación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2"/>
          <p:cNvSpPr/>
          <p:nvPr/>
        </p:nvSpPr>
        <p:spPr>
          <a:xfrm>
            <a:off x="6675120" y="3044880"/>
            <a:ext cx="127800" cy="1278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4" name="Text 23"/>
          <p:cNvSpPr/>
          <p:nvPr/>
        </p:nvSpPr>
        <p:spPr>
          <a:xfrm>
            <a:off x="6903720" y="296280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Citas, pedidos o pagos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4"/>
          <p:cNvSpPr/>
          <p:nvPr/>
        </p:nvSpPr>
        <p:spPr>
          <a:xfrm>
            <a:off x="6675120" y="3584520"/>
            <a:ext cx="127800" cy="1278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6" name="Text 25"/>
          <p:cNvSpPr/>
          <p:nvPr/>
        </p:nvSpPr>
        <p:spPr>
          <a:xfrm>
            <a:off x="6903720" y="350208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Inventario o historial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6"/>
          <p:cNvSpPr/>
          <p:nvPr/>
        </p:nvSpPr>
        <p:spPr>
          <a:xfrm>
            <a:off x="6675120" y="4123800"/>
            <a:ext cx="127800" cy="1278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8" name="Text 27"/>
          <p:cNvSpPr/>
          <p:nvPr/>
        </p:nvSpPr>
        <p:spPr>
          <a:xfrm>
            <a:off x="6903720" y="404172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Base de datos privada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8"/>
          <p:cNvSpPr/>
          <p:nvPr/>
        </p:nvSpPr>
        <p:spPr>
          <a:xfrm>
            <a:off x="6675120" y="4663440"/>
            <a:ext cx="127800" cy="1278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0" name="Text 29"/>
          <p:cNvSpPr/>
          <p:nvPr/>
        </p:nvSpPr>
        <p:spPr>
          <a:xfrm>
            <a:off x="6903720" y="458100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Backend/API + seguridad + respaldos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0"/>
          <p:cNvSpPr/>
          <p:nvPr/>
        </p:nvSpPr>
        <p:spPr>
          <a:xfrm>
            <a:off x="1143000" y="5989320"/>
            <a:ext cx="9875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0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40" b="1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La decisión no depende solo del dominio: depende de las funciones y del nivel de seguridad que requiere el sistema.</a:t>
            </a:r>
            <a:endParaRPr lang="en-US" sz="1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sldNum" idx="13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6166AF-F13B-4C12-906A-431A2A1114A9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1468D4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4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594360" y="292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APLICACIÓN AL PROYECTO DEL IESS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621720" y="914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¿Qué sería lo correcto si el sistema se implementara oficialmente?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4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1468D4"/>
          </a:solidFill>
          <a:ln w="12700">
            <a:solidFill>
              <a:srgbClr val="146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0" descr="/mnt/data/a_clean_flat_vector_illustration_icon_style_comp.png"/>
          <p:cNvPicPr/>
          <p:nvPr/>
        </p:nvPicPr>
        <p:blipFill>
          <a:blip r:embed="rId1"/>
          <a:stretch/>
        </p:blipFill>
        <p:spPr>
          <a:xfrm>
            <a:off x="8183880" y="1170360"/>
            <a:ext cx="3062880" cy="306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6"/>
          <p:cNvSpPr/>
          <p:nvPr/>
        </p:nvSpPr>
        <p:spPr>
          <a:xfrm>
            <a:off x="731520" y="146304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El IESS ya utiliza el dominio institucional: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7"/>
          <p:cNvSpPr/>
          <p:nvPr/>
        </p:nvSpPr>
        <p:spPr>
          <a:xfrm>
            <a:off x="731520" y="196596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468D4"/>
                </a:solidFill>
                <a:effectLst/>
                <a:uFillTx/>
                <a:latin typeface="Georgia"/>
                <a:ea typeface="Georgia"/>
              </a:rPr>
              <a:t>iess.gob.ec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8"/>
          <p:cNvSpPr/>
          <p:nvPr/>
        </p:nvSpPr>
        <p:spPr>
          <a:xfrm>
            <a:off x="731520" y="2697480"/>
            <a:ext cx="6171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Por eso, una propuesta coherente sería solicitar un subdominio como: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9"/>
          <p:cNvSpPr/>
          <p:nvPr/>
        </p:nvSpPr>
        <p:spPr>
          <a:xfrm>
            <a:off x="731520" y="3429000"/>
            <a:ext cx="6400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5CA8"/>
                </a:solidFill>
                <a:effectLst/>
                <a:uFillTx/>
                <a:latin typeface="Georgia"/>
                <a:ea typeface="Georgia"/>
              </a:rPr>
              <a:t>rehabilitacion.iess.gob.ec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0"/>
          <p:cNvSpPr/>
          <p:nvPr/>
        </p:nvSpPr>
        <p:spPr>
          <a:xfrm>
            <a:off x="731520" y="4160520"/>
            <a:ext cx="6400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20" b="1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Ese nombre es una propuesta académica y tendría que ser autorizado y administrado por el IESS.</a:t>
            </a:r>
            <a:endParaRPr lang="en-US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1"/>
          <p:cNvSpPr/>
          <p:nvPr/>
        </p:nvSpPr>
        <p:spPr>
          <a:xfrm>
            <a:off x="777240" y="5139000"/>
            <a:ext cx="3337200" cy="776880"/>
          </a:xfrm>
          <a:prstGeom prst="roundRect">
            <a:avLst>
              <a:gd name="adj" fmla="val 9412"/>
            </a:avLst>
          </a:prstGeom>
          <a:solidFill>
            <a:srgbClr val="DCEBFF"/>
          </a:solidFill>
          <a:ln w="15240">
            <a:solidFill>
              <a:srgbClr val="DCEB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6" name="Text 12"/>
          <p:cNvSpPr/>
          <p:nvPr/>
        </p:nvSpPr>
        <p:spPr>
          <a:xfrm>
            <a:off x="941760" y="5303520"/>
            <a:ext cx="3008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.gob.ec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3"/>
          <p:cNvSpPr/>
          <p:nvPr/>
        </p:nvSpPr>
        <p:spPr>
          <a:xfrm>
            <a:off x="941760" y="5760720"/>
            <a:ext cx="30081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Categoría reservada para entidades del Gobierno.</a:t>
            </a:r>
            <a:endParaRPr lang="en-US" sz="1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4"/>
          <p:cNvSpPr/>
          <p:nvPr/>
        </p:nvSpPr>
        <p:spPr>
          <a:xfrm>
            <a:off x="4416480" y="5139000"/>
            <a:ext cx="3337200" cy="776880"/>
          </a:xfrm>
          <a:prstGeom prst="roundRect">
            <a:avLst>
              <a:gd name="adj" fmla="val 9412"/>
            </a:avLst>
          </a:prstGeom>
          <a:solidFill>
            <a:srgbClr val="DDF7F3"/>
          </a:solidFill>
          <a:ln w="15240">
            <a:solidFill>
              <a:srgbClr val="DDF7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9" name="Text 15"/>
          <p:cNvSpPr/>
          <p:nvPr/>
        </p:nvSpPr>
        <p:spPr>
          <a:xfrm>
            <a:off x="4581000" y="5303520"/>
            <a:ext cx="3008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iess.gob.ec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6"/>
          <p:cNvSpPr/>
          <p:nvPr/>
        </p:nvSpPr>
        <p:spPr>
          <a:xfrm>
            <a:off x="4581000" y="5760720"/>
            <a:ext cx="30081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Dominio institucional del IESS.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7"/>
          <p:cNvSpPr/>
          <p:nvPr/>
        </p:nvSpPr>
        <p:spPr>
          <a:xfrm>
            <a:off x="8046720" y="5139000"/>
            <a:ext cx="3337200" cy="776880"/>
          </a:xfrm>
          <a:prstGeom prst="roundRect">
            <a:avLst>
              <a:gd name="adj" fmla="val 9412"/>
            </a:avLst>
          </a:prstGeom>
          <a:solidFill>
            <a:srgbClr val="FBE7F1"/>
          </a:solidFill>
          <a:ln w="15240">
            <a:solidFill>
              <a:srgbClr val="FBE7F1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2" name="Text 18"/>
          <p:cNvSpPr/>
          <p:nvPr/>
        </p:nvSpPr>
        <p:spPr>
          <a:xfrm>
            <a:off x="8211240" y="5303520"/>
            <a:ext cx="3008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9" b="1" u="none" strike="noStrike">
                <a:solidFill>
                  <a:srgbClr val="FF5CA8"/>
                </a:solidFill>
                <a:effectLst/>
                <a:uFillTx/>
                <a:latin typeface="Aptos"/>
                <a:ea typeface="Aptos"/>
              </a:rPr>
              <a:t>rehabilitacion...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9"/>
          <p:cNvSpPr/>
          <p:nvPr/>
        </p:nvSpPr>
        <p:spPr>
          <a:xfrm>
            <a:off x="8211240" y="5760720"/>
            <a:ext cx="30081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Subdominio propuesto para el servicio.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0"/>
          <p:cNvSpPr/>
          <p:nvPr/>
        </p:nvSpPr>
        <p:spPr>
          <a:xfrm>
            <a:off x="594360" y="6346080"/>
            <a:ext cx="10240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57A71"/>
                </a:solidFill>
                <a:effectLst/>
                <a:uFillTx/>
                <a:latin typeface="Aptos"/>
                <a:ea typeface="Aptos"/>
              </a:rPr>
              <a:t>Fuentes: NIC.EC e IESS.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sldNum" idx="14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28761D-1688-41C0-9A59-E6440EDD9093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10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20B7B0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7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594360" y="2926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PROPUESTA TÉCNICA FINAL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"/>
          <p:cNvSpPr/>
          <p:nvPr/>
        </p:nvSpPr>
        <p:spPr>
          <a:xfrm>
            <a:off x="621720" y="914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0B7B0"/>
                </a:solidFill>
                <a:effectLst/>
                <a:uFillTx/>
                <a:latin typeface="Aptos"/>
                <a:ea typeface="Aptos"/>
              </a:rPr>
              <a:t>Qué debería existir detrás del dominio si el sistema fuera oficial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20B7B0"/>
          </a:solidFill>
          <a:ln w="12700">
            <a:solidFill>
              <a:srgbClr val="20B7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6"/>
          <p:cNvSpPr/>
          <p:nvPr/>
        </p:nvSpPr>
        <p:spPr>
          <a:xfrm>
            <a:off x="594360" y="1353240"/>
            <a:ext cx="2971440" cy="52992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749880" y="148140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Dominio y DNS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8"/>
          <p:cNvSpPr/>
          <p:nvPr/>
        </p:nvSpPr>
        <p:spPr>
          <a:xfrm>
            <a:off x="3703320" y="1353240"/>
            <a:ext cx="7881840" cy="5299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3913560" y="1444680"/>
            <a:ext cx="7406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Subdominio bajo iess.gob.ec, sujeto a aprobación. DNS administrado por el IESS.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0"/>
          <p:cNvSpPr/>
          <p:nvPr/>
        </p:nvSpPr>
        <p:spPr>
          <a:xfrm>
            <a:off x="594360" y="2011680"/>
            <a:ext cx="2971440" cy="529920"/>
          </a:xfrm>
          <a:prstGeom prst="roundRect">
            <a:avLst>
              <a:gd name="adj" fmla="val 16667"/>
            </a:avLst>
          </a:prstGeom>
          <a:solidFill>
            <a:srgbClr val="DDF7F3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749880" y="213984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Alojamiento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3703320" y="2011680"/>
            <a:ext cx="7881840" cy="5299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3913560" y="2103120"/>
            <a:ext cx="7406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Centro de datos del IESS o nube/proveedor aprobado por la institución.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4"/>
          <p:cNvSpPr/>
          <p:nvPr/>
        </p:nvSpPr>
        <p:spPr>
          <a:xfrm>
            <a:off x="594360" y="2670120"/>
            <a:ext cx="2971440" cy="52992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749880" y="279792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Frontend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6"/>
          <p:cNvSpPr/>
          <p:nvPr/>
        </p:nvSpPr>
        <p:spPr>
          <a:xfrm>
            <a:off x="3703320" y="2670120"/>
            <a:ext cx="7881840" cy="5299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3913560" y="2761560"/>
            <a:ext cx="7406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Interfaz web desplegada mediante HTTPS.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8"/>
          <p:cNvSpPr/>
          <p:nvPr/>
        </p:nvSpPr>
        <p:spPr>
          <a:xfrm>
            <a:off x="594360" y="3328560"/>
            <a:ext cx="2971440" cy="529920"/>
          </a:xfrm>
          <a:prstGeom prst="roundRect">
            <a:avLst>
              <a:gd name="adj" fmla="val 16667"/>
            </a:avLst>
          </a:prstGeom>
          <a:solidFill>
            <a:srgbClr val="DDF7F3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5" name="Text 19"/>
          <p:cNvSpPr/>
          <p:nvPr/>
        </p:nvSpPr>
        <p:spPr>
          <a:xfrm>
            <a:off x="749880" y="345636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Backend / API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0"/>
          <p:cNvSpPr/>
          <p:nvPr/>
        </p:nvSpPr>
        <p:spPr>
          <a:xfrm>
            <a:off x="3703320" y="3328560"/>
            <a:ext cx="7881840" cy="5299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3913560" y="3420000"/>
            <a:ext cx="7406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Autenticación, citas, validaciones, reglas de negocio e integraciones.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2"/>
          <p:cNvSpPr/>
          <p:nvPr/>
        </p:nvSpPr>
        <p:spPr>
          <a:xfrm>
            <a:off x="594360" y="3986640"/>
            <a:ext cx="2971440" cy="52992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9" name="Text 23"/>
          <p:cNvSpPr/>
          <p:nvPr/>
        </p:nvSpPr>
        <p:spPr>
          <a:xfrm>
            <a:off x="749880" y="411480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468D4"/>
                </a:solidFill>
                <a:effectLst/>
                <a:uFillTx/>
                <a:latin typeface="Aptos"/>
                <a:ea typeface="Aptos"/>
              </a:rPr>
              <a:t>Base de datos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4"/>
          <p:cNvSpPr/>
          <p:nvPr/>
        </p:nvSpPr>
        <p:spPr>
          <a:xfrm>
            <a:off x="3703320" y="3986640"/>
            <a:ext cx="7881840" cy="5299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1" name="Text 25"/>
          <p:cNvSpPr/>
          <p:nvPr/>
        </p:nvSpPr>
        <p:spPr>
          <a:xfrm>
            <a:off x="3913560" y="4078080"/>
            <a:ext cx="7406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Privada, con acceso restringido, cifrado y respaldos.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6"/>
          <p:cNvSpPr/>
          <p:nvPr/>
        </p:nvSpPr>
        <p:spPr>
          <a:xfrm>
            <a:off x="594360" y="4645080"/>
            <a:ext cx="2971440" cy="529920"/>
          </a:xfrm>
          <a:prstGeom prst="roundRect">
            <a:avLst>
              <a:gd name="adj" fmla="val 16667"/>
            </a:avLst>
          </a:prstGeom>
          <a:solidFill>
            <a:srgbClr val="DDF7F3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3" name="Text 27"/>
          <p:cNvSpPr/>
          <p:nvPr/>
        </p:nvSpPr>
        <p:spPr>
          <a:xfrm>
            <a:off x="749880" y="4773240"/>
            <a:ext cx="2651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F9D74"/>
                </a:solidFill>
                <a:effectLst/>
                <a:uFillTx/>
                <a:latin typeface="Aptos"/>
                <a:ea typeface="Aptos"/>
              </a:rPr>
              <a:t>Seguridad y continuidad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8"/>
          <p:cNvSpPr/>
          <p:nvPr/>
        </p:nvSpPr>
        <p:spPr>
          <a:xfrm>
            <a:off x="3703320" y="4645080"/>
            <a:ext cx="7881840" cy="5299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0160">
            <a:solidFill>
              <a:srgbClr val="D3DA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5" name="Text 29"/>
          <p:cNvSpPr/>
          <p:nvPr/>
        </p:nvSpPr>
        <p:spPr>
          <a:xfrm>
            <a:off x="3913560" y="4736520"/>
            <a:ext cx="7406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Roles, permisos, firewall, monitoreo, copias y recuperación ante fallos.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0"/>
          <p:cNvSpPr/>
          <p:nvPr/>
        </p:nvSpPr>
        <p:spPr>
          <a:xfrm>
            <a:off x="1097280" y="5504760"/>
            <a:ext cx="10012320" cy="566640"/>
          </a:xfrm>
          <a:prstGeom prst="roundRect">
            <a:avLst>
              <a:gd name="adj" fmla="val 16667"/>
            </a:avLst>
          </a:prstGeom>
          <a:solidFill>
            <a:srgbClr val="FFF0C7"/>
          </a:solidFill>
          <a:ln w="1524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7" name="Text 31"/>
          <p:cNvSpPr/>
          <p:nvPr/>
        </p:nvSpPr>
        <p:spPr>
          <a:xfrm>
            <a:off x="1298520" y="5660280"/>
            <a:ext cx="9600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31333F"/>
                </a:solidFill>
                <a:effectLst/>
                <a:uFillTx/>
                <a:latin typeface="Aptos"/>
                <a:ea typeface="Aptos"/>
              </a:rPr>
              <a:t>Usuario → rehabilitacion.iess.gob.ec → DNS institucional → frontend → backend/API → base de datos privada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sldNum" idx="15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18B84A-ED60-4B07-B535-48336A30140D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11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1"/>
          <p:cNvSpPr/>
          <p:nvPr/>
        </p:nvSpPr>
        <p:spPr>
          <a:xfrm>
            <a:off x="0" y="0"/>
            <a:ext cx="12191400" cy="22680"/>
          </a:xfrm>
          <a:prstGeom prst="rect">
            <a:avLst/>
          </a:prstGeom>
          <a:solidFill>
            <a:srgbClr val="31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0" name="Oval 2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solidFill>
            <a:srgbClr val="FFF5EA"/>
          </a:solidFill>
          <a:ln w="20320">
            <a:solidFill>
              <a:srgbClr val="20B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1" name="Oval 3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solidFill>
            <a:srgbClr val="FFF5EA"/>
          </a:solidFill>
          <a:ln w="20320">
            <a:solidFill>
              <a:srgbClr val="20B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2" name="TextBox 4"/>
          <p:cNvSpPr/>
          <p:nvPr/>
        </p:nvSpPr>
        <p:spPr>
          <a:xfrm>
            <a:off x="594360" y="292680"/>
            <a:ext cx="10560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</a:rPr>
              <a:t>PROVEEDORES DE DOMINIO Y HOSTING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5"/>
          <p:cNvSpPr/>
          <p:nvPr/>
        </p:nvSpPr>
        <p:spPr>
          <a:xfrm>
            <a:off x="621720" y="914400"/>
            <a:ext cx="1046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20B7B0"/>
                </a:solidFill>
                <a:effectLst/>
                <a:uFillTx/>
                <a:latin typeface="Aptos"/>
              </a:rPr>
              <a:t>¿Qué servicios ofrecen y para qué sirven?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Oval 6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20B7B0"/>
          </a:solidFill>
          <a:ln>
            <a:solidFill>
              <a:srgbClr val="20B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5" name="TextBox 7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8"/>
          <p:cNvSpPr/>
          <p:nvPr/>
        </p:nvSpPr>
        <p:spPr>
          <a:xfrm>
            <a:off x="731520" y="1261800"/>
            <a:ext cx="10743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900" b="1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No todos los proveedores ofrecen lo mismo. Algunos se enfocan en dominios, otros en alojamiento, DNS, correo o seguridad.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ounded Rectangle 9"/>
          <p:cNvSpPr/>
          <p:nvPr/>
        </p:nvSpPr>
        <p:spPr>
          <a:xfrm>
            <a:off x="502920" y="1828800"/>
            <a:ext cx="2514240" cy="301716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8" name="TextBox 10"/>
          <p:cNvSpPr/>
          <p:nvPr/>
        </p:nvSpPr>
        <p:spPr>
          <a:xfrm>
            <a:off x="667440" y="1993320"/>
            <a:ext cx="2185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100" b="1" u="none" strike="noStrike">
                <a:solidFill>
                  <a:srgbClr val="1468D4"/>
                </a:solidFill>
                <a:effectLst/>
                <a:uFillTx/>
                <a:latin typeface="Aptos"/>
              </a:rPr>
              <a:t>Hostinger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ectangle 11"/>
          <p:cNvSpPr/>
          <p:nvPr/>
        </p:nvSpPr>
        <p:spPr>
          <a:xfrm>
            <a:off x="822960" y="2541960"/>
            <a:ext cx="1874160" cy="22680"/>
          </a:xfrm>
          <a:prstGeom prst="rect">
            <a:avLst/>
          </a:prstGeom>
          <a:solidFill>
            <a:srgbClr val="146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0" name="TextBox 12"/>
          <p:cNvSpPr/>
          <p:nvPr/>
        </p:nvSpPr>
        <p:spPr>
          <a:xfrm>
            <a:off x="722520" y="2697480"/>
            <a:ext cx="20754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Dominio + hosting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Correo, SSL y backups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Planes para webs pequeñas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13"/>
          <p:cNvSpPr/>
          <p:nvPr/>
        </p:nvSpPr>
        <p:spPr>
          <a:xfrm>
            <a:off x="3383280" y="1828800"/>
            <a:ext cx="2514240" cy="3017160"/>
          </a:xfrm>
          <a:prstGeom prst="roundRect">
            <a:avLst>
              <a:gd name="adj" fmla="val 16667"/>
            </a:avLst>
          </a:prstGeom>
          <a:solidFill>
            <a:srgbClr val="FF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2" name="TextBox 14"/>
          <p:cNvSpPr/>
          <p:nvPr/>
        </p:nvSpPr>
        <p:spPr>
          <a:xfrm>
            <a:off x="3547800" y="1993320"/>
            <a:ext cx="2185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1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Namecheap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15"/>
          <p:cNvSpPr/>
          <p:nvPr/>
        </p:nvSpPr>
        <p:spPr>
          <a:xfrm>
            <a:off x="3703320" y="2541960"/>
            <a:ext cx="1874160" cy="22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4" name="TextBox 16"/>
          <p:cNvSpPr/>
          <p:nvPr/>
        </p:nvSpPr>
        <p:spPr>
          <a:xfrm>
            <a:off x="3602880" y="2697480"/>
            <a:ext cx="20754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Dominios y hosting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Opciones económicas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Útil para sitios simples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ounded Rectangle 17"/>
          <p:cNvSpPr/>
          <p:nvPr/>
        </p:nvSpPr>
        <p:spPr>
          <a:xfrm>
            <a:off x="6263640" y="1828800"/>
            <a:ext cx="2514240" cy="3017160"/>
          </a:xfrm>
          <a:prstGeom prst="roundRect">
            <a:avLst>
              <a:gd name="adj" fmla="val 16667"/>
            </a:avLst>
          </a:prstGeom>
          <a:solidFill>
            <a:srgbClr val="EE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6" name="TextBox 18"/>
          <p:cNvSpPr/>
          <p:nvPr/>
        </p:nvSpPr>
        <p:spPr>
          <a:xfrm>
            <a:off x="6428160" y="1993320"/>
            <a:ext cx="2185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1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Cloudflare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19"/>
          <p:cNvSpPr/>
          <p:nvPr/>
        </p:nvSpPr>
        <p:spPr>
          <a:xfrm>
            <a:off x="6583680" y="2541960"/>
            <a:ext cx="1874160" cy="22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8" name="TextBox 20"/>
          <p:cNvSpPr/>
          <p:nvPr/>
        </p:nvSpPr>
        <p:spPr>
          <a:xfrm>
            <a:off x="6483240" y="2697480"/>
            <a:ext cx="20754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Registro de dominios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DNS, seguridad y CDN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Buen control técnico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21"/>
          <p:cNvSpPr/>
          <p:nvPr/>
        </p:nvSpPr>
        <p:spPr>
          <a:xfrm>
            <a:off x="9144000" y="1828800"/>
            <a:ext cx="2514240" cy="3017160"/>
          </a:xfrm>
          <a:prstGeom prst="roundRect">
            <a:avLst>
              <a:gd name="adj" fmla="val 16667"/>
            </a:avLst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0" name="TextBox 22"/>
          <p:cNvSpPr/>
          <p:nvPr/>
        </p:nvSpPr>
        <p:spPr>
          <a:xfrm>
            <a:off x="9308520" y="1993320"/>
            <a:ext cx="21852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100" b="1" u="none" strike="noStrike">
                <a:solidFill>
                  <a:srgbClr val="20B7B0"/>
                </a:solidFill>
                <a:effectLst/>
                <a:uFillTx/>
                <a:latin typeface="Aptos"/>
              </a:rPr>
              <a:t>NIC.EC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23"/>
          <p:cNvSpPr/>
          <p:nvPr/>
        </p:nvSpPr>
        <p:spPr>
          <a:xfrm>
            <a:off x="9464040" y="2541960"/>
            <a:ext cx="1874160" cy="22680"/>
          </a:xfrm>
          <a:prstGeom prst="rect">
            <a:avLst/>
          </a:prstGeom>
          <a:solidFill>
            <a:srgbClr val="20B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2" name="TextBox 24"/>
          <p:cNvSpPr/>
          <p:nvPr/>
        </p:nvSpPr>
        <p:spPr>
          <a:xfrm>
            <a:off x="9363600" y="2697480"/>
            <a:ext cx="20754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Dominios de Ecuador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.ec, .edu.ec, .gob.ec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629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Reglas y requisitos oficiales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ounded Rectangle 25"/>
          <p:cNvSpPr/>
          <p:nvPr/>
        </p:nvSpPr>
        <p:spPr>
          <a:xfrm>
            <a:off x="960120" y="5166360"/>
            <a:ext cx="10240920" cy="749520"/>
          </a:xfrm>
          <a:prstGeom prst="roundRect">
            <a:avLst>
              <a:gd name="adj" fmla="val 16667"/>
            </a:avLst>
          </a:prstGeom>
          <a:solidFill>
            <a:srgbClr val="FFF0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4" name="TextBox 26"/>
          <p:cNvSpPr/>
          <p:nvPr/>
        </p:nvSpPr>
        <p:spPr>
          <a:xfrm>
            <a:off x="1188720" y="5376600"/>
            <a:ext cx="9783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50" b="1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IDEA CLAVE: primero se define el tipo de proyecto y luego se elige el proveedor y los servicios necesarios.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27"/>
          <p:cNvSpPr/>
          <p:nvPr/>
        </p:nvSpPr>
        <p:spPr>
          <a:xfrm>
            <a:off x="594360" y="6346080"/>
            <a:ext cx="10332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80" b="0" u="none" strike="noStrike">
                <a:solidFill>
                  <a:srgbClr val="857A71"/>
                </a:solidFill>
                <a:effectLst/>
                <a:uFillTx/>
                <a:latin typeface="Aptos"/>
              </a:rPr>
              <a:t>Fuentes: Hostinger, Namecheap, Cloudflare Registrar y NIC.EC. Información consultada el 24/09/2026.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0" y="0"/>
            <a:ext cx="12191400" cy="22680"/>
          </a:xfrm>
          <a:prstGeom prst="rect">
            <a:avLst/>
          </a:prstGeom>
          <a:solidFill>
            <a:srgbClr val="31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7" name="Oval 2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solidFill>
            <a:srgbClr val="FFF5EA"/>
          </a:solidFill>
          <a:ln w="203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8" name="Oval 3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solidFill>
            <a:srgbClr val="FFF5EA"/>
          </a:solidFill>
          <a:ln w="20320">
            <a:solidFill>
              <a:srgbClr val="20B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9" name="TextBox 4"/>
          <p:cNvSpPr/>
          <p:nvPr/>
        </p:nvSpPr>
        <p:spPr>
          <a:xfrm>
            <a:off x="594360" y="292680"/>
            <a:ext cx="10560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</a:rPr>
              <a:t>HOSTINGER: EJEMPLO DE PLANES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5"/>
          <p:cNvSpPr/>
          <p:nvPr/>
        </p:nvSpPr>
        <p:spPr>
          <a:xfrm>
            <a:off x="621720" y="914400"/>
            <a:ext cx="1046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Variedad para dominio, hosting, correo y respaldos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Oval 6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2" name="TextBox 7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Picture 8" descr="image.png"/>
          <p:cNvPicPr/>
          <p:nvPr/>
        </p:nvPicPr>
        <p:blipFill>
          <a:blip r:embed="rId1"/>
          <a:stretch/>
        </p:blipFill>
        <p:spPr>
          <a:xfrm>
            <a:off x="457560" y="1143000"/>
            <a:ext cx="11426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Box 9"/>
          <p:cNvSpPr/>
          <p:nvPr/>
        </p:nvSpPr>
        <p:spPr>
          <a:xfrm>
            <a:off x="1828800" y="1353240"/>
            <a:ext cx="9417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50" b="1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Un mismo proveedor puede ofrecer varios niveles de alojamiento. La diferencia está en recursos, respaldos, cantidad de sitios y precio de renovación.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ounded Rectangle 10"/>
          <p:cNvSpPr/>
          <p:nvPr/>
        </p:nvSpPr>
        <p:spPr>
          <a:xfrm>
            <a:off x="640080" y="2148840"/>
            <a:ext cx="3401280" cy="290736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6" name="TextBox 11"/>
          <p:cNvSpPr/>
          <p:nvPr/>
        </p:nvSpPr>
        <p:spPr>
          <a:xfrm>
            <a:off x="804600" y="2313360"/>
            <a:ext cx="3071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50" b="1" u="none" strike="noStrike">
                <a:solidFill>
                  <a:srgbClr val="1468D4"/>
                </a:solidFill>
                <a:effectLst/>
                <a:uFillTx/>
                <a:latin typeface="Aptos"/>
              </a:rPr>
              <a:t>Premium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12"/>
          <p:cNvSpPr/>
          <p:nvPr/>
        </p:nvSpPr>
        <p:spPr>
          <a:xfrm>
            <a:off x="960120" y="2862000"/>
            <a:ext cx="2761200" cy="22680"/>
          </a:xfrm>
          <a:prstGeom prst="rect">
            <a:avLst/>
          </a:prstGeom>
          <a:solidFill>
            <a:srgbClr val="146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8" name="TextBox 13"/>
          <p:cNvSpPr/>
          <p:nvPr/>
        </p:nvSpPr>
        <p:spPr>
          <a:xfrm>
            <a:off x="859680" y="3017520"/>
            <a:ext cx="2962440" cy="18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$2.99/mes promo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Renueva: $10.99/mes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3 sitios · 20 GB SSD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Backups semanales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Ideal: web personal/local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ounded Rectangle 14"/>
          <p:cNvSpPr/>
          <p:nvPr/>
        </p:nvSpPr>
        <p:spPr>
          <a:xfrm>
            <a:off x="4361760" y="2148840"/>
            <a:ext cx="3401280" cy="2907360"/>
          </a:xfrm>
          <a:prstGeom prst="roundRect">
            <a:avLst>
              <a:gd name="adj" fmla="val 16667"/>
            </a:avLst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0" name="TextBox 15"/>
          <p:cNvSpPr/>
          <p:nvPr/>
        </p:nvSpPr>
        <p:spPr>
          <a:xfrm>
            <a:off x="4526280" y="2313360"/>
            <a:ext cx="3071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50" b="1" u="none" strike="noStrike">
                <a:solidFill>
                  <a:srgbClr val="20B7B0"/>
                </a:solidFill>
                <a:effectLst/>
                <a:uFillTx/>
                <a:latin typeface="Aptos"/>
              </a:rPr>
              <a:t>Unlimited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16"/>
          <p:cNvSpPr/>
          <p:nvPr/>
        </p:nvSpPr>
        <p:spPr>
          <a:xfrm>
            <a:off x="4681800" y="2862000"/>
            <a:ext cx="2761200" cy="22680"/>
          </a:xfrm>
          <a:prstGeom prst="rect">
            <a:avLst/>
          </a:prstGeom>
          <a:solidFill>
            <a:srgbClr val="20B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2" name="TextBox 17"/>
          <p:cNvSpPr/>
          <p:nvPr/>
        </p:nvSpPr>
        <p:spPr>
          <a:xfrm>
            <a:off x="4581000" y="3017520"/>
            <a:ext cx="2962440" cy="18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$3.99/mes promo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Renueva: $16.99/mes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Sitios ilimitados · 50 GB NVMe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Backups diarios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Ideal: varios proyectos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ounded Rectangle 18"/>
          <p:cNvSpPr/>
          <p:nvPr/>
        </p:nvSpPr>
        <p:spPr>
          <a:xfrm>
            <a:off x="8083440" y="2148840"/>
            <a:ext cx="3401280" cy="2907360"/>
          </a:xfrm>
          <a:prstGeom prst="roundRect">
            <a:avLst>
              <a:gd name="adj" fmla="val 16667"/>
            </a:avLst>
          </a:prstGeom>
          <a:solidFill>
            <a:srgbClr val="FF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4" name="TextBox 19"/>
          <p:cNvSpPr/>
          <p:nvPr/>
        </p:nvSpPr>
        <p:spPr>
          <a:xfrm>
            <a:off x="8247960" y="2313360"/>
            <a:ext cx="3071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5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Cloud Startup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20"/>
          <p:cNvSpPr/>
          <p:nvPr/>
        </p:nvSpPr>
        <p:spPr>
          <a:xfrm>
            <a:off x="8403480" y="2862000"/>
            <a:ext cx="2761200" cy="22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6" name="TextBox 21"/>
          <p:cNvSpPr/>
          <p:nvPr/>
        </p:nvSpPr>
        <p:spPr>
          <a:xfrm>
            <a:off x="8302680" y="3017520"/>
            <a:ext cx="2962440" cy="18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$7.99/mes promo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Renueva: $25.99/mes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100 GB NVMe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Backups diarios/on demand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499"/>
              </a:spcAft>
            </a:pPr>
            <a:r>
              <a:rPr lang="en-US" sz="158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Ideal: más tráfico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ounded Rectangle 22"/>
          <p:cNvSpPr/>
          <p:nvPr/>
        </p:nvSpPr>
        <p:spPr>
          <a:xfrm>
            <a:off x="822960" y="5285160"/>
            <a:ext cx="10560960" cy="6397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8" name="TextBox 23"/>
          <p:cNvSpPr/>
          <p:nvPr/>
        </p:nvSpPr>
        <p:spPr>
          <a:xfrm>
            <a:off x="1051560" y="5459040"/>
            <a:ext cx="10103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75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OJO: el precio promocional no es lo único importante; siempre hay que revisar la renovación y qué incluye realmente el plan.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24"/>
          <p:cNvSpPr/>
          <p:nvPr/>
        </p:nvSpPr>
        <p:spPr>
          <a:xfrm>
            <a:off x="594360" y="6346080"/>
            <a:ext cx="10332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80" b="0" u="none" strike="noStrike">
                <a:solidFill>
                  <a:srgbClr val="857A71"/>
                </a:solidFill>
                <a:effectLst/>
                <a:uFillTx/>
                <a:latin typeface="Aptos"/>
              </a:rPr>
              <a:t>Fuente: Hostinger Pricing / Web Hosting, consultado el 24/09/2026.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1"/>
          <p:cNvSpPr/>
          <p:nvPr/>
        </p:nvSpPr>
        <p:spPr>
          <a:xfrm>
            <a:off x="0" y="0"/>
            <a:ext cx="12191400" cy="22680"/>
          </a:xfrm>
          <a:prstGeom prst="rect">
            <a:avLst/>
          </a:prstGeom>
          <a:solidFill>
            <a:srgbClr val="31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41" name="Oval 2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solidFill>
            <a:srgbClr val="FFF5EA"/>
          </a:solidFill>
          <a:ln w="203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42" name="Oval 3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solidFill>
            <a:srgbClr val="FFF5EA"/>
          </a:solidFill>
          <a:ln w="20320">
            <a:solidFill>
              <a:srgbClr val="20B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43" name="TextBox 4"/>
          <p:cNvSpPr/>
          <p:nvPr/>
        </p:nvSpPr>
        <p:spPr>
          <a:xfrm>
            <a:off x="594360" y="292680"/>
            <a:ext cx="10560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</a:rPr>
              <a:t>COMPARACIÓN RÁPIDA DE OPCIONES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5"/>
          <p:cNvSpPr/>
          <p:nvPr/>
        </p:nvSpPr>
        <p:spPr>
          <a:xfrm>
            <a:off x="621720" y="914400"/>
            <a:ext cx="1046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Elegir depende del tamaño y responsabilidad del proyecto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Oval 6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46" name="TextBox 7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8"/>
          <p:cNvSpPr/>
          <p:nvPr/>
        </p:nvSpPr>
        <p:spPr>
          <a:xfrm>
            <a:off x="594360" y="1353240"/>
            <a:ext cx="1828440" cy="5299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48" name="TextBox 9"/>
          <p:cNvSpPr/>
          <p:nvPr/>
        </p:nvSpPr>
        <p:spPr>
          <a:xfrm>
            <a:off x="667440" y="1499760"/>
            <a:ext cx="1682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7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Proveedor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ounded Rectangle 10"/>
          <p:cNvSpPr/>
          <p:nvPr/>
        </p:nvSpPr>
        <p:spPr>
          <a:xfrm>
            <a:off x="2606040" y="1353240"/>
            <a:ext cx="3931560" cy="5299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0" name="TextBox 11"/>
          <p:cNvSpPr/>
          <p:nvPr/>
        </p:nvSpPr>
        <p:spPr>
          <a:xfrm>
            <a:off x="2679120" y="1499760"/>
            <a:ext cx="378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7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Qué ofrece / conviene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ounded Rectangle 12"/>
          <p:cNvSpPr/>
          <p:nvPr/>
        </p:nvSpPr>
        <p:spPr>
          <a:xfrm>
            <a:off x="6720840" y="1353240"/>
            <a:ext cx="4845960" cy="52992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2" name="TextBox 13"/>
          <p:cNvSpPr/>
          <p:nvPr/>
        </p:nvSpPr>
        <p:spPr>
          <a:xfrm>
            <a:off x="6793920" y="1499760"/>
            <a:ext cx="469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7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Cuándo puede servir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ounded Rectangle 14"/>
          <p:cNvSpPr/>
          <p:nvPr/>
        </p:nvSpPr>
        <p:spPr>
          <a:xfrm>
            <a:off x="594360" y="2030040"/>
            <a:ext cx="1828440" cy="71280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4" name="TextBox 15"/>
          <p:cNvSpPr/>
          <p:nvPr/>
        </p:nvSpPr>
        <p:spPr>
          <a:xfrm>
            <a:off x="713160" y="2231280"/>
            <a:ext cx="159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50" b="1" u="none" strike="noStrike">
                <a:solidFill>
                  <a:srgbClr val="1468D4"/>
                </a:solidFill>
                <a:effectLst/>
                <a:uFillTx/>
                <a:latin typeface="Aptos"/>
              </a:rPr>
              <a:t>Hostinger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ounded Rectangle 16"/>
          <p:cNvSpPr/>
          <p:nvPr/>
        </p:nvSpPr>
        <p:spPr>
          <a:xfrm>
            <a:off x="2606040" y="2030040"/>
            <a:ext cx="3931560" cy="71280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E2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6" name="TextBox 17"/>
          <p:cNvSpPr/>
          <p:nvPr/>
        </p:nvSpPr>
        <p:spPr>
          <a:xfrm>
            <a:off x="2761560" y="2176200"/>
            <a:ext cx="3620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2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Dominio + hosting + correo + SSL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18"/>
          <p:cNvSpPr/>
          <p:nvPr/>
        </p:nvSpPr>
        <p:spPr>
          <a:xfrm>
            <a:off x="6720840" y="2030040"/>
            <a:ext cx="4845960" cy="71280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E2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8" name="TextBox 19"/>
          <p:cNvSpPr/>
          <p:nvPr/>
        </p:nvSpPr>
        <p:spPr>
          <a:xfrm>
            <a:off x="6903720" y="2139840"/>
            <a:ext cx="4480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54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Portafolios, negocios pequeños y webs informativas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20"/>
          <p:cNvSpPr/>
          <p:nvPr/>
        </p:nvSpPr>
        <p:spPr>
          <a:xfrm>
            <a:off x="594360" y="2880360"/>
            <a:ext cx="1828440" cy="712800"/>
          </a:xfrm>
          <a:prstGeom prst="roundRect">
            <a:avLst>
              <a:gd name="adj" fmla="val 16667"/>
            </a:avLst>
          </a:prstGeom>
          <a:solidFill>
            <a:srgbClr val="FF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0" name="TextBox 21"/>
          <p:cNvSpPr/>
          <p:nvPr/>
        </p:nvSpPr>
        <p:spPr>
          <a:xfrm>
            <a:off x="713160" y="3081600"/>
            <a:ext cx="159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50" b="1" u="none" strike="noStrike">
                <a:solidFill>
                  <a:srgbClr val="F59E0B"/>
                </a:solidFill>
                <a:effectLst/>
                <a:uFillTx/>
                <a:latin typeface="Aptos"/>
              </a:rPr>
              <a:t>Namecheap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ounded Rectangle 22"/>
          <p:cNvSpPr/>
          <p:nvPr/>
        </p:nvSpPr>
        <p:spPr>
          <a:xfrm>
            <a:off x="2606040" y="2880360"/>
            <a:ext cx="3931560" cy="71280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E2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2" name="TextBox 23"/>
          <p:cNvSpPr/>
          <p:nvPr/>
        </p:nvSpPr>
        <p:spPr>
          <a:xfrm>
            <a:off x="2761560" y="3026520"/>
            <a:ext cx="3620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2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Dominios y hosting económico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ounded Rectangle 24"/>
          <p:cNvSpPr/>
          <p:nvPr/>
        </p:nvSpPr>
        <p:spPr>
          <a:xfrm>
            <a:off x="6720840" y="2880360"/>
            <a:ext cx="4845960" cy="71280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E2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4" name="TextBox 25"/>
          <p:cNvSpPr/>
          <p:nvPr/>
        </p:nvSpPr>
        <p:spPr>
          <a:xfrm>
            <a:off x="6903720" y="2990160"/>
            <a:ext cx="4480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54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Cuando se busca bajo costo y opciones simples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Rounded Rectangle 26"/>
          <p:cNvSpPr/>
          <p:nvPr/>
        </p:nvSpPr>
        <p:spPr>
          <a:xfrm>
            <a:off x="594360" y="3730680"/>
            <a:ext cx="1828440" cy="712800"/>
          </a:xfrm>
          <a:prstGeom prst="roundRect">
            <a:avLst>
              <a:gd name="adj" fmla="val 16667"/>
            </a:avLst>
          </a:prstGeom>
          <a:solidFill>
            <a:srgbClr val="EE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6" name="TextBox 27"/>
          <p:cNvSpPr/>
          <p:nvPr/>
        </p:nvSpPr>
        <p:spPr>
          <a:xfrm>
            <a:off x="713160" y="3931920"/>
            <a:ext cx="159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50" b="1" u="none" strike="noStrike">
                <a:solidFill>
                  <a:srgbClr val="7C3AED"/>
                </a:solidFill>
                <a:effectLst/>
                <a:uFillTx/>
                <a:latin typeface="Aptos"/>
              </a:rPr>
              <a:t>Cloudflare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ounded Rectangle 28"/>
          <p:cNvSpPr/>
          <p:nvPr/>
        </p:nvSpPr>
        <p:spPr>
          <a:xfrm>
            <a:off x="2606040" y="3730680"/>
            <a:ext cx="3931560" cy="71280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E2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8" name="TextBox 29"/>
          <p:cNvSpPr/>
          <p:nvPr/>
        </p:nvSpPr>
        <p:spPr>
          <a:xfrm>
            <a:off x="2761560" y="3877200"/>
            <a:ext cx="3620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2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Dominio + DNS + seguridad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ounded Rectangle 30"/>
          <p:cNvSpPr/>
          <p:nvPr/>
        </p:nvSpPr>
        <p:spPr>
          <a:xfrm>
            <a:off x="6720840" y="3730680"/>
            <a:ext cx="4845960" cy="71280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E2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0" name="TextBox 31"/>
          <p:cNvSpPr/>
          <p:nvPr/>
        </p:nvSpPr>
        <p:spPr>
          <a:xfrm>
            <a:off x="6903720" y="3840480"/>
            <a:ext cx="4480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54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Cuando importan DNS, seguridad y una gestión técnica clara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ounded Rectangle 32"/>
          <p:cNvSpPr/>
          <p:nvPr/>
        </p:nvSpPr>
        <p:spPr>
          <a:xfrm>
            <a:off x="594360" y="4581000"/>
            <a:ext cx="1828440" cy="712800"/>
          </a:xfrm>
          <a:prstGeom prst="roundRect">
            <a:avLst>
              <a:gd name="adj" fmla="val 16667"/>
            </a:avLst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2" name="TextBox 33"/>
          <p:cNvSpPr/>
          <p:nvPr/>
        </p:nvSpPr>
        <p:spPr>
          <a:xfrm>
            <a:off x="713160" y="4782240"/>
            <a:ext cx="159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50" b="1" u="none" strike="noStrike">
                <a:solidFill>
                  <a:srgbClr val="20B7B0"/>
                </a:solidFill>
                <a:effectLst/>
                <a:uFillTx/>
                <a:latin typeface="Aptos"/>
              </a:rPr>
              <a:t>NIC.EC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ounded Rectangle 34"/>
          <p:cNvSpPr/>
          <p:nvPr/>
        </p:nvSpPr>
        <p:spPr>
          <a:xfrm>
            <a:off x="2606040" y="4581000"/>
            <a:ext cx="3931560" cy="71280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E2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4" name="TextBox 35"/>
          <p:cNvSpPr/>
          <p:nvPr/>
        </p:nvSpPr>
        <p:spPr>
          <a:xfrm>
            <a:off x="2761560" y="4727520"/>
            <a:ext cx="36205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2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.ec, .edu.ec, .gob.ec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ounded Rectangle 36"/>
          <p:cNvSpPr/>
          <p:nvPr/>
        </p:nvSpPr>
        <p:spPr>
          <a:xfrm>
            <a:off x="6720840" y="4581000"/>
            <a:ext cx="4845960" cy="712800"/>
          </a:xfrm>
          <a:prstGeom prst="roundRect">
            <a:avLst>
              <a:gd name="adj" fmla="val 16667"/>
            </a:avLst>
          </a:prstGeom>
          <a:solidFill>
            <a:srgbClr val="FFF9F3"/>
          </a:solidFill>
          <a:ln w="15240">
            <a:solidFill>
              <a:srgbClr val="E2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6" name="TextBox 37"/>
          <p:cNvSpPr/>
          <p:nvPr/>
        </p:nvSpPr>
        <p:spPr>
          <a:xfrm>
            <a:off x="6903720" y="4690800"/>
            <a:ext cx="44802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54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Extensiones oficiales de Ecuador y trámites restringidos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ounded Rectangle 38"/>
          <p:cNvSpPr/>
          <p:nvPr/>
        </p:nvSpPr>
        <p:spPr>
          <a:xfrm>
            <a:off x="822960" y="5532120"/>
            <a:ext cx="10560960" cy="566640"/>
          </a:xfrm>
          <a:prstGeom prst="roundRect">
            <a:avLst>
              <a:gd name="adj" fmla="val 16667"/>
            </a:avLst>
          </a:prstGeom>
          <a:solidFill>
            <a:srgbClr val="FFF0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8" name="TextBox 39"/>
          <p:cNvSpPr/>
          <p:nvPr/>
        </p:nvSpPr>
        <p:spPr>
          <a:xfrm>
            <a:off x="1051560" y="5678280"/>
            <a:ext cx="10103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79" b="1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Para comparar no basta con mirar el precio inicial: importan renovación, soporte, seguridad y posibilidad de crecer.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40"/>
          <p:cNvSpPr/>
          <p:nvPr/>
        </p:nvSpPr>
        <p:spPr>
          <a:xfrm>
            <a:off x="594360" y="6346080"/>
            <a:ext cx="10332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80" b="0" u="none" strike="noStrike">
                <a:solidFill>
                  <a:srgbClr val="857A71"/>
                </a:solidFill>
                <a:effectLst/>
                <a:uFillTx/>
                <a:latin typeface="Aptos"/>
              </a:rPr>
              <a:t>Fuentes: Hostinger, Namecheap, Cloudflare Registrar y NIC.EC. Consultado el 24/09/2026.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angle 1"/>
          <p:cNvSpPr/>
          <p:nvPr/>
        </p:nvSpPr>
        <p:spPr>
          <a:xfrm>
            <a:off x="0" y="0"/>
            <a:ext cx="12191400" cy="22680"/>
          </a:xfrm>
          <a:prstGeom prst="rect">
            <a:avLst/>
          </a:prstGeom>
          <a:solidFill>
            <a:srgbClr val="31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81" name="Oval 2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solidFill>
            <a:srgbClr val="FFF5EA"/>
          </a:solidFill>
          <a:ln w="20320">
            <a:solidFill>
              <a:srgbClr val="146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82" name="Oval 3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solidFill>
            <a:srgbClr val="FFF5EA"/>
          </a:solidFill>
          <a:ln w="20320">
            <a:solidFill>
              <a:srgbClr val="20B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83" name="TextBox 4"/>
          <p:cNvSpPr/>
          <p:nvPr/>
        </p:nvSpPr>
        <p:spPr>
          <a:xfrm>
            <a:off x="594360" y="292680"/>
            <a:ext cx="10560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31333F"/>
                </a:solidFill>
                <a:effectLst/>
                <a:uFillTx/>
                <a:latin typeface="Georgia"/>
              </a:rPr>
              <a:t>¿CUÁL IRÍAMOS NOSOTROS?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5"/>
          <p:cNvSpPr/>
          <p:nvPr/>
        </p:nvSpPr>
        <p:spPr>
          <a:xfrm>
            <a:off x="621720" y="914400"/>
            <a:ext cx="10469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468D4"/>
                </a:solidFill>
                <a:effectLst/>
                <a:uFillTx/>
                <a:latin typeface="Aptos"/>
              </a:rPr>
              <a:t>La elección cambia entre una demo y un sistema oficial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Oval 6"/>
          <p:cNvSpPr/>
          <p:nvPr/>
        </p:nvSpPr>
        <p:spPr>
          <a:xfrm>
            <a:off x="11356920" y="347400"/>
            <a:ext cx="456840" cy="456840"/>
          </a:xfrm>
          <a:prstGeom prst="ellipse">
            <a:avLst/>
          </a:prstGeom>
          <a:solidFill>
            <a:srgbClr val="1468D4"/>
          </a:solidFill>
          <a:ln>
            <a:solidFill>
              <a:srgbClr val="146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86" name="TextBox 7"/>
          <p:cNvSpPr/>
          <p:nvPr/>
        </p:nvSpPr>
        <p:spPr>
          <a:xfrm>
            <a:off x="11356920" y="43884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ounded Rectangle 8"/>
          <p:cNvSpPr/>
          <p:nvPr/>
        </p:nvSpPr>
        <p:spPr>
          <a:xfrm>
            <a:off x="594360" y="1417320"/>
            <a:ext cx="5303160" cy="3931560"/>
          </a:xfrm>
          <a:prstGeom prst="roundRect">
            <a:avLst>
              <a:gd name="adj" fmla="val 16667"/>
            </a:avLst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88" name="Rounded Rectangle 9"/>
          <p:cNvSpPr/>
          <p:nvPr/>
        </p:nvSpPr>
        <p:spPr>
          <a:xfrm>
            <a:off x="6291000" y="1417320"/>
            <a:ext cx="5303160" cy="3931560"/>
          </a:xfrm>
          <a:prstGeom prst="roundRect">
            <a:avLst>
              <a:gd name="adj" fmla="val 16667"/>
            </a:avLst>
          </a:prstGeom>
          <a:solidFill>
            <a:srgbClr val="DD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389" name="Picture 10" descr="image.png"/>
          <p:cNvPicPr/>
          <p:nvPr/>
        </p:nvPicPr>
        <p:blipFill>
          <a:blip r:embed="rId1"/>
          <a:stretch/>
        </p:blipFill>
        <p:spPr>
          <a:xfrm>
            <a:off x="868680" y="146340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0" name="Picture 11" descr="image.png"/>
          <p:cNvPicPr/>
          <p:nvPr/>
        </p:nvPicPr>
        <p:blipFill>
          <a:blip r:embed="rId2"/>
          <a:stretch/>
        </p:blipFill>
        <p:spPr>
          <a:xfrm>
            <a:off x="6537960" y="159120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Box 12"/>
          <p:cNvSpPr/>
          <p:nvPr/>
        </p:nvSpPr>
        <p:spPr>
          <a:xfrm>
            <a:off x="1828800" y="16642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50" b="1" u="none" strike="noStrike">
                <a:solidFill>
                  <a:srgbClr val="1468D4"/>
                </a:solidFill>
                <a:effectLst/>
                <a:uFillTx/>
                <a:latin typeface="Aptos"/>
              </a:rPr>
              <a:t>Demo académica / local pequeño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13"/>
          <p:cNvSpPr/>
          <p:nvPr/>
        </p:nvSpPr>
        <p:spPr>
          <a:xfrm>
            <a:off x="7543800" y="16642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50" b="1" u="none" strike="noStrike">
                <a:solidFill>
                  <a:srgbClr val="20B7B0"/>
                </a:solidFill>
                <a:effectLst/>
                <a:uFillTx/>
                <a:latin typeface="Aptos"/>
              </a:rPr>
              <a:t>Implementación oficial del IESS</a:t>
            </a:r>
            <a:endParaRPr lang="en-US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Oval 14"/>
          <p:cNvSpPr/>
          <p:nvPr/>
        </p:nvSpPr>
        <p:spPr>
          <a:xfrm>
            <a:off x="914400" y="2441520"/>
            <a:ext cx="118440" cy="118440"/>
          </a:xfrm>
          <a:prstGeom prst="ellipse">
            <a:avLst/>
          </a:prstGeom>
          <a:solidFill>
            <a:srgbClr val="146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880" rIns="90000" bIns="388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94" name="TextBox 15"/>
          <p:cNvSpPr/>
          <p:nvPr/>
        </p:nvSpPr>
        <p:spPr>
          <a:xfrm>
            <a:off x="1152000" y="2377440"/>
            <a:ext cx="4434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1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Si solo muestra información: hosting sencillo.</a:t>
            </a:r>
            <a:endParaRPr lang="en-US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Oval 16"/>
          <p:cNvSpPr/>
          <p:nvPr/>
        </p:nvSpPr>
        <p:spPr>
          <a:xfrm>
            <a:off x="914400" y="3081600"/>
            <a:ext cx="118440" cy="118440"/>
          </a:xfrm>
          <a:prstGeom prst="ellipse">
            <a:avLst/>
          </a:prstGeom>
          <a:solidFill>
            <a:srgbClr val="146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880" rIns="90000" bIns="388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96" name="TextBox 17"/>
          <p:cNvSpPr/>
          <p:nvPr/>
        </p:nvSpPr>
        <p:spPr>
          <a:xfrm>
            <a:off x="1152000" y="3017520"/>
            <a:ext cx="4434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1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Puede usar .com, .ec o un subdominio.</a:t>
            </a:r>
            <a:endParaRPr lang="en-US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Oval 18"/>
          <p:cNvSpPr/>
          <p:nvPr/>
        </p:nvSpPr>
        <p:spPr>
          <a:xfrm>
            <a:off x="914400" y="3721680"/>
            <a:ext cx="118440" cy="118440"/>
          </a:xfrm>
          <a:prstGeom prst="ellipse">
            <a:avLst/>
          </a:prstGeom>
          <a:solidFill>
            <a:srgbClr val="146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880" rIns="90000" bIns="388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98" name="TextBox 19"/>
          <p:cNvSpPr/>
          <p:nvPr/>
        </p:nvSpPr>
        <p:spPr>
          <a:xfrm>
            <a:off x="1152000" y="3657600"/>
            <a:ext cx="4434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1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Hostinger o Namecheap pueden servir para una web pequeña.</a:t>
            </a:r>
            <a:endParaRPr lang="en-US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Oval 20"/>
          <p:cNvSpPr/>
          <p:nvPr/>
        </p:nvSpPr>
        <p:spPr>
          <a:xfrm>
            <a:off x="914400" y="4361760"/>
            <a:ext cx="118440" cy="118440"/>
          </a:xfrm>
          <a:prstGeom prst="ellipse">
            <a:avLst/>
          </a:prstGeom>
          <a:solidFill>
            <a:srgbClr val="146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880" rIns="90000" bIns="388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00" name="TextBox 21"/>
          <p:cNvSpPr/>
          <p:nvPr/>
        </p:nvSpPr>
        <p:spPr>
          <a:xfrm>
            <a:off x="1152000" y="4297680"/>
            <a:ext cx="4434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1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Siempre revisar renovación antes de pagar.</a:t>
            </a:r>
            <a:endParaRPr lang="en-US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Oval 22"/>
          <p:cNvSpPr/>
          <p:nvPr/>
        </p:nvSpPr>
        <p:spPr>
          <a:xfrm>
            <a:off x="6537960" y="2441520"/>
            <a:ext cx="118440" cy="118440"/>
          </a:xfrm>
          <a:prstGeom prst="ellipse">
            <a:avLst/>
          </a:prstGeom>
          <a:solidFill>
            <a:srgbClr val="20B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880" rIns="90000" bIns="388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02" name="TextBox 23"/>
          <p:cNvSpPr/>
          <p:nvPr/>
        </p:nvSpPr>
        <p:spPr>
          <a:xfrm>
            <a:off x="6775560" y="2377440"/>
            <a:ext cx="4434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1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No compraríamos un dominio comercial aparte.</a:t>
            </a:r>
            <a:endParaRPr lang="en-US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Oval 24"/>
          <p:cNvSpPr/>
          <p:nvPr/>
        </p:nvSpPr>
        <p:spPr>
          <a:xfrm>
            <a:off x="6537960" y="3081600"/>
            <a:ext cx="118440" cy="118440"/>
          </a:xfrm>
          <a:prstGeom prst="ellipse">
            <a:avLst/>
          </a:prstGeom>
          <a:solidFill>
            <a:srgbClr val="20B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880" rIns="90000" bIns="388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04" name="TextBox 25"/>
          <p:cNvSpPr/>
          <p:nvPr/>
        </p:nvSpPr>
        <p:spPr>
          <a:xfrm>
            <a:off x="6775560" y="3017520"/>
            <a:ext cx="4434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1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Se solicitaría rehabilitacion.iess.gob.ec.</a:t>
            </a:r>
            <a:endParaRPr lang="en-US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Oval 26"/>
          <p:cNvSpPr/>
          <p:nvPr/>
        </p:nvSpPr>
        <p:spPr>
          <a:xfrm>
            <a:off x="6537960" y="3721680"/>
            <a:ext cx="118440" cy="118440"/>
          </a:xfrm>
          <a:prstGeom prst="ellipse">
            <a:avLst/>
          </a:prstGeom>
          <a:solidFill>
            <a:srgbClr val="20B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880" rIns="90000" bIns="388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06" name="TextBox 27"/>
          <p:cNvSpPr/>
          <p:nvPr/>
        </p:nvSpPr>
        <p:spPr>
          <a:xfrm>
            <a:off x="6775560" y="3657600"/>
            <a:ext cx="4434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1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Alojamiento en infraestructura o nube aprobada por el IESS.</a:t>
            </a:r>
            <a:endParaRPr lang="en-US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Oval 28"/>
          <p:cNvSpPr/>
          <p:nvPr/>
        </p:nvSpPr>
        <p:spPr>
          <a:xfrm>
            <a:off x="6537960" y="4361760"/>
            <a:ext cx="118440" cy="118440"/>
          </a:xfrm>
          <a:prstGeom prst="ellipse">
            <a:avLst/>
          </a:prstGeom>
          <a:solidFill>
            <a:srgbClr val="20B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880" rIns="90000" bIns="388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08" name="TextBox 29"/>
          <p:cNvSpPr/>
          <p:nvPr/>
        </p:nvSpPr>
        <p:spPr>
          <a:xfrm>
            <a:off x="6775560" y="4297680"/>
            <a:ext cx="44344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10" b="0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Backend, BD privada, HTTPS, backups y auditoría.</a:t>
            </a:r>
            <a:endParaRPr lang="en-US" sz="16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ight Arrow 30"/>
          <p:cNvSpPr/>
          <p:nvPr/>
        </p:nvSpPr>
        <p:spPr>
          <a:xfrm>
            <a:off x="5779080" y="3063240"/>
            <a:ext cx="50256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10" name="Rounded Rectangle 31"/>
          <p:cNvSpPr/>
          <p:nvPr/>
        </p:nvSpPr>
        <p:spPr>
          <a:xfrm>
            <a:off x="822960" y="5532120"/>
            <a:ext cx="10560960" cy="566640"/>
          </a:xfrm>
          <a:prstGeom prst="roundRect">
            <a:avLst>
              <a:gd name="adj" fmla="val 16667"/>
            </a:avLst>
          </a:prstGeom>
          <a:solidFill>
            <a:srgbClr val="FFF0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11" name="TextBox 32"/>
          <p:cNvSpPr/>
          <p:nvPr/>
        </p:nvSpPr>
        <p:spPr>
          <a:xfrm>
            <a:off x="1024200" y="5660280"/>
            <a:ext cx="10149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29" b="1" u="none" strike="noStrike">
                <a:solidFill>
                  <a:srgbClr val="31333F"/>
                </a:solidFill>
                <a:effectLst/>
                <a:uFillTx/>
                <a:latin typeface="Aptos"/>
              </a:rPr>
              <a:t>DECISIÓN: proveedores comerciales sirven para demos o negocios pequeños; para el IESS, subdominio oficial + hosting aprobado institucionalmente.</a:t>
            </a:r>
            <a:endParaRPr lang="en-US" sz="16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33"/>
          <p:cNvSpPr/>
          <p:nvPr/>
        </p:nvSpPr>
        <p:spPr>
          <a:xfrm>
            <a:off x="594360" y="6346080"/>
            <a:ext cx="10332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80" b="0" u="none" strike="noStrike">
                <a:solidFill>
                  <a:srgbClr val="857A71"/>
                </a:solidFill>
                <a:effectLst/>
                <a:uFillTx/>
                <a:latin typeface="Aptos"/>
              </a:rPr>
              <a:t>Criterio técnico: el proveedor se elige según datos, seguridad, tráfico, soporte y responsabilidad institucional.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0"/>
          <p:cNvSpPr/>
          <p:nvPr/>
        </p:nvSpPr>
        <p:spPr>
          <a:xfrm>
            <a:off x="54720" y="128160"/>
            <a:ext cx="438480" cy="438480"/>
          </a:xfrm>
          <a:prstGeom prst="ellipse">
            <a:avLst/>
          </a:prstGeom>
          <a:noFill/>
          <a:ln w="40640">
            <a:solidFill>
              <a:srgbClr val="FF5CA8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4" name="Shape 1"/>
          <p:cNvSpPr/>
          <p:nvPr/>
        </p:nvSpPr>
        <p:spPr>
          <a:xfrm>
            <a:off x="11631240" y="6181200"/>
            <a:ext cx="383760" cy="383760"/>
          </a:xfrm>
          <a:prstGeom prst="ellipse">
            <a:avLst/>
          </a:prstGeom>
          <a:noFill/>
          <a:ln w="38100">
            <a:solidFill>
              <a:srgbClr val="4BC0C8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5" name="Text 2"/>
          <p:cNvSpPr/>
          <p:nvPr/>
        </p:nvSpPr>
        <p:spPr>
          <a:xfrm>
            <a:off x="2011680" y="2011680"/>
            <a:ext cx="8137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0" u="none" strike="noStrike">
                <a:solidFill>
                  <a:srgbClr val="31333F"/>
                </a:solidFill>
                <a:effectLst/>
                <a:uFillTx/>
                <a:latin typeface="Georgia"/>
                <a:ea typeface="Georgia"/>
              </a:rPr>
              <a:t>¡GRACIAS!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3"/>
          <p:cNvSpPr/>
          <p:nvPr/>
        </p:nvSpPr>
        <p:spPr>
          <a:xfrm>
            <a:off x="3200400" y="3246120"/>
            <a:ext cx="5668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5CA8"/>
                </a:solidFill>
                <a:effectLst/>
                <a:uFillTx/>
                <a:latin typeface="Aptos"/>
                <a:ea typeface="Aptos"/>
              </a:rPr>
              <a:t>¿Preguntas?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4"/>
          <p:cNvSpPr/>
          <p:nvPr/>
        </p:nvSpPr>
        <p:spPr>
          <a:xfrm>
            <a:off x="2926080" y="429768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Andony Cortez · Neicer Jimenez · Grupo 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 type="sldNum" idx="16"/>
          </p:nvPr>
        </p:nvSpPr>
        <p:spPr>
          <a:xfrm>
            <a:off x="11475720" y="654696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2C4AEC-782C-455D-A680-9DB3F25AC25F}" type="slidenum">
              <a:rPr lang="en-US" sz="1000" b="0" u="none" strike="noStrike">
                <a:solidFill>
                  <a:srgbClr val="7A6F67"/>
                </a:solidFill>
                <a:effectLst/>
                <a:uFillTx/>
                <a:latin typeface="Aptos"/>
                <a:ea typeface="Aptos"/>
              </a:rPr>
              <a:t>11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LibreOffice/26.8.0.3$Linux_X86_64 LibreOffice_project/680$Build-3</Application>
  <AppVersion>15.0000</AppVersion>
  <Words>0</Words>
  <Paragraphs>0</Paragraphs>
  <Company>Universidad Estatal de Bolívar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2026-09-24T19:53:34Z</dcterms:created>
  <dc:creator>Neicer Jimenez - Andony Cortez</dc:creator>
  <dc:description/>
  <dc:language>en-US</dc:language>
  <cp:lastModifiedBy/>
  <dcterms:modified xsi:type="dcterms:W3CDTF">2026-09-24T16:47:51Z</dcterms:modified>
  <cp:revision>2</cp:revision>
  <dc:subject>Dominios y alojamiento web</dc:subject>
  <dc:title>Dominios y alojamiento web - IHM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
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13.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slides/slide16.xml" ContentType="application/vnd.openxmlformats-officedocument.presentationml.slide+xml"/>
  <Override PartName="/ppt/slides/slide15.xml" ContentType="application/vnd.openxmlformats-officedocument.presentationml.slide+xml"/>
  <Override PartName="/ppt/notesSlides/notesSlide3.xml" ContentType="application/vnd.openxmlformats-officedocument.presentationml.notesSlide+xml"/>
  <Override PartName="/ppt/slides/slide14.xml" ContentType="application/vnd.openxmlformats-officedocument.presentationml.slide+xml"/>
  <Override PartName="/docProps/core.xml" ContentType="application/vnd.openxmlformats-package.core-properties+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3.xml" ContentType="application/vnd.openxmlformats-officedocument.presentationml.slide+xml"/>
  <Override PartName="/ppt/slides/slide6.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7.xml" ContentType="application/vnd.openxmlformats-officedocument.presentationml.slide+xml"/>
  <Override PartName="/docProps/app.xml" ContentType="application/vnd.openxmlformats-officedocument.extended-properties+xml"/>
  <Override PartName="/ppt/tableStyles.xml" ContentType="application/vnd.openxmlformats-officedocument.presentationml.tableStyles+xml"/>
  <Override PartName="/ppt/slides/slide4.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slideLayouts/slideLayout1.xml" ContentType="application/vnd.openxmlformats-officedocument.presentationml.slideLayout+xml"/>
  <Override PartName="/ppt/slides/slide5.xml" ContentType="application/vnd.openxmlformats-officedocument.presentationml.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notesSlides/notesSlide1.xml" ContentType="application/vnd.openxmlformats-officedocument.presentationml.notesSlide+xml"/>
  <Override PartName="/ppt/slides/slide9.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21"/>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p:scale>
          <a:sx n="0" d="6"/>
          <a:sy n="0" d="2"/>
        </p:scale>
        <p:origin x="973732704" y="0"/>
      </p:cViewPr>
      <p:guideLst>
        <p:guide pos="3840"/>
        <p:guide pos="2160" orient="horz"/>
      </p:guideLst>
    </p:cSldViewPr>
  </p:slideViewPr>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notesMaster" Target="notesMasters/notesMaster1.xml"/><Relationship Id="rId22" Type="http://schemas.openxmlformats.org/officeDocument/2006/relationships/presProps" Target="presProps.xml" /><Relationship Id="rId23" Type="http://schemas.openxmlformats.org/officeDocument/2006/relationships/tableStyles" Target="tableStyles.xml" /><Relationship Id="rId24"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318001667" name="Header Placeholder"/>
          <p:cNvSpPr/>
          <p:nvPr>
            <p:ph type="hdr" sz="quarter"/>
          </p:nvPr>
        </p:nvSpPr>
        <p:spPr bwMode="auto">
          <a:prstGeom prst="rect">
            <a:avLst/>
          </a:prstGeom>
        </p:spPr>
        <p:txBody>
          <a:bodyPr/>
          <a:lstStyle/>
          <a:p>
            <a:pPr>
              <a:defRPr/>
            </a:pPr>
            <a:endParaRPr/>
          </a:p>
        </p:txBody>
      </p:sp>
      <p:sp>
        <p:nvSpPr>
          <p:cNvPr id="939204140" name="Date Placeholder"/>
          <p:cNvSpPr/>
          <p:nvPr>
            <p:ph type="dt" sz="quarter" idx="1"/>
          </p:nvPr>
        </p:nvSpPr>
        <p:spPr bwMode="auto">
          <a:prstGeom prst="rect">
            <a:avLst/>
          </a:prstGeom>
        </p:spPr>
        <p:txBody>
          <a:bodyPr/>
          <a:lstStyle/>
          <a:p>
            <a:pPr>
              <a:defRPr/>
            </a:pPr>
            <a:endParaRPr/>
          </a:p>
        </p:txBody>
      </p:sp>
      <p:sp>
        <p:nvSpPr>
          <p:cNvPr id="1418673486" name="Slide Image Placeholder"/>
          <p:cNvSpPr/>
          <p:nvPr>
            <p:ph type="sldImg" idx="2"/>
          </p:nvPr>
        </p:nvSpPr>
        <p:spPr bwMode="auto">
          <a:prstGeom prst="rect">
            <a:avLst/>
          </a:prstGeom>
        </p:spPr>
        <p:txBody>
          <a:bodyPr/>
          <a:lstStyle/>
          <a:p>
            <a:pPr>
              <a:defRPr/>
            </a:pPr>
            <a:endParaRPr/>
          </a:p>
        </p:txBody>
      </p:sp>
      <p:sp>
        <p:nvSpPr>
          <p:cNvPr id="1912218572" name="Notes Placeholder"/>
          <p:cNvSpPr/>
          <p:nvPr>
            <p:ph type="body" sz="quarter" idx="3"/>
          </p:nvPr>
        </p:nvSpPr>
        <p:spPr bwMode="auto">
          <a:prstGeom prst="rect">
            <a:avLst/>
          </a:prstGeom>
        </p:spPr>
        <p:txBody>
          <a:bodyPr/>
          <a:lstStyle/>
          <a:p>
            <a:pPr>
              <a:defRPr/>
            </a:pPr>
            <a:endParaRPr/>
          </a:p>
        </p:txBody>
      </p:sp>
      <p:sp>
        <p:nvSpPr>
          <p:cNvPr id="463819956" name="Footer Placeholder"/>
          <p:cNvSpPr/>
          <p:nvPr>
            <p:ph type="ftr" sz="quarter" idx="4"/>
          </p:nvPr>
        </p:nvSpPr>
        <p:spPr bwMode="auto">
          <a:prstGeom prst="rect">
            <a:avLst/>
          </a:prstGeom>
        </p:spPr>
        <p:txBody>
          <a:bodyPr/>
          <a:lstStyle/>
          <a:p>
            <a:pPr>
              <a:defRPr/>
            </a:pPr>
            <a:endParaRPr/>
          </a:p>
        </p:txBody>
      </p:sp>
      <p:sp>
        <p:nvSpPr>
          <p:cNvPr id="12953952" name="Slide Number Placeholder"/>
          <p:cNvSpPr/>
          <p:nvPr>
            <p:ph type="sldNum" sz="quarter" idx="5"/>
          </p:nvPr>
        </p:nvSpPr>
        <p:spPr bwMode="auto">
          <a:prstGeom prst="rect">
            <a:avLst/>
          </a:prstGeom>
        </p:spPr>
        <p:txBody>
          <a:bodyPr/>
          <a:lstStyle/>
          <a:p>
            <a:pPr>
              <a:defRPr/>
            </a:pPr>
            <a:endParaRPr/>
          </a:p>
        </p:txBody>
      </p:sp>
    </p:spTree>
  </p:cSld>
  <p:clrMap bg1="lt1" tx1="dk1" bg2="lt2" tx2="dk2" accent1="accent1" accent2="accent2" accent3="accent3" accent4="accent4" accent5="accent5" accent6="accent6" hlink="hlink" folHlink="folHlink"/>
  <p:notesStyle>
    <a:lvl1pPr marL="0" algn="l" defTabSz="914400" rtl="0">
      <a:defRPr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57047234" name="Slide Image Placeholder 1"/>
          <p:cNvSpPr>
            <a:spLocks noGrp="1"/>
          </p:cNvSpPr>
          <p:nvPr>
            <p:ph type="sldImg" idx="0"/>
          </p:nvPr>
        </p:nvSpPr>
        <p:spPr bwMode="auto"/>
      </p:sp>
      <p:sp>
        <p:nvSpPr>
          <p:cNvPr id="2004715145" name="Notes Placeholder 2"/>
          <p:cNvSpPr>
            <a:spLocks noGrp="1"/>
          </p:cNvSpPr>
          <p:nvPr>
            <p:ph type="body" idx="1"/>
          </p:nvPr>
        </p:nvSpPr>
        <p:spPr bwMode="auto"/>
        <p:txBody>
          <a:bodyPr/>
          <a:lstStyle/>
          <a:p>
            <a:pPr>
              <a:defRPr/>
            </a:pPr>
            <a:r>
              <a:rPr/>
              <a:t>Presentamos un prototipo académico para la atención de rehabilitación en Guaranda. La exposición se centra en la experiencia de quien busca atención y solicita una cita. La imagen de portada es ilustrativa. Este sitio no pertenece al IESS ni crea citas reales.</a:t>
            </a:r>
            <a:endParaRPr/>
          </a:p>
        </p:txBody>
      </p:sp>
      <p:sp>
        <p:nvSpPr>
          <p:cNvPr id="197435758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27202238" name="Slide Image Placeholder 1"/>
          <p:cNvSpPr>
            <a:spLocks noGrp="1"/>
          </p:cNvSpPr>
          <p:nvPr>
            <p:ph type="sldImg" idx="0"/>
          </p:nvPr>
        </p:nvSpPr>
        <p:spPr bwMode="auto"/>
      </p:sp>
      <p:sp>
        <p:nvSpPr>
          <p:cNvPr id="1726792562" name="Notes Placeholder 2"/>
          <p:cNvSpPr>
            <a:spLocks noGrp="1"/>
          </p:cNvSpPr>
          <p:nvPr>
            <p:ph type="body" idx="1"/>
          </p:nvPr>
        </p:nvSpPr>
        <p:spPr bwMode="auto"/>
        <p:txBody>
          <a:bodyPr/>
          <a:lstStyle/>
          <a:p>
            <a:pPr>
              <a:defRPr/>
            </a:pPr>
            <a:r>
              <a:rPr/>
              <a:t>El problema se entiende siguiendo el recorrido de una persona: antes de confirmar una cita tiene que ubicar el centro, elegir el profesional y encontrar un horario. Diseñamos el prototipo para conectar esas decisiones en una sola experiencia. No estamos afirmando que hayamos medido problemas en los sistemas reales del IESS. La fotografía del hospital está atribuida en la documentación del proyecto.</a:t>
            </a:r>
            <a:endParaRPr/>
          </a:p>
        </p:txBody>
      </p:sp>
      <p:sp>
        <p:nvSpPr>
          <p:cNvPr id="14631840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67484485" name="Slide Image Placeholder 1"/>
          <p:cNvSpPr>
            <a:spLocks noGrp="1"/>
          </p:cNvSpPr>
          <p:nvPr>
            <p:ph type="sldImg" idx="0"/>
          </p:nvPr>
        </p:nvSpPr>
        <p:spPr bwMode="auto"/>
      </p:sp>
      <p:sp>
        <p:nvSpPr>
          <p:cNvPr id="1905692117" name="Notes Placeholder 2"/>
          <p:cNvSpPr>
            <a:spLocks noGrp="1"/>
          </p:cNvSpPr>
          <p:nvPr>
            <p:ph type="body" idx="1"/>
          </p:nvPr>
        </p:nvSpPr>
        <p:spPr bwMode="auto"/>
        <p:txBody>
          <a:bodyPr/>
          <a:lstStyle/>
          <a:p>
            <a:pPr>
              <a:defRPr/>
            </a:pPr>
            <a:endParaRPr/>
          </a:p>
        </p:txBody>
      </p:sp>
      <p:sp>
        <p:nvSpPr>
          <p:cNvPr id="196314455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67090429" name="Slide Image Placeholder 1"/>
          <p:cNvSpPr>
            <a:spLocks noGrp="1"/>
          </p:cNvSpPr>
          <p:nvPr>
            <p:ph type="sldImg" idx="0"/>
          </p:nvPr>
        </p:nvSpPr>
        <p:spPr bwMode="auto"/>
      </p:sp>
      <p:sp>
        <p:nvSpPr>
          <p:cNvPr id="1202089417" name="Notes Placeholder 2"/>
          <p:cNvSpPr>
            <a:spLocks noGrp="1"/>
          </p:cNvSpPr>
          <p:nvPr>
            <p:ph type="body" idx="1"/>
          </p:nvPr>
        </p:nvSpPr>
        <p:spPr bwMode="auto"/>
        <p:txBody>
          <a:bodyPr/>
          <a:lstStyle/>
          <a:p>
            <a:pPr>
              <a:defRPr/>
            </a:pPr>
            <a:endParaRPr/>
          </a:p>
        </p:txBody>
      </p:sp>
      <p:sp>
        <p:nvSpPr>
          <p:cNvPr id="112690810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8345216" name="Slide Image Placeholder 1"/>
          <p:cNvSpPr>
            <a:spLocks noGrp="1"/>
          </p:cNvSpPr>
          <p:nvPr>
            <p:ph type="sldImg" idx="0"/>
          </p:nvPr>
        </p:nvSpPr>
        <p:spPr bwMode="auto"/>
      </p:sp>
      <p:sp>
        <p:nvSpPr>
          <p:cNvPr id="509703962" name="Notes Placeholder 2"/>
          <p:cNvSpPr>
            <a:spLocks noGrp="1"/>
          </p:cNvSpPr>
          <p:nvPr>
            <p:ph type="body" idx="1"/>
          </p:nvPr>
        </p:nvSpPr>
        <p:spPr bwMode="auto"/>
        <p:txBody>
          <a:bodyPr/>
          <a:lstStyle/>
          <a:p>
            <a:pPr>
              <a:defRPr/>
            </a:pPr>
            <a:endParaRPr/>
          </a:p>
        </p:txBody>
      </p:sp>
      <p:sp>
        <p:nvSpPr>
          <p:cNvPr id="579462858"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99162741" name="Slide Image Placeholder 1"/>
          <p:cNvSpPr>
            <a:spLocks noGrp="1"/>
          </p:cNvSpPr>
          <p:nvPr>
            <p:ph type="sldImg" idx="0"/>
          </p:nvPr>
        </p:nvSpPr>
        <p:spPr bwMode="auto"/>
      </p:sp>
      <p:sp>
        <p:nvSpPr>
          <p:cNvPr id="1466444380" name="Notes Placeholder 2"/>
          <p:cNvSpPr>
            <a:spLocks noGrp="1"/>
          </p:cNvSpPr>
          <p:nvPr>
            <p:ph type="body" idx="1"/>
          </p:nvPr>
        </p:nvSpPr>
        <p:spPr bwMode="auto"/>
        <p:txBody>
          <a:bodyPr/>
          <a:lstStyle/>
          <a:p>
            <a:pPr>
              <a:defRPr/>
            </a:pPr>
            <a:r>
              <a:rPr/>
              <a:t>El enunciado considera personas jóvenes, adultos mayores y personas con discapacidad visual o motriz. En vez de crear tres formularios, diseñamos uno que puede adaptarse. Esto evita pedirle al paciente que se clasifique. Las necesidades listadas orientaron las decisiones de interfaz; todavía falta comprobarlas con participantes.</a:t>
            </a:r>
            <a:endParaRPr/>
          </a:p>
        </p:txBody>
      </p:sp>
      <p:sp>
        <p:nvSpPr>
          <p:cNvPr id="23437552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01219182" name="Slide Image Placeholder 1"/>
          <p:cNvSpPr>
            <a:spLocks noGrp="1"/>
          </p:cNvSpPr>
          <p:nvPr>
            <p:ph type="sldImg" idx="0"/>
          </p:nvPr>
        </p:nvSpPr>
        <p:spPr bwMode="auto"/>
      </p:sp>
      <p:sp>
        <p:nvSpPr>
          <p:cNvPr id="1156271127" name="Notes Placeholder 2"/>
          <p:cNvSpPr>
            <a:spLocks noGrp="1"/>
          </p:cNvSpPr>
          <p:nvPr>
            <p:ph type="body" idx="1"/>
          </p:nvPr>
        </p:nvSpPr>
        <p:spPr bwMode="auto"/>
        <p:txBody>
          <a:bodyPr/>
          <a:lstStyle/>
          <a:p>
            <a:pPr>
              <a:defRPr/>
            </a:pPr>
            <a:r>
              <a:rPr/>
              <a:t>La aplicación reúne ocho funciones: registro local, solicitud de citas, consulta de profesionales, disponibilidad, historial, ejercicios, recordatorios e información del centro. Aquí las agrupamos en cuatro áreas para presentar la navegación sin repetir pantallas. La portada deja visible el inicio de la solicitud y ofrece accesos a los demás apartados.</a:t>
            </a:r>
            <a:endParaRPr/>
          </a:p>
        </p:txBody>
      </p:sp>
      <p:sp>
        <p:nvSpPr>
          <p:cNvPr id="185058867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30678413" name="Slide Image Placeholder 1"/>
          <p:cNvSpPr>
            <a:spLocks noGrp="1"/>
          </p:cNvSpPr>
          <p:nvPr>
            <p:ph type="sldImg" idx="0"/>
          </p:nvPr>
        </p:nvSpPr>
        <p:spPr bwMode="auto"/>
      </p:sp>
      <p:sp>
        <p:nvSpPr>
          <p:cNvPr id="1951948236" name="Notes Placeholder 2"/>
          <p:cNvSpPr>
            <a:spLocks noGrp="1"/>
          </p:cNvSpPr>
          <p:nvPr>
            <p:ph type="body" idx="1"/>
          </p:nvPr>
        </p:nvSpPr>
        <p:spPr bwMode="auto"/>
        <p:txBody>
          <a:bodyPr/>
          <a:lstStyle/>
          <a:p>
            <a:pPr>
              <a:defRPr/>
            </a:pPr>
            <a:endParaRPr/>
          </a:p>
        </p:txBody>
      </p:sp>
      <p:sp>
        <p:nvSpPr>
          <p:cNvPr id="841458867"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49763010" name="Slide Image Placeholder 1"/>
          <p:cNvSpPr>
            <a:spLocks noGrp="1"/>
          </p:cNvSpPr>
          <p:nvPr>
            <p:ph type="sldImg" idx="0"/>
          </p:nvPr>
        </p:nvSpPr>
        <p:spPr bwMode="auto"/>
      </p:sp>
      <p:sp>
        <p:nvSpPr>
          <p:cNvPr id="1959759053" name="Notes Placeholder 2"/>
          <p:cNvSpPr>
            <a:spLocks noGrp="1"/>
          </p:cNvSpPr>
          <p:nvPr>
            <p:ph type="body" idx="1"/>
          </p:nvPr>
        </p:nvSpPr>
        <p:spPr bwMode="auto"/>
        <p:txBody>
          <a:bodyPr/>
          <a:lstStyle/>
          <a:p>
            <a:pPr>
              <a:defRPr/>
            </a:pPr>
            <a:r>
              <a:rPr/>
              <a:t>El flujo de cita tiene tres pasos: datos, profesional y fecha/hora. La persona puede regresar para corregir algo sin empezar de nuevo. Al final ve un resumen antes de confirmar. El formulario valida que la cédula tenga diez dígitos y la elimina antes de guardar la cita de demostración.</a:t>
            </a:r>
            <a:endParaRPr/>
          </a:p>
        </p:txBody>
      </p:sp>
      <p:sp>
        <p:nvSpPr>
          <p:cNvPr id="289563676"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74378761" name="Slide Image Placeholder 1"/>
          <p:cNvSpPr>
            <a:spLocks noGrp="1"/>
          </p:cNvSpPr>
          <p:nvPr>
            <p:ph type="sldImg" idx="0"/>
          </p:nvPr>
        </p:nvSpPr>
        <p:spPr bwMode="auto"/>
      </p:sp>
      <p:sp>
        <p:nvSpPr>
          <p:cNvPr id="642222899" name="Notes Placeholder 2"/>
          <p:cNvSpPr>
            <a:spLocks noGrp="1"/>
          </p:cNvSpPr>
          <p:nvPr>
            <p:ph type="body" idx="1"/>
          </p:nvPr>
        </p:nvSpPr>
        <p:spPr bwMode="auto"/>
        <p:txBody>
          <a:bodyPr/>
          <a:lstStyle/>
          <a:p>
            <a:pPr>
              <a:defRPr/>
            </a:pPr>
            <a:r>
              <a:rPr/>
              <a:t>Esta es la primera pantalla del formulario. Se muestran ejemplos de formato, y los errores explican cómo corregir el dato. El número de cédula se valida como diez dígitos, pero no se conserva al guardar la cita. Eso es importante porque el prototipo usa almacenamiento local de la sesión.</a:t>
            </a:r>
            <a:endParaRPr/>
          </a:p>
        </p:txBody>
      </p:sp>
      <p:sp>
        <p:nvSpPr>
          <p:cNvPr id="134672542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98972818" name="Slide Image Placeholder 1"/>
          <p:cNvSpPr>
            <a:spLocks noGrp="1"/>
          </p:cNvSpPr>
          <p:nvPr>
            <p:ph type="sldImg" idx="0"/>
          </p:nvPr>
        </p:nvSpPr>
        <p:spPr bwMode="auto"/>
      </p:sp>
      <p:sp>
        <p:nvSpPr>
          <p:cNvPr id="1702610553" name="Notes Placeholder 2"/>
          <p:cNvSpPr>
            <a:spLocks noGrp="1"/>
          </p:cNvSpPr>
          <p:nvPr>
            <p:ph type="body" idx="1"/>
          </p:nvPr>
        </p:nvSpPr>
        <p:spPr bwMode="auto"/>
        <p:txBody>
          <a:bodyPr/>
          <a:lstStyle/>
          <a:p>
            <a:pPr>
              <a:defRPr/>
            </a:pPr>
            <a:endParaRPr/>
          </a:p>
        </p:txBody>
      </p:sp>
      <p:sp>
        <p:nvSpPr>
          <p:cNvPr id="1378043125"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44211520" name="Slide Image Placeholder 1"/>
          <p:cNvSpPr>
            <a:spLocks noGrp="1"/>
          </p:cNvSpPr>
          <p:nvPr>
            <p:ph type="sldImg" idx="0"/>
          </p:nvPr>
        </p:nvSpPr>
        <p:spPr bwMode="auto"/>
      </p:sp>
      <p:sp>
        <p:nvSpPr>
          <p:cNvPr id="1372284185" name="Notes Placeholder 2"/>
          <p:cNvSpPr>
            <a:spLocks noGrp="1"/>
          </p:cNvSpPr>
          <p:nvPr>
            <p:ph type="body" idx="1"/>
          </p:nvPr>
        </p:nvSpPr>
        <p:spPr bwMode="auto"/>
        <p:txBody>
          <a:bodyPr/>
          <a:lstStyle/>
          <a:p>
            <a:pPr>
              <a:defRPr/>
            </a:pPr>
            <a:r>
              <a:rPr/>
              <a:t>En la sección de profesionales se puede escribir un nombre o especialidad y filtrar. Las fichas muestran el área de atención, un enfoque y un botón para solicitar cita. Esa acción conduce al mismo formulario. Los nombres, horarios y retratos son ficticios para la práctica.</a:t>
            </a:r>
            <a:endParaRPr/>
          </a:p>
        </p:txBody>
      </p:sp>
      <p:sp>
        <p:nvSpPr>
          <p:cNvPr id="583049830"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376889984" name="Slide Image Placeholder 1"/>
          <p:cNvSpPr>
            <a:spLocks noGrp="1"/>
          </p:cNvSpPr>
          <p:nvPr>
            <p:ph type="sldImg" idx="0"/>
          </p:nvPr>
        </p:nvSpPr>
        <p:spPr bwMode="auto"/>
      </p:sp>
      <p:sp>
        <p:nvSpPr>
          <p:cNvPr id="982822389" name="Notes Placeholder 2"/>
          <p:cNvSpPr>
            <a:spLocks noGrp="1"/>
          </p:cNvSpPr>
          <p:nvPr>
            <p:ph type="body" idx="1"/>
          </p:nvPr>
        </p:nvSpPr>
        <p:spPr bwMode="auto"/>
        <p:txBody>
          <a:bodyPr/>
          <a:lstStyle/>
          <a:p>
            <a:pPr>
              <a:defRPr/>
            </a:pPr>
            <a:r>
              <a:rPr/>
              <a:t>Esta tabla compara la disponibilidad por día y profesional. Desde un cupo se puede continuar con la solicitud y el profesional o la fecha quedan preparados. El sistema no ofrece horas pasadas ni cupos ocupados en esa sesión. Todos los horarios son simulados, no consultamos disponibilidad real del IESS.</a:t>
            </a:r>
            <a:endParaRPr/>
          </a:p>
        </p:txBody>
      </p:sp>
      <p:sp>
        <p:nvSpPr>
          <p:cNvPr id="199836878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33261324" name="Slide Image Placeholder 1"/>
          <p:cNvSpPr>
            <a:spLocks noGrp="1"/>
          </p:cNvSpPr>
          <p:nvPr>
            <p:ph type="sldImg" idx="0"/>
          </p:nvPr>
        </p:nvSpPr>
        <p:spPr bwMode="auto"/>
      </p:sp>
      <p:sp>
        <p:nvSpPr>
          <p:cNvPr id="717997390" name="Notes Placeholder 2"/>
          <p:cNvSpPr>
            <a:spLocks noGrp="1"/>
          </p:cNvSpPr>
          <p:nvPr>
            <p:ph type="body" idx="1"/>
          </p:nvPr>
        </p:nvSpPr>
        <p:spPr bwMode="auto"/>
        <p:txBody>
          <a:bodyPr/>
          <a:lstStyle/>
          <a:p>
            <a:pPr>
              <a:defRPr/>
            </a:pPr>
            <a:r>
              <a:rPr/>
              <a:t>Una vez confirmada, la cita aparece en Mis citas. Desde esa pantalla se puede revisar el detalle, reprogramar o cancelar. Los recordatorios dentro del sitio muestran las próximas visitas. En esta captura hay dos citas de ejemplo cargadas para la demostración, sin datos de pacientes reales.</a:t>
            </a:r>
            <a:endParaRPr/>
          </a:p>
        </p:txBody>
      </p:sp>
      <p:sp>
        <p:nvSpPr>
          <p:cNvPr id="2106725389"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83585968" name="Slide Image Placeholder 1"/>
          <p:cNvSpPr>
            <a:spLocks noGrp="1"/>
          </p:cNvSpPr>
          <p:nvPr>
            <p:ph type="sldImg" idx="0"/>
          </p:nvPr>
        </p:nvSpPr>
        <p:spPr bwMode="auto"/>
      </p:sp>
      <p:sp>
        <p:nvSpPr>
          <p:cNvPr id="624157823" name="Notes Placeholder 2"/>
          <p:cNvSpPr>
            <a:spLocks noGrp="1"/>
          </p:cNvSpPr>
          <p:nvPr>
            <p:ph type="body" idx="1"/>
          </p:nvPr>
        </p:nvSpPr>
        <p:spPr bwMode="auto"/>
        <p:txBody>
          <a:bodyPr/>
          <a:lstStyle/>
          <a:p>
            <a:pPr>
              <a:defRPr/>
            </a:pPr>
            <a:r>
              <a:rPr/>
              <a:t>El menú de accesibilidad aparece en toda la web. Se puede ampliar el texto o los botones, activar alto contraste y escuchar el contenido. Además, el formulario incluye etiquetas, foco visible, navegación por teclado y mensajes de error vinculados con los campos. La compatibilidad real con lectores de pantalla todavía requiere prueba manual.</a:t>
            </a:r>
            <a:endParaRPr/>
          </a:p>
        </p:txBody>
      </p:sp>
      <p:sp>
        <p:nvSpPr>
          <p:cNvPr id="1521317702"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68980273" name="Slide Image Placeholder 1"/>
          <p:cNvSpPr>
            <a:spLocks noGrp="1"/>
          </p:cNvSpPr>
          <p:nvPr>
            <p:ph type="sldImg" idx="0"/>
          </p:nvPr>
        </p:nvSpPr>
        <p:spPr bwMode="auto"/>
      </p:sp>
      <p:sp>
        <p:nvSpPr>
          <p:cNvPr id="27542245" name="Notes Placeholder 2"/>
          <p:cNvSpPr>
            <a:spLocks noGrp="1"/>
          </p:cNvSpPr>
          <p:nvPr>
            <p:ph type="body" idx="1"/>
          </p:nvPr>
        </p:nvSpPr>
        <p:spPr bwMode="auto"/>
        <p:txBody>
          <a:bodyPr/>
          <a:lstStyle/>
          <a:p>
            <a:pPr>
              <a:defRPr/>
            </a:pPr>
            <a:r>
              <a:rPr/>
              <a:t>El catálogo contiene ejercicios de hombro, rodilla y respiración diafragmática. Estas imágenes son fotogramas de los videos incluidos en el proyecto. Los subtítulos y la transcripción permiten seguir el contenido sin depender solo del audio o del video. Es material de demostración y no reemplaza indicaciones médicas personalizadas.</a:t>
            </a:r>
            <a:endParaRPr/>
          </a:p>
        </p:txBody>
      </p:sp>
      <p:sp>
        <p:nvSpPr>
          <p:cNvPr id="1240924874" name="Slide Number Placeholder 3"/>
          <p:cNvSpPr>
            <a:spLocks noGrp="1"/>
          </p:cNvSpPr>
          <p:nvPr>
            <p:ph type="sldNum" idx="5"/>
          </p:nvPr>
        </p:nvSpPr>
        <p:spPr bwMode="auto"/>
        <p:txBody>
          <a:bodyPr/>
          <a:lstStyle/>
          <a:p>
            <a:pPr>
              <a:defRPr/>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77252801" name="Slide Image Placeholder 1"/>
          <p:cNvSpPr>
            <a:spLocks noGrp="1"/>
          </p:cNvSpPr>
          <p:nvPr>
            <p:ph type="sldImg" idx="0"/>
          </p:nvPr>
        </p:nvSpPr>
        <p:spPr bwMode="auto"/>
      </p:sp>
      <p:sp>
        <p:nvSpPr>
          <p:cNvPr id="2138040091" name="Notes Placeholder 2"/>
          <p:cNvSpPr>
            <a:spLocks noGrp="1"/>
          </p:cNvSpPr>
          <p:nvPr>
            <p:ph type="body" idx="1"/>
          </p:nvPr>
        </p:nvSpPr>
        <p:spPr bwMode="auto"/>
        <p:txBody>
          <a:bodyPr/>
          <a:lstStyle/>
          <a:p>
            <a:pPr>
              <a:defRPr/>
            </a:pPr>
            <a:r>
              <a:rPr/>
              <a:t>Hemos comprobado técnicamente que el proyecto se ejecuta y compila, y que el recorrido de cita funciona en el navegador. Eso no equivale a una evaluación de usabilidad. El protocolo plantea probar con participantes y lector de pantalla, medir tiempos y errores, y hacer ajustes. Las citas y horarios son simulados y no existe integración con los sistemas del IESS.</a:t>
            </a:r>
            <a:endParaRPr/>
          </a:p>
        </p:txBody>
      </p:sp>
      <p:sp>
        <p:nvSpPr>
          <p:cNvPr id="1646390925" name="Slide Number Placeholder 3"/>
          <p:cNvSpPr>
            <a:spLocks noGrp="1"/>
          </p:cNvSpPr>
          <p:nvPr>
            <p:ph type="sldNum" idx="5"/>
          </p:nvPr>
        </p:nvSpPr>
        <p:spPr bwMode="auto"/>
        <p:txBody>
          <a:bodyPr/>
          <a:lstStyle/>
          <a:p>
            <a:pPr>
              <a:defRPr/>
            </a:pPr>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title" userDrawn="1">
  <p:cSld name="Title Slide">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Master">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9.jpg"/><Relationship Id="rId4" Type="http://schemas.openxmlformats.org/officeDocument/2006/relationships/image" Target="../media/image10.jpg"/><Relationship Id="rId5" Type="http://schemas.openxmlformats.org/officeDocument/2006/relationships/image" Target="../media/image11.jp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91C42"/>
        </a:solidFill>
      </p:bgPr>
    </p:bg>
    <p:spTree>
      <p:nvGrpSpPr>
        <p:cNvPr id="1" name=""/>
        <p:cNvGrpSpPr/>
        <p:nvPr/>
      </p:nvGrpSpPr>
      <p:grpSpPr bwMode="auto">
        <a:xfrm>
          <a:off x="0" y="0"/>
          <a:ext cx="0" cy="0"/>
          <a:chOff x="0" y="0"/>
          <a:chExt cx="0" cy="0"/>
        </a:xfrm>
      </p:grpSpPr>
      <p:sp>
        <p:nvSpPr>
          <p:cNvPr id="676452434" name=""/>
          <p:cNvSpPr>
            <a:spLocks noGrp="1"/>
          </p:cNvSpPr>
          <p:nvPr/>
        </p:nvSpPr>
        <p:spPr bwMode="auto">
          <a:xfrm>
            <a:off x="0" y="0"/>
            <a:ext cx="6286500" cy="6858000"/>
          </a:xfrm>
          <a:prstGeom prst="rect">
            <a:avLst/>
          </a:prstGeom>
          <a:solidFill>
            <a:srgbClr val="091C42"/>
          </a:solidFill>
          <a:ln w="0">
            <a:solidFill>
              <a:srgbClr val="091C42"/>
            </a:solidFill>
          </a:ln>
        </p:spPr>
      </p:sp>
      <p:pic>
        <p:nvPicPr>
          <p:cNvPr id="1943411209" name=""/>
          <p:cNvPicPr>
            <a:picLocks noChangeAspect="1"/>
          </p:cNvPicPr>
          <p:nvPr/>
        </p:nvPicPr>
        <p:blipFill rotWithShape="1">
          <a:blip r:embed="rId3"/>
          <a:srcRect l="21296" t="0" r="21295" b="0"/>
          <a:stretch>
            <a:fillRect l="0" t="0" r="0" b="0"/>
          </a:stretch>
        </p:blipFill>
        <p:spPr bwMode="auto">
          <a:xfrm>
            <a:off x="6286500" y="0"/>
            <a:ext cx="5905500" cy="6858000"/>
          </a:xfrm>
          <a:prstGeom prst="rect">
            <a:avLst/>
          </a:prstGeom>
        </p:spPr>
      </p:pic>
      <p:sp>
        <p:nvSpPr>
          <p:cNvPr id="1126189348" name=""/>
          <p:cNvSpPr>
            <a:spLocks noGrp="1"/>
          </p:cNvSpPr>
          <p:nvPr/>
        </p:nvSpPr>
        <p:spPr bwMode="auto">
          <a:xfrm>
            <a:off x="876299" y="1666875"/>
            <a:ext cx="5000625" cy="2171700"/>
          </a:xfrm>
          <a:prstGeom prst="rect">
            <a:avLst/>
          </a:prstGeom>
          <a:noFill/>
          <a:ln w="0">
            <a:noFill/>
          </a:ln>
        </p:spPr>
        <p:txBody>
          <a:bodyPr anchor="ctr">
            <a:normAutofit fontScale="100000"/>
          </a:bodyPr>
          <a:lstStyle/>
          <a:p>
            <a:pPr algn="l">
              <a:buNone/>
              <a:defRPr sz="4150" b="1">
                <a:solidFill>
                  <a:srgbClr val="FFFFFF"/>
                </a:solidFill>
                <a:latin typeface="Arial"/>
                <a:ea typeface="Arial"/>
                <a:cs typeface="Arial"/>
              </a:defRPr>
            </a:pPr>
            <a:r>
              <a:rPr sz="4150" b="1">
                <a:solidFill>
                  <a:srgbClr val="FFFFFF"/>
                </a:solidFill>
                <a:latin typeface="Arial"/>
                <a:ea typeface="Arial"/>
                <a:cs typeface="Arial"/>
              </a:rPr>
              <a:t>REHABILITACIÓN</a:t>
            </a:r>
            <a:endParaRPr/>
          </a:p>
          <a:p>
            <a:pPr algn="l">
              <a:buNone/>
              <a:defRPr sz="4150" b="1">
                <a:solidFill>
                  <a:srgbClr val="FFFFFF"/>
                </a:solidFill>
                <a:latin typeface="Arial"/>
                <a:ea typeface="Arial"/>
                <a:cs typeface="Arial"/>
              </a:defRPr>
            </a:pPr>
            <a:r>
              <a:rPr sz="4150" b="1">
                <a:solidFill>
                  <a:srgbClr val="FFFFFF"/>
                </a:solidFill>
                <a:latin typeface="Arial"/>
                <a:ea typeface="Arial"/>
                <a:cs typeface="Arial"/>
              </a:rPr>
              <a:t>EN GUARANDA</a:t>
            </a:r>
            <a:endParaRPr/>
          </a:p>
        </p:txBody>
      </p:sp>
      <p:sp>
        <p:nvSpPr>
          <p:cNvPr id="1356794854" name=""/>
          <p:cNvSpPr>
            <a:spLocks noGrp="1"/>
          </p:cNvSpPr>
          <p:nvPr/>
        </p:nvSpPr>
        <p:spPr bwMode="auto">
          <a:xfrm>
            <a:off x="895350" y="4095750"/>
            <a:ext cx="4953000" cy="981075"/>
          </a:xfrm>
          <a:prstGeom prst="rect">
            <a:avLst/>
          </a:prstGeom>
          <a:noFill/>
          <a:ln w="0">
            <a:noFill/>
          </a:ln>
        </p:spPr>
        <p:txBody>
          <a:bodyPr anchor="ctr">
            <a:normAutofit fontScale="88958"/>
          </a:bodyPr>
          <a:lstStyle/>
          <a:p>
            <a:pPr algn="l">
              <a:buNone/>
              <a:defRPr sz="2250" b="0">
                <a:solidFill>
                  <a:srgbClr val="CFE5F2"/>
                </a:solidFill>
                <a:latin typeface="Arial"/>
                <a:ea typeface="Arial"/>
                <a:cs typeface="Arial"/>
              </a:defRPr>
            </a:pPr>
            <a:r>
              <a:rPr sz="2250" b="0">
                <a:solidFill>
                  <a:schemeClr val="bg1"/>
                </a:solidFill>
                <a:latin typeface="Arial"/>
                <a:ea typeface="Arial"/>
                <a:cs typeface="Arial"/>
              </a:rPr>
              <a:t>Sistema web de atención</a:t>
            </a:r>
            <a:endParaRPr>
              <a:solidFill>
                <a:schemeClr val="bg1"/>
              </a:solidFill>
            </a:endParaRPr>
          </a:p>
          <a:p>
            <a:pPr algn="l">
              <a:buNone/>
              <a:defRPr sz="2250" b="0">
                <a:solidFill>
                  <a:srgbClr val="CFE5F2"/>
                </a:solidFill>
                <a:latin typeface="Arial"/>
                <a:ea typeface="Arial"/>
                <a:cs typeface="Arial"/>
              </a:defRPr>
            </a:pPr>
            <a:r>
              <a:rPr sz="2250" b="0">
                <a:solidFill>
                  <a:schemeClr val="bg1"/>
                </a:solidFill>
                <a:latin typeface="Arial"/>
                <a:ea typeface="Arial"/>
                <a:cs typeface="Arial"/>
              </a:rPr>
              <a:t>Prototipo de Interacción Hombre–Máquina</a:t>
            </a:r>
            <a:endParaRPr/>
          </a:p>
        </p:txBody>
      </p:sp>
      <p:sp>
        <p:nvSpPr>
          <p:cNvPr id="1004904440" name=""/>
          <p:cNvSpPr>
            <a:spLocks noGrp="1"/>
          </p:cNvSpPr>
          <p:nvPr/>
        </p:nvSpPr>
        <p:spPr bwMode="auto">
          <a:xfrm>
            <a:off x="823462" y="5534024"/>
            <a:ext cx="3762375" cy="38100"/>
          </a:xfrm>
          <a:prstGeom prst="rect">
            <a:avLst/>
          </a:prstGeom>
          <a:solidFill>
            <a:srgbClr val="1CB7AE"/>
          </a:solidFill>
          <a:ln w="0">
            <a:solidFill>
              <a:srgbClr val="1CB7AE"/>
            </a:solidFill>
          </a:ln>
        </p:spPr>
        <p:txBody>
          <a:bodyPr anchor="ctr"/>
          <a:p>
            <a:pPr algn="ctr">
              <a:defRPr/>
            </a:pPr>
            <a:endParaRPr/>
          </a:p>
        </p:txBody>
      </p:sp>
      <p:sp>
        <p:nvSpPr>
          <p:cNvPr id="233086249" name=""/>
          <p:cNvSpPr>
            <a:spLocks noGrp="1"/>
          </p:cNvSpPr>
          <p:nvPr/>
        </p:nvSpPr>
        <p:spPr bwMode="auto">
          <a:xfrm>
            <a:off x="895350" y="5753100"/>
            <a:ext cx="4953000" cy="723900"/>
          </a:xfrm>
          <a:prstGeom prst="rect">
            <a:avLst/>
          </a:prstGeom>
          <a:noFill/>
          <a:ln w="0">
            <a:noFill/>
          </a:ln>
        </p:spPr>
        <p:txBody>
          <a:bodyPr anchor="ctr">
            <a:normAutofit fontScale="100000"/>
          </a:bodyPr>
          <a:lstStyle/>
          <a:p>
            <a:pPr algn="l">
              <a:buNone/>
              <a:defRPr sz="1500" b="0">
                <a:solidFill>
                  <a:srgbClr val="FFFFFF"/>
                </a:solidFill>
                <a:latin typeface="Arial"/>
                <a:ea typeface="Arial"/>
                <a:cs typeface="Arial"/>
              </a:defRPr>
            </a:pPr>
            <a:r>
              <a:rPr sz="1500" b="0">
                <a:solidFill>
                  <a:schemeClr val="bg1"/>
                </a:solidFill>
                <a:latin typeface="Arial"/>
                <a:ea typeface="Arial"/>
                <a:cs typeface="Arial"/>
              </a:rPr>
              <a:t>Andony Cortez · Neicer Jimenez</a:t>
            </a:r>
            <a:endParaRPr>
              <a:solidFill>
                <a:schemeClr val="bg1"/>
              </a:solidFill>
            </a:endParaRPr>
          </a:p>
          <a:p>
            <a:pPr algn="l">
              <a:buNone/>
              <a:defRPr sz="1500" b="0">
                <a:solidFill>
                  <a:srgbClr val="FFFFFF"/>
                </a:solidFill>
                <a:latin typeface="Arial"/>
                <a:ea typeface="Arial"/>
                <a:cs typeface="Arial"/>
              </a:defRPr>
            </a:pPr>
            <a:r>
              <a:rPr sz="1500" b="0">
                <a:solidFill>
                  <a:schemeClr val="bg1"/>
                </a:solidFill>
                <a:latin typeface="Arial"/>
                <a:ea typeface="Arial"/>
                <a:cs typeface="Arial"/>
              </a:rPr>
              <a:t>Grupo 6</a:t>
            </a:r>
            <a:endParaRPr/>
          </a:p>
        </p:txBody>
      </p:sp>
      <p:sp>
        <p:nvSpPr>
          <p:cNvPr id="1230805238" name=""/>
          <p:cNvSpPr txBox="1"/>
          <p:nvPr/>
        </p:nvSpPr>
        <p:spPr bwMode="auto">
          <a:xfrm rot="0" flipH="0" flipV="0">
            <a:off x="1044198" y="370648"/>
            <a:ext cx="4100067" cy="39659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buNone/>
              <a:defRPr b="0">
                <a:solidFill>
                  <a:srgbClr val="FFFFFF"/>
                </a:solidFill>
                <a:latin typeface="Arial"/>
                <a:ea typeface="Arial"/>
                <a:cs typeface="Arial"/>
              </a:defRPr>
            </a:pPr>
            <a:r>
              <a:rPr sz="2000" b="0">
                <a:solidFill>
                  <a:srgbClr val="FFFFFF"/>
                </a:solidFill>
                <a:latin typeface="Arial"/>
                <a:ea typeface="Arial"/>
                <a:cs typeface="Arial"/>
              </a:rPr>
              <a:t> Universidad Estatal de Bolívar</a:t>
            </a:r>
            <a:endParaRPr sz="14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8F6F1"/>
        </a:solidFill>
      </p:bgPr>
    </p:bg>
    <p:spTree>
      <p:nvGrpSpPr>
        <p:cNvPr id="1" name=""/>
        <p:cNvGrpSpPr/>
        <p:nvPr/>
      </p:nvGrpSpPr>
      <p:grpSpPr bwMode="auto">
        <a:xfrm>
          <a:off x="0" y="0"/>
          <a:ext cx="0" cy="0"/>
          <a:chOff x="0" y="0"/>
          <a:chExt cx="0" cy="0"/>
        </a:xfrm>
      </p:grpSpPr>
      <p:sp>
        <p:nvSpPr>
          <p:cNvPr id="93618608" name=""/>
          <p:cNvSpPr>
            <a:spLocks noGrp="1"/>
          </p:cNvSpPr>
          <p:nvPr/>
        </p:nvSpPr>
        <p:spPr bwMode="auto">
          <a:xfrm>
            <a:off x="495300" y="419100"/>
            <a:ext cx="57150" cy="514350"/>
          </a:xfrm>
          <a:prstGeom prst="rect">
            <a:avLst/>
          </a:prstGeom>
          <a:solidFill>
            <a:srgbClr val="F0745B"/>
          </a:solidFill>
          <a:ln w="0">
            <a:solidFill>
              <a:srgbClr val="F0745B"/>
            </a:solidFill>
          </a:ln>
        </p:spPr>
      </p:sp>
      <p:sp>
        <p:nvSpPr>
          <p:cNvPr id="49122559" name=""/>
          <p:cNvSpPr>
            <a:spLocks noGrp="1"/>
          </p:cNvSpPr>
          <p:nvPr/>
        </p:nvSpPr>
        <p:spPr bwMode="auto">
          <a:xfrm>
            <a:off x="742950" y="400050"/>
            <a:ext cx="9810750" cy="619125"/>
          </a:xfrm>
          <a:prstGeom prst="rect">
            <a:avLst/>
          </a:prstGeom>
          <a:noFill/>
          <a:ln w="0">
            <a:noFill/>
          </a:ln>
        </p:spPr>
        <p:txBody>
          <a:bodyPr anchor="ctr">
            <a:normAutofit fontScale="100000"/>
          </a:bodyPr>
          <a:lstStyle/>
          <a:p>
            <a:pPr algn="l">
              <a:buNone/>
              <a:defRPr sz="3150" b="1">
                <a:solidFill>
                  <a:srgbClr val="102653"/>
                </a:solidFill>
                <a:latin typeface="Arial"/>
                <a:ea typeface="Arial"/>
                <a:cs typeface="Arial"/>
              </a:defRPr>
            </a:pPr>
            <a:r>
              <a:rPr sz="3150" b="1">
                <a:solidFill>
                  <a:srgbClr val="102653"/>
                </a:solidFill>
                <a:latin typeface="Arial"/>
                <a:ea typeface="Arial"/>
                <a:cs typeface="Arial"/>
              </a:rPr>
              <a:t>EL PROBLEMA</a:t>
            </a:r>
            <a:endParaRPr/>
          </a:p>
        </p:txBody>
      </p:sp>
      <p:sp>
        <p:nvSpPr>
          <p:cNvPr id="1015583366" name=""/>
          <p:cNvSpPr>
            <a:spLocks noGrp="1"/>
          </p:cNvSpPr>
          <p:nvPr/>
        </p:nvSpPr>
        <p:spPr bwMode="auto">
          <a:xfrm>
            <a:off x="10763250" y="447675"/>
            <a:ext cx="904875" cy="304800"/>
          </a:xfrm>
          <a:prstGeom prst="rect">
            <a:avLst/>
          </a:prstGeom>
          <a:noFill/>
          <a:ln w="0">
            <a:noFill/>
          </a:ln>
        </p:spPr>
        <p:txBody>
          <a:bodyPr anchor="ctr">
            <a:normAutofit fontScale="100000"/>
          </a:bodyPr>
          <a:lstStyle/>
          <a:p>
            <a:pPr algn="r">
              <a:buNone/>
              <a:defRPr sz="1300" b="1">
                <a:solidFill>
                  <a:srgbClr val="56657A"/>
                </a:solidFill>
                <a:latin typeface="Arial"/>
                <a:ea typeface="Arial"/>
                <a:cs typeface="Arial"/>
              </a:defRPr>
            </a:pPr>
            <a:r>
              <a:rPr sz="1300" b="1">
                <a:solidFill>
                  <a:srgbClr val="56657A"/>
                </a:solidFill>
                <a:latin typeface="Arial"/>
                <a:ea typeface="Arial"/>
                <a:cs typeface="Arial"/>
              </a:rPr>
              <a:t>02 / 19</a:t>
            </a:r>
            <a:endParaRPr/>
          </a:p>
        </p:txBody>
      </p:sp>
      <p:sp>
        <p:nvSpPr>
          <p:cNvPr id="1105803794" name=""/>
          <p:cNvSpPr>
            <a:spLocks noGrp="1"/>
          </p:cNvSpPr>
          <p:nvPr/>
        </p:nvSpPr>
        <p:spPr bwMode="auto">
          <a:xfrm>
            <a:off x="685800" y="1200150"/>
            <a:ext cx="7143750" cy="1057275"/>
          </a:xfrm>
          <a:prstGeom prst="rect">
            <a:avLst/>
          </a:prstGeom>
          <a:noFill/>
          <a:ln w="0">
            <a:noFill/>
          </a:ln>
        </p:spPr>
        <p:txBody>
          <a:bodyPr anchor="ctr">
            <a:normAutofit fontScale="88693"/>
          </a:bodyPr>
          <a:lstStyle/>
          <a:p>
            <a:pPr algn="l">
              <a:buNone/>
              <a:defRPr sz="2550" b="1">
                <a:solidFill>
                  <a:srgbClr val="102653"/>
                </a:solidFill>
                <a:latin typeface="Arial"/>
                <a:ea typeface="Arial"/>
                <a:cs typeface="Arial"/>
              </a:defRPr>
            </a:pPr>
            <a:r>
              <a:rPr sz="2550" b="1">
                <a:solidFill>
                  <a:srgbClr val="102653"/>
                </a:solidFill>
                <a:latin typeface="Arial"/>
                <a:ea typeface="Arial"/>
                <a:cs typeface="Arial"/>
              </a:rPr>
              <a:t>Para pedir atención, una persona necesita resolver varias decisiones antes de llenar sus datos.</a:t>
            </a:r>
            <a:endParaRPr/>
          </a:p>
        </p:txBody>
      </p:sp>
      <p:sp>
        <p:nvSpPr>
          <p:cNvPr id="1945657959" name=""/>
          <p:cNvSpPr>
            <a:spLocks noGrp="1"/>
          </p:cNvSpPr>
          <p:nvPr/>
        </p:nvSpPr>
        <p:spPr bwMode="auto">
          <a:xfrm>
            <a:off x="685800" y="2628900"/>
            <a:ext cx="4953000" cy="485775"/>
          </a:xfrm>
          <a:prstGeom prst="rect">
            <a:avLst/>
          </a:prstGeom>
          <a:noFill/>
          <a:ln w="0">
            <a:noFill/>
          </a:ln>
        </p:spPr>
        <p:txBody>
          <a:bodyPr anchor="ctr">
            <a:normAutofit fontScale="100000"/>
          </a:bodyPr>
          <a:lstStyle/>
          <a:p>
            <a:pPr algn="l">
              <a:buNone/>
              <a:defRPr sz="2200" b="1">
                <a:solidFill>
                  <a:srgbClr val="0055AE"/>
                </a:solidFill>
                <a:latin typeface="Arial"/>
                <a:ea typeface="Arial"/>
                <a:cs typeface="Arial"/>
              </a:defRPr>
            </a:pPr>
            <a:r>
              <a:rPr sz="2200" b="1">
                <a:solidFill>
                  <a:srgbClr val="0055AE"/>
                </a:solidFill>
                <a:latin typeface="Arial"/>
                <a:ea typeface="Arial"/>
                <a:cs typeface="Arial"/>
              </a:rPr>
              <a:t>¿Dónde me atiendo?</a:t>
            </a:r>
            <a:endParaRPr/>
          </a:p>
        </p:txBody>
      </p:sp>
      <p:sp>
        <p:nvSpPr>
          <p:cNvPr id="1205419838" name=""/>
          <p:cNvSpPr>
            <a:spLocks noGrp="1"/>
          </p:cNvSpPr>
          <p:nvPr/>
        </p:nvSpPr>
        <p:spPr bwMode="auto">
          <a:xfrm>
            <a:off x="685800" y="3171825"/>
            <a:ext cx="5191125" cy="19050"/>
          </a:xfrm>
          <a:prstGeom prst="rect">
            <a:avLst/>
          </a:prstGeom>
          <a:solidFill>
            <a:srgbClr val="C8D3DA"/>
          </a:solidFill>
          <a:ln w="0">
            <a:solidFill>
              <a:srgbClr val="C8D3DA"/>
            </a:solidFill>
          </a:ln>
        </p:spPr>
      </p:sp>
      <p:sp>
        <p:nvSpPr>
          <p:cNvPr id="1345250754" name=""/>
          <p:cNvSpPr>
            <a:spLocks noGrp="1"/>
          </p:cNvSpPr>
          <p:nvPr/>
        </p:nvSpPr>
        <p:spPr bwMode="auto">
          <a:xfrm>
            <a:off x="685800" y="3314700"/>
            <a:ext cx="5191125" cy="485775"/>
          </a:xfrm>
          <a:prstGeom prst="rect">
            <a:avLst/>
          </a:prstGeom>
          <a:noFill/>
          <a:ln w="0">
            <a:noFill/>
          </a:ln>
        </p:spPr>
        <p:txBody>
          <a:bodyPr anchor="ctr">
            <a:normAutofit fontScale="100000"/>
          </a:bodyPr>
          <a:lstStyle/>
          <a:p>
            <a:pPr algn="l">
              <a:buNone/>
              <a:defRPr sz="2200" b="1">
                <a:solidFill>
                  <a:srgbClr val="0055AE"/>
                </a:solidFill>
                <a:latin typeface="Arial"/>
                <a:ea typeface="Arial"/>
                <a:cs typeface="Arial"/>
              </a:defRPr>
            </a:pPr>
            <a:r>
              <a:rPr sz="2200" b="1">
                <a:solidFill>
                  <a:srgbClr val="0055AE"/>
                </a:solidFill>
                <a:latin typeface="Arial"/>
                <a:ea typeface="Arial"/>
                <a:cs typeface="Arial"/>
              </a:rPr>
              <a:t>¿Qué profesional necesito?</a:t>
            </a:r>
            <a:endParaRPr/>
          </a:p>
        </p:txBody>
      </p:sp>
      <p:sp>
        <p:nvSpPr>
          <p:cNvPr id="1062943000" name=""/>
          <p:cNvSpPr>
            <a:spLocks noGrp="1"/>
          </p:cNvSpPr>
          <p:nvPr/>
        </p:nvSpPr>
        <p:spPr bwMode="auto">
          <a:xfrm>
            <a:off x="685800" y="3857625"/>
            <a:ext cx="5191125" cy="19050"/>
          </a:xfrm>
          <a:prstGeom prst="rect">
            <a:avLst/>
          </a:prstGeom>
          <a:solidFill>
            <a:srgbClr val="C8D3DA"/>
          </a:solidFill>
          <a:ln w="0">
            <a:solidFill>
              <a:srgbClr val="C8D3DA"/>
            </a:solidFill>
          </a:ln>
        </p:spPr>
      </p:sp>
      <p:sp>
        <p:nvSpPr>
          <p:cNvPr id="202247932" name=""/>
          <p:cNvSpPr>
            <a:spLocks noGrp="1"/>
          </p:cNvSpPr>
          <p:nvPr/>
        </p:nvSpPr>
        <p:spPr bwMode="auto">
          <a:xfrm>
            <a:off x="685800" y="4000500"/>
            <a:ext cx="5191125" cy="485775"/>
          </a:xfrm>
          <a:prstGeom prst="rect">
            <a:avLst/>
          </a:prstGeom>
          <a:noFill/>
          <a:ln w="0">
            <a:noFill/>
          </a:ln>
        </p:spPr>
        <p:txBody>
          <a:bodyPr anchor="ctr">
            <a:normAutofit fontScale="100000"/>
          </a:bodyPr>
          <a:lstStyle/>
          <a:p>
            <a:pPr algn="l">
              <a:buNone/>
              <a:defRPr sz="2200" b="1">
                <a:solidFill>
                  <a:srgbClr val="0055AE"/>
                </a:solidFill>
                <a:latin typeface="Arial"/>
                <a:ea typeface="Arial"/>
                <a:cs typeface="Arial"/>
              </a:defRPr>
            </a:pPr>
            <a:r>
              <a:rPr sz="2200" b="1">
                <a:solidFill>
                  <a:srgbClr val="0055AE"/>
                </a:solidFill>
                <a:latin typeface="Arial"/>
                <a:ea typeface="Arial"/>
                <a:cs typeface="Arial"/>
              </a:rPr>
              <a:t>¿Hay un horario disponible?</a:t>
            </a:r>
            <a:endParaRPr/>
          </a:p>
        </p:txBody>
      </p:sp>
      <p:pic>
        <p:nvPicPr>
          <p:cNvPr id="53798255" name=""/>
          <p:cNvPicPr>
            <a:picLocks noChangeAspect="1"/>
          </p:cNvPicPr>
          <p:nvPr/>
        </p:nvPicPr>
        <p:blipFill rotWithShape="1">
          <a:blip r:embed="rId3"/>
          <a:srcRect l="0" t="3818" r="0" b="3817"/>
          <a:stretch>
            <a:fillRect l="0" t="0" r="0" b="0"/>
          </a:stretch>
        </p:blipFill>
        <p:spPr bwMode="auto">
          <a:xfrm>
            <a:off x="6841825" y="1985962"/>
            <a:ext cx="4905375" cy="3143250"/>
          </a:xfrm>
          <a:prstGeom prst="rect">
            <a:avLst/>
          </a:prstGeom>
        </p:spPr>
      </p:pic>
      <p:sp>
        <p:nvSpPr>
          <p:cNvPr id="2013102818" name=""/>
          <p:cNvSpPr>
            <a:spLocks noGrp="1"/>
          </p:cNvSpPr>
          <p:nvPr/>
        </p:nvSpPr>
        <p:spPr bwMode="auto">
          <a:xfrm>
            <a:off x="0" y="5286375"/>
            <a:ext cx="12192000" cy="1571625"/>
          </a:xfrm>
          <a:prstGeom prst="rect">
            <a:avLst/>
          </a:prstGeom>
          <a:solidFill>
            <a:srgbClr val="102653"/>
          </a:solidFill>
          <a:ln w="0">
            <a:solidFill>
              <a:srgbClr val="102653"/>
            </a:solidFill>
          </a:ln>
        </p:spPr>
      </p:sp>
      <p:sp>
        <p:nvSpPr>
          <p:cNvPr id="1966503517" name=""/>
          <p:cNvSpPr>
            <a:spLocks noGrp="1"/>
          </p:cNvSpPr>
          <p:nvPr/>
        </p:nvSpPr>
        <p:spPr bwMode="auto">
          <a:xfrm>
            <a:off x="676275" y="5524500"/>
            <a:ext cx="10810875" cy="1000125"/>
          </a:xfrm>
          <a:prstGeom prst="rect">
            <a:avLst/>
          </a:prstGeom>
          <a:noFill/>
          <a:ln w="0">
            <a:noFill/>
          </a:ln>
        </p:spPr>
        <p:txBody>
          <a:bodyPr anchor="ctr">
            <a:normAutofit fontScale="100000"/>
          </a:bodyPr>
          <a:lstStyle/>
          <a:p>
            <a:pPr algn="l">
              <a:buNone/>
              <a:defRPr sz="2350" b="1">
                <a:solidFill>
                  <a:srgbClr val="FFFFFF"/>
                </a:solidFill>
                <a:latin typeface="Arial"/>
                <a:ea typeface="Arial"/>
                <a:cs typeface="Arial"/>
              </a:defRPr>
            </a:pPr>
            <a:r>
              <a:rPr sz="2350" b="1">
                <a:solidFill>
                  <a:srgbClr val="FFFFFF"/>
                </a:solidFill>
                <a:latin typeface="Arial"/>
                <a:ea typeface="Arial"/>
                <a:cs typeface="Arial"/>
              </a:rPr>
              <a:t>La propuesta reúne información del centro, profesionales y horarios en una sola solicitud guiada.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8F6F1"/>
        </a:solidFill>
      </p:bgPr>
    </p:bg>
    <p:spTree>
      <p:nvGrpSpPr>
        <p:cNvPr id="1" name=""/>
        <p:cNvGrpSpPr/>
        <p:nvPr/>
      </p:nvGrpSpPr>
      <p:grpSpPr bwMode="auto">
        <a:xfrm>
          <a:off x="0" y="0"/>
          <a:ext cx="0" cy="0"/>
          <a:chOff x="0" y="0"/>
          <a:chExt cx="0" cy="0"/>
        </a:xfrm>
      </p:grpSpPr>
      <p:sp>
        <p:nvSpPr>
          <p:cNvPr id="692883959" name=""/>
          <p:cNvSpPr>
            <a:spLocks noGrp="1"/>
          </p:cNvSpPr>
          <p:nvPr/>
        </p:nvSpPr>
        <p:spPr bwMode="auto">
          <a:xfrm>
            <a:off x="495300" y="419100"/>
            <a:ext cx="57150" cy="514350"/>
          </a:xfrm>
          <a:prstGeom prst="rect">
            <a:avLst/>
          </a:prstGeom>
          <a:solidFill>
            <a:srgbClr val="F0745B"/>
          </a:solidFill>
          <a:ln w="0">
            <a:solidFill>
              <a:srgbClr val="F0745B"/>
            </a:solidFill>
            <a:prstDash val="solid"/>
          </a:ln>
        </p:spPr>
      </p:sp>
      <p:sp>
        <p:nvSpPr>
          <p:cNvPr id="303063254" name=""/>
          <p:cNvSpPr>
            <a:spLocks noGrp="1"/>
          </p:cNvSpPr>
          <p:nvPr/>
        </p:nvSpPr>
        <p:spPr bwMode="auto">
          <a:xfrm>
            <a:off x="742950" y="400050"/>
            <a:ext cx="9810750" cy="619125"/>
          </a:xfrm>
          <a:prstGeom prst="rect">
            <a:avLst/>
          </a:prstGeom>
          <a:noFill/>
          <a:ln w="0">
            <a:noFill/>
            <a:prstDash val="solid"/>
          </a:ln>
        </p:spPr>
        <p:txBody>
          <a:bodyPr/>
          <a:lstStyle>
            <a:defPPr algn="l">
              <a:defRPr sz="3000" b="1">
                <a:solidFill>
                  <a:srgbClr val="102653"/>
                </a:solidFill>
                <a:latin typeface="Arial"/>
                <a:ea typeface="Arial"/>
                <a:cs typeface="Arial"/>
              </a:defRPr>
            </a:defPPr>
          </a:lstStyle>
          <a:p>
            <a:pPr algn="l">
              <a:defRPr sz="3000" b="1">
                <a:solidFill>
                  <a:srgbClr val="102653"/>
                </a:solidFill>
                <a:latin typeface="Arial"/>
                <a:ea typeface="Arial"/>
                <a:cs typeface="Arial"/>
              </a:defRPr>
            </a:pPr>
            <a:r>
              <a:rPr sz="3000" b="1">
                <a:solidFill>
                  <a:srgbClr val="102653"/>
                </a:solidFill>
                <a:latin typeface="Arial"/>
                <a:ea typeface="Arial"/>
                <a:cs typeface="Arial"/>
              </a:rPr>
              <a:t>TRES PORTALES DE SALUD, TRES REFERENCIAS</a:t>
            </a:r>
            <a:endParaRPr/>
          </a:p>
        </p:txBody>
      </p:sp>
      <p:sp>
        <p:nvSpPr>
          <p:cNvPr id="1954016846" name=""/>
          <p:cNvSpPr>
            <a:spLocks noGrp="1"/>
          </p:cNvSpPr>
          <p:nvPr/>
        </p:nvSpPr>
        <p:spPr bwMode="auto">
          <a:xfrm>
            <a:off x="742950" y="1304925"/>
            <a:ext cx="3238500" cy="428625"/>
          </a:xfrm>
          <a:prstGeom prst="rect">
            <a:avLst/>
          </a:prstGeom>
          <a:noFill/>
          <a:ln w="0">
            <a:noFill/>
            <a:prstDash val="solid"/>
          </a:ln>
        </p:spPr>
        <p:txBody>
          <a:bodyPr/>
          <a:lstStyle>
            <a:defPPr algn="l">
              <a:defRPr sz="2250" b="1">
                <a:solidFill>
                  <a:srgbClr val="0055AE"/>
                </a:solidFill>
                <a:latin typeface="Arial"/>
                <a:ea typeface="Arial"/>
                <a:cs typeface="Arial"/>
              </a:defRPr>
            </a:defPPr>
          </a:lstStyle>
          <a:p>
            <a:pPr algn="l">
              <a:defRPr sz="2250" b="1">
                <a:solidFill>
                  <a:srgbClr val="0055AE"/>
                </a:solidFill>
                <a:latin typeface="Arial"/>
                <a:ea typeface="Arial"/>
                <a:cs typeface="Arial"/>
              </a:defRPr>
            </a:pPr>
            <a:r>
              <a:rPr sz="2250" b="1">
                <a:solidFill>
                  <a:srgbClr val="0055AE"/>
                </a:solidFill>
                <a:latin typeface="Arial"/>
                <a:ea typeface="Arial"/>
                <a:cs typeface="Arial"/>
              </a:rPr>
              <a:t>IESS</a:t>
            </a:r>
            <a:endParaRPr/>
          </a:p>
        </p:txBody>
      </p:sp>
      <p:sp>
        <p:nvSpPr>
          <p:cNvPr id="305831120" name=""/>
          <p:cNvSpPr>
            <a:spLocks noGrp="1"/>
          </p:cNvSpPr>
          <p:nvPr/>
        </p:nvSpPr>
        <p:spPr bwMode="auto">
          <a:xfrm>
            <a:off x="742950" y="1762125"/>
            <a:ext cx="3238500" cy="2047875"/>
          </a:xfrm>
          <a:prstGeom prst="rect">
            <a:avLst/>
          </a:prstGeom>
          <a:noFill/>
          <a:ln w="0">
            <a:noFill/>
            <a:prstDash val="solid"/>
          </a:ln>
        </p:spPr>
        <p:txBody>
          <a:bodyPr/>
          <a:lstStyle>
            <a:defPPr algn="l">
              <a:defRPr sz="1750" b="0">
                <a:solidFill>
                  <a:srgbClr val="56657A"/>
                </a:solidFill>
                <a:latin typeface="Arial"/>
                <a:ea typeface="Arial"/>
                <a:cs typeface="Arial"/>
              </a:defRPr>
            </a:defPPr>
          </a:lstStyle>
          <a:p>
            <a:pPr algn="l">
              <a:defRPr sz="1750" b="0">
                <a:solidFill>
                  <a:srgbClr val="56657A"/>
                </a:solidFill>
                <a:latin typeface="Arial"/>
                <a:ea typeface="Arial"/>
                <a:cs typeface="Arial"/>
              </a:defRPr>
            </a:pPr>
            <a:r>
              <a:rPr sz="1750" b="0">
                <a:solidFill>
                  <a:srgbClr val="56657A"/>
                </a:solidFill>
                <a:latin typeface="Arial"/>
                <a:ea typeface="Arial"/>
                <a:cs typeface="Arial"/>
              </a:rPr>
              <a:t>Identidad azul institucional. Acceso directo a Citas Médicas y otros servicios. El menú prioriza trámites frecuentes.</a:t>
            </a:r>
            <a:endParaRPr/>
          </a:p>
        </p:txBody>
      </p:sp>
      <p:sp>
        <p:nvSpPr>
          <p:cNvPr id="1526241328" name=""/>
          <p:cNvSpPr>
            <a:spLocks noGrp="1"/>
          </p:cNvSpPr>
          <p:nvPr/>
        </p:nvSpPr>
        <p:spPr bwMode="auto">
          <a:xfrm>
            <a:off x="4429125" y="1304925"/>
            <a:ext cx="3238500" cy="428625"/>
          </a:xfrm>
          <a:prstGeom prst="rect">
            <a:avLst/>
          </a:prstGeom>
          <a:noFill/>
          <a:ln w="0">
            <a:noFill/>
            <a:prstDash val="solid"/>
          </a:ln>
        </p:spPr>
        <p:txBody>
          <a:bodyPr/>
          <a:lstStyle>
            <a:defPPr algn="l">
              <a:defRPr sz="2050" b="1">
                <a:solidFill>
                  <a:srgbClr val="0055AE"/>
                </a:solidFill>
                <a:latin typeface="Arial"/>
                <a:ea typeface="Arial"/>
                <a:cs typeface="Arial"/>
              </a:defRPr>
            </a:defPPr>
          </a:lstStyle>
          <a:p>
            <a:pPr algn="l">
              <a:defRPr sz="2050" b="1">
                <a:solidFill>
                  <a:srgbClr val="0055AE"/>
                </a:solidFill>
                <a:latin typeface="Arial"/>
                <a:ea typeface="Arial"/>
                <a:cs typeface="Arial"/>
              </a:defRPr>
            </a:pPr>
            <a:r>
              <a:rPr sz="2050" b="1">
                <a:solidFill>
                  <a:srgbClr val="0055AE"/>
                </a:solidFill>
                <a:latin typeface="Arial"/>
                <a:ea typeface="Arial"/>
                <a:cs typeface="Arial"/>
              </a:rPr>
              <a:t>HOSPITAL VOZANDES</a:t>
            </a:r>
            <a:endParaRPr/>
          </a:p>
        </p:txBody>
      </p:sp>
      <p:sp>
        <p:nvSpPr>
          <p:cNvPr id="426446782" name=""/>
          <p:cNvSpPr>
            <a:spLocks noGrp="1"/>
          </p:cNvSpPr>
          <p:nvPr/>
        </p:nvSpPr>
        <p:spPr bwMode="auto">
          <a:xfrm>
            <a:off x="4429125" y="1762125"/>
            <a:ext cx="3238500" cy="2047875"/>
          </a:xfrm>
          <a:prstGeom prst="rect">
            <a:avLst/>
          </a:prstGeom>
          <a:noFill/>
          <a:ln w="0">
            <a:noFill/>
            <a:prstDash val="solid"/>
          </a:ln>
        </p:spPr>
        <p:txBody>
          <a:bodyPr/>
          <a:lstStyle>
            <a:defPPr algn="l">
              <a:defRPr sz="1750" b="0">
                <a:solidFill>
                  <a:srgbClr val="56657A"/>
                </a:solidFill>
                <a:latin typeface="Arial"/>
                <a:ea typeface="Arial"/>
                <a:cs typeface="Arial"/>
              </a:defRPr>
            </a:defPPr>
          </a:lstStyle>
          <a:p>
            <a:pPr algn="l">
              <a:defRPr sz="1750" b="0">
                <a:solidFill>
                  <a:srgbClr val="56657A"/>
                </a:solidFill>
                <a:latin typeface="Arial"/>
                <a:ea typeface="Arial"/>
                <a:cs typeface="Arial"/>
              </a:defRPr>
            </a:pPr>
            <a:r>
              <a:rPr sz="1750" b="0">
                <a:solidFill>
                  <a:srgbClr val="56657A"/>
                </a:solidFill>
                <a:latin typeface="Arial"/>
                <a:ea typeface="Arial"/>
                <a:cs typeface="Arial"/>
              </a:rPr>
              <a:t>El botón “Agendar cita” se mantiene visible. La portada muestra accesos rápidos y organiza sus servicios.</a:t>
            </a:r>
            <a:endParaRPr/>
          </a:p>
        </p:txBody>
      </p:sp>
      <p:sp>
        <p:nvSpPr>
          <p:cNvPr id="674613359" name=""/>
          <p:cNvSpPr>
            <a:spLocks noGrp="1"/>
          </p:cNvSpPr>
          <p:nvPr/>
        </p:nvSpPr>
        <p:spPr bwMode="auto">
          <a:xfrm>
            <a:off x="8096250" y="1304925"/>
            <a:ext cx="3238500" cy="428625"/>
          </a:xfrm>
          <a:prstGeom prst="rect">
            <a:avLst/>
          </a:prstGeom>
          <a:noFill/>
          <a:ln w="0">
            <a:noFill/>
            <a:prstDash val="solid"/>
          </a:ln>
        </p:spPr>
        <p:txBody>
          <a:bodyPr/>
          <a:lstStyle>
            <a:defPPr algn="l">
              <a:defRPr sz="1600" b="1">
                <a:solidFill>
                  <a:srgbClr val="0055AE"/>
                </a:solidFill>
                <a:latin typeface="Arial"/>
                <a:ea typeface="Arial"/>
                <a:cs typeface="Arial"/>
              </a:defRPr>
            </a:defPPr>
          </a:lstStyle>
          <a:p>
            <a:pPr algn="l">
              <a:defRPr sz="1600" b="1">
                <a:solidFill>
                  <a:srgbClr val="0055AE"/>
                </a:solidFill>
                <a:latin typeface="Arial"/>
                <a:ea typeface="Arial"/>
                <a:cs typeface="Arial"/>
              </a:defRPr>
            </a:pPr>
            <a:r>
              <a:rPr sz="1600" b="1">
                <a:solidFill>
                  <a:srgbClr val="0055AE"/>
                </a:solidFill>
                <a:latin typeface="Arial"/>
                <a:ea typeface="Arial"/>
                <a:cs typeface="Arial"/>
              </a:rPr>
              <a:t>HOSPITAL METROPOLITANO</a:t>
            </a:r>
            <a:endParaRPr/>
          </a:p>
        </p:txBody>
      </p:sp>
      <p:sp>
        <p:nvSpPr>
          <p:cNvPr id="1089652343" name=""/>
          <p:cNvSpPr>
            <a:spLocks noGrp="1"/>
          </p:cNvSpPr>
          <p:nvPr/>
        </p:nvSpPr>
        <p:spPr bwMode="auto">
          <a:xfrm>
            <a:off x="8096250" y="1762125"/>
            <a:ext cx="3238500" cy="2047875"/>
          </a:xfrm>
          <a:prstGeom prst="rect">
            <a:avLst/>
          </a:prstGeom>
          <a:noFill/>
          <a:ln w="0">
            <a:noFill/>
            <a:prstDash val="solid"/>
          </a:ln>
        </p:spPr>
        <p:txBody>
          <a:bodyPr/>
          <a:lstStyle>
            <a:defPPr algn="l">
              <a:defRPr sz="1750" b="0">
                <a:solidFill>
                  <a:srgbClr val="56657A"/>
                </a:solidFill>
                <a:latin typeface="Arial"/>
                <a:ea typeface="Arial"/>
                <a:cs typeface="Arial"/>
              </a:defRPr>
            </a:defPPr>
          </a:lstStyle>
          <a:p>
            <a:pPr algn="l">
              <a:defRPr sz="1750" b="0">
                <a:solidFill>
                  <a:srgbClr val="56657A"/>
                </a:solidFill>
                <a:latin typeface="Arial"/>
                <a:ea typeface="Arial"/>
                <a:cs typeface="Arial"/>
              </a:defRPr>
            </a:pPr>
            <a:r>
              <a:rPr sz="1750" b="0">
                <a:solidFill>
                  <a:srgbClr val="56657A"/>
                </a:solidFill>
                <a:latin typeface="Arial"/>
                <a:ea typeface="Arial"/>
                <a:cs typeface="Arial"/>
              </a:rPr>
              <a:t>El buscador ayuda a encontrar especialistas por nombre o especialidad. Los servicios tienen llamadas a la acción claras.</a:t>
            </a:r>
            <a:endParaRPr/>
          </a:p>
        </p:txBody>
      </p:sp>
      <p:sp>
        <p:nvSpPr>
          <p:cNvPr id="1340250035" name=""/>
          <p:cNvSpPr>
            <a:spLocks noGrp="1"/>
          </p:cNvSpPr>
          <p:nvPr/>
        </p:nvSpPr>
        <p:spPr bwMode="auto">
          <a:xfrm>
            <a:off x="742950" y="4048125"/>
            <a:ext cx="10572750" cy="38100"/>
          </a:xfrm>
          <a:prstGeom prst="rect">
            <a:avLst/>
          </a:prstGeom>
          <a:solidFill>
            <a:srgbClr val="1CB7AE"/>
          </a:solidFill>
          <a:ln w="0">
            <a:solidFill>
              <a:srgbClr val="1CB7AE"/>
            </a:solidFill>
            <a:prstDash val="solid"/>
          </a:ln>
        </p:spPr>
      </p:sp>
      <p:sp>
        <p:nvSpPr>
          <p:cNvPr id="1155955309" name=""/>
          <p:cNvSpPr>
            <a:spLocks noGrp="1"/>
          </p:cNvSpPr>
          <p:nvPr/>
        </p:nvSpPr>
        <p:spPr bwMode="auto">
          <a:xfrm>
            <a:off x="742950" y="4343400"/>
            <a:ext cx="10572750" cy="1571625"/>
          </a:xfrm>
          <a:prstGeom prst="rect">
            <a:avLst/>
          </a:prstGeom>
          <a:noFill/>
          <a:ln w="0">
            <a:noFill/>
            <a:prstDash val="solid"/>
          </a:ln>
        </p:spPr>
        <p:txBody>
          <a:bodyPr/>
          <a:lstStyle>
            <a:defPPr algn="l">
              <a:defRPr sz="1900" b="1">
                <a:solidFill>
                  <a:srgbClr val="102653"/>
                </a:solidFill>
                <a:latin typeface="Arial"/>
                <a:ea typeface="Arial"/>
                <a:cs typeface="Arial"/>
              </a:defRPr>
            </a:defPPr>
          </a:lstStyle>
          <a:p>
            <a:pPr algn="l">
              <a:defRPr sz="1900" b="1">
                <a:solidFill>
                  <a:srgbClr val="102653"/>
                </a:solidFill>
                <a:latin typeface="Arial"/>
                <a:ea typeface="Arial"/>
                <a:cs typeface="Arial"/>
              </a:defRPr>
            </a:pPr>
            <a:r>
              <a:rPr sz="1900" b="1">
                <a:solidFill>
                  <a:srgbClr val="102653"/>
                </a:solidFill>
                <a:latin typeface="Arial"/>
                <a:ea typeface="Arial"/>
                <a:cs typeface="Arial"/>
              </a:rPr>
              <a:t>El análisis de la Tarea 3 comparó color, tipografía, estructura, navegación, iconos, botones, formularios, accesibilidad, contenido multimedia y pie de página. La necesidad común fue llegar rápido a una cita y entender qué opción elegir.</a:t>
            </a:r>
            <a:endParaRPr/>
          </a:p>
        </p:txBody>
      </p:sp>
      <p:sp>
        <p:nvSpPr>
          <p:cNvPr id="1470903674" name=""/>
          <p:cNvSpPr>
            <a:spLocks noGrp="1"/>
          </p:cNvSpPr>
          <p:nvPr/>
        </p:nvSpPr>
        <p:spPr bwMode="auto">
          <a:xfrm>
            <a:off x="10763250" y="447675"/>
            <a:ext cx="1000125" cy="304800"/>
          </a:xfrm>
          <a:prstGeom prst="rect">
            <a:avLst/>
          </a:prstGeom>
          <a:noFill/>
          <a:ln w="0">
            <a:noFill/>
            <a:prstDash val="solid"/>
          </a:ln>
        </p:spPr>
        <p:txBody>
          <a:bodyPr/>
          <a:lstStyle>
            <a:defPPr algn="l">
              <a:defRPr sz="1300" b="1">
                <a:solidFill>
                  <a:srgbClr val="56657A"/>
                </a:solidFill>
                <a:latin typeface="Arial"/>
                <a:ea typeface="Arial"/>
                <a:cs typeface="Arial"/>
              </a:defRPr>
            </a:defPPr>
          </a:lstStyle>
          <a:p>
            <a:pPr algn="l">
              <a:defRPr sz="1300" b="1">
                <a:solidFill>
                  <a:srgbClr val="56657A"/>
                </a:solidFill>
                <a:latin typeface="Arial"/>
                <a:ea typeface="Arial"/>
                <a:cs typeface="Arial"/>
              </a:defRPr>
            </a:pPr>
            <a:r>
              <a:rPr sz="1300" b="1">
                <a:solidFill>
                  <a:srgbClr val="56657A"/>
                </a:solidFill>
                <a:latin typeface="Arial"/>
                <a:ea typeface="Arial"/>
                <a:cs typeface="Arial"/>
              </a:rPr>
              <a:t>03 / 19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8F6F1"/>
        </a:solidFill>
      </p:bgPr>
    </p:bg>
    <p:spTree>
      <p:nvGrpSpPr>
        <p:cNvPr id="1" name=""/>
        <p:cNvGrpSpPr/>
        <p:nvPr/>
      </p:nvGrpSpPr>
      <p:grpSpPr bwMode="auto">
        <a:xfrm>
          <a:off x="0" y="0"/>
          <a:ext cx="0" cy="0"/>
          <a:chOff x="0" y="0"/>
          <a:chExt cx="0" cy="0"/>
        </a:xfrm>
      </p:grpSpPr>
      <p:sp>
        <p:nvSpPr>
          <p:cNvPr id="1980147951" name=""/>
          <p:cNvSpPr>
            <a:spLocks noGrp="1"/>
          </p:cNvSpPr>
          <p:nvPr/>
        </p:nvSpPr>
        <p:spPr bwMode="auto">
          <a:xfrm>
            <a:off x="495300" y="419100"/>
            <a:ext cx="57150" cy="514350"/>
          </a:xfrm>
          <a:prstGeom prst="rect">
            <a:avLst/>
          </a:prstGeom>
          <a:solidFill>
            <a:srgbClr val="F0745B"/>
          </a:solidFill>
          <a:ln w="0">
            <a:solidFill>
              <a:srgbClr val="F0745B"/>
            </a:solidFill>
            <a:prstDash val="solid"/>
          </a:ln>
        </p:spPr>
      </p:sp>
      <p:sp>
        <p:nvSpPr>
          <p:cNvPr id="1051251969" name=""/>
          <p:cNvSpPr>
            <a:spLocks noGrp="1"/>
          </p:cNvSpPr>
          <p:nvPr/>
        </p:nvSpPr>
        <p:spPr bwMode="auto">
          <a:xfrm>
            <a:off x="742950" y="400050"/>
            <a:ext cx="9810750" cy="619125"/>
          </a:xfrm>
          <a:prstGeom prst="rect">
            <a:avLst/>
          </a:prstGeom>
          <a:noFill/>
          <a:ln w="0">
            <a:noFill/>
            <a:prstDash val="solid"/>
          </a:ln>
        </p:spPr>
        <p:txBody>
          <a:bodyPr/>
          <a:lstStyle>
            <a:defPPr algn="l">
              <a:defRPr sz="3000" b="1">
                <a:solidFill>
                  <a:srgbClr val="102653"/>
                </a:solidFill>
                <a:latin typeface="Arial"/>
                <a:ea typeface="Arial"/>
                <a:cs typeface="Arial"/>
              </a:defRPr>
            </a:defPPr>
          </a:lstStyle>
          <a:p>
            <a:pPr algn="l">
              <a:defRPr sz="3000" b="1">
                <a:solidFill>
                  <a:srgbClr val="102653"/>
                </a:solidFill>
                <a:latin typeface="Arial"/>
                <a:ea typeface="Arial"/>
                <a:cs typeface="Arial"/>
              </a:defRPr>
            </a:pPr>
            <a:r>
              <a:rPr sz="3000" b="1">
                <a:solidFill>
                  <a:srgbClr val="102653"/>
                </a:solidFill>
                <a:latin typeface="Arial"/>
                <a:ea typeface="Arial"/>
                <a:cs typeface="Arial"/>
              </a:rPr>
              <a:t>DECISIONES TOMADAS DEL ANÁLISIS</a:t>
            </a:r>
            <a:endParaRPr/>
          </a:p>
        </p:txBody>
      </p:sp>
      <p:sp>
        <p:nvSpPr>
          <p:cNvPr id="980832833" name=""/>
          <p:cNvSpPr>
            <a:spLocks noGrp="1"/>
          </p:cNvSpPr>
          <p:nvPr/>
        </p:nvSpPr>
        <p:spPr bwMode="auto">
          <a:xfrm>
            <a:off x="742950" y="1381125"/>
            <a:ext cx="10572750" cy="952500"/>
          </a:xfrm>
          <a:prstGeom prst="rect">
            <a:avLst/>
          </a:prstGeom>
          <a:noFill/>
          <a:ln w="0">
            <a:noFill/>
            <a:prstDash val="solid"/>
          </a:ln>
        </p:spPr>
        <p:txBody>
          <a:bodyPr/>
          <a:lstStyle>
            <a:defPPr algn="l">
              <a:defRPr sz="1950" b="1">
                <a:solidFill>
                  <a:srgbClr val="102653"/>
                </a:solidFill>
                <a:latin typeface="Arial"/>
                <a:ea typeface="Arial"/>
                <a:cs typeface="Arial"/>
              </a:defRPr>
            </a:defPPr>
          </a:lstStyle>
          <a:p>
            <a:pPr algn="l">
              <a:defRPr sz="1950" b="1">
                <a:solidFill>
                  <a:srgbClr val="102653"/>
                </a:solidFill>
                <a:latin typeface="Arial"/>
                <a:ea typeface="Arial"/>
                <a:cs typeface="Arial"/>
              </a:defRPr>
            </a:pPr>
            <a:r>
              <a:rPr sz="1950" b="1">
                <a:solidFill>
                  <a:srgbClr val="102653"/>
                </a:solidFill>
                <a:latin typeface="Arial"/>
                <a:ea typeface="Arial"/>
                <a:cs typeface="Arial"/>
              </a:rPr>
              <a:t>Usamos el azul como color principal porque mantiene la relación visual con el IESS y ayuda a reconocer las acciones importantes de la interfaz.</a:t>
            </a:r>
            <a:endParaRPr/>
          </a:p>
        </p:txBody>
      </p:sp>
      <p:sp>
        <p:nvSpPr>
          <p:cNvPr id="1772044320" name=""/>
          <p:cNvSpPr>
            <a:spLocks noGrp="1"/>
          </p:cNvSpPr>
          <p:nvPr/>
        </p:nvSpPr>
        <p:spPr bwMode="auto">
          <a:xfrm>
            <a:off x="742950" y="2486025"/>
            <a:ext cx="10572750" cy="1047750"/>
          </a:xfrm>
          <a:prstGeom prst="rect">
            <a:avLst/>
          </a:prstGeom>
          <a:noFill/>
          <a:ln w="0">
            <a:noFill/>
            <a:prstDash val="solid"/>
          </a:ln>
        </p:spPr>
        <p:txBody>
          <a:bodyPr/>
          <a:lstStyle>
            <a:defPPr algn="l">
              <a:defRPr sz="1900" b="0">
                <a:solidFill>
                  <a:srgbClr val="56657A"/>
                </a:solidFill>
                <a:latin typeface="Arial"/>
                <a:ea typeface="Arial"/>
                <a:cs typeface="Arial"/>
              </a:defRPr>
            </a:defPPr>
          </a:lstStyle>
          <a:p>
            <a:pPr algn="l">
              <a:defRPr sz="1900" b="0">
                <a:solidFill>
                  <a:srgbClr val="56657A"/>
                </a:solidFill>
                <a:latin typeface="Arial"/>
                <a:ea typeface="Arial"/>
                <a:cs typeface="Arial"/>
              </a:defRPr>
            </a:pPr>
            <a:r>
              <a:rPr sz="1900" b="0">
                <a:solidFill>
                  <a:srgbClr val="56657A"/>
                </a:solidFill>
                <a:latin typeface="Arial"/>
                <a:ea typeface="Arial"/>
                <a:cs typeface="Arial"/>
              </a:rPr>
              <a:t>De las referencias adoptamos el acceso visible a la solicitud y la búsqueda por especialidad. Así la persona puede iniciar la tarea desde más de una sección.</a:t>
            </a:r>
            <a:endParaRPr/>
          </a:p>
        </p:txBody>
      </p:sp>
      <p:sp>
        <p:nvSpPr>
          <p:cNvPr id="1748661642" name=""/>
          <p:cNvSpPr>
            <a:spLocks noGrp="1"/>
          </p:cNvSpPr>
          <p:nvPr/>
        </p:nvSpPr>
        <p:spPr bwMode="auto">
          <a:xfrm>
            <a:off x="742950" y="3686175"/>
            <a:ext cx="10572750" cy="1047750"/>
          </a:xfrm>
          <a:prstGeom prst="rect">
            <a:avLst/>
          </a:prstGeom>
          <a:noFill/>
          <a:ln w="0">
            <a:noFill/>
            <a:prstDash val="solid"/>
          </a:ln>
        </p:spPr>
        <p:txBody>
          <a:bodyPr/>
          <a:lstStyle>
            <a:defPPr algn="l">
              <a:defRPr sz="1900" b="0">
                <a:solidFill>
                  <a:srgbClr val="56657A"/>
                </a:solidFill>
                <a:latin typeface="Arial"/>
                <a:ea typeface="Arial"/>
                <a:cs typeface="Arial"/>
              </a:defRPr>
            </a:defPPr>
          </a:lstStyle>
          <a:p>
            <a:pPr algn="l">
              <a:defRPr sz="1900" b="0">
                <a:solidFill>
                  <a:srgbClr val="56657A"/>
                </a:solidFill>
                <a:latin typeface="Arial"/>
                <a:ea typeface="Arial"/>
                <a:cs typeface="Arial"/>
              </a:defRPr>
            </a:pPr>
            <a:r>
              <a:rPr sz="1900" b="0">
                <a:solidFill>
                  <a:srgbClr val="56657A"/>
                </a:solidFill>
                <a:latin typeface="Arial"/>
                <a:ea typeface="Arial"/>
                <a:cs typeface="Arial"/>
              </a:rPr>
              <a:t>Organizamos las opciones secundarias en “Más” para dejar a la vista Inicio, Nueva cita, Mis citas y Profesionales. El usuario encuentra primero las tareas principales.</a:t>
            </a:r>
            <a:endParaRPr/>
          </a:p>
        </p:txBody>
      </p:sp>
      <p:sp>
        <p:nvSpPr>
          <p:cNvPr id="593843252" name=""/>
          <p:cNvSpPr>
            <a:spLocks noGrp="1"/>
          </p:cNvSpPr>
          <p:nvPr/>
        </p:nvSpPr>
        <p:spPr bwMode="auto">
          <a:xfrm>
            <a:off x="742950" y="4886325"/>
            <a:ext cx="10572750" cy="809625"/>
          </a:xfrm>
          <a:prstGeom prst="rect">
            <a:avLst/>
          </a:prstGeom>
          <a:noFill/>
          <a:ln w="0">
            <a:noFill/>
            <a:prstDash val="solid"/>
          </a:ln>
        </p:spPr>
        <p:txBody>
          <a:bodyPr/>
          <a:lstStyle>
            <a:defPPr algn="l">
              <a:defRPr sz="1800" b="1">
                <a:solidFill>
                  <a:srgbClr val="0055AE"/>
                </a:solidFill>
                <a:latin typeface="Arial"/>
                <a:ea typeface="Arial"/>
                <a:cs typeface="Arial"/>
              </a:defRPr>
            </a:defPPr>
          </a:lstStyle>
          <a:p>
            <a:pPr algn="l">
              <a:defRPr sz="1800" b="1">
                <a:solidFill>
                  <a:srgbClr val="0055AE"/>
                </a:solidFill>
                <a:latin typeface="Arial"/>
                <a:ea typeface="Arial"/>
                <a:cs typeface="Arial"/>
              </a:defRPr>
            </a:pPr>
            <a:r>
              <a:rPr sz="1800" b="1">
                <a:solidFill>
                  <a:srgbClr val="0055AE"/>
                </a:solidFill>
                <a:latin typeface="Arial"/>
                <a:ea typeface="Arial"/>
                <a:cs typeface="Arial"/>
              </a:rPr>
              <a:t>La comparación orientó el diseño; no copiamos las páginas. El contenido y las funciones responden al servicio de rehabilitación de Guaranda.</a:t>
            </a:r>
            <a:endParaRPr/>
          </a:p>
        </p:txBody>
      </p:sp>
      <p:sp>
        <p:nvSpPr>
          <p:cNvPr id="613561045" name=""/>
          <p:cNvSpPr>
            <a:spLocks noGrp="1"/>
          </p:cNvSpPr>
          <p:nvPr/>
        </p:nvSpPr>
        <p:spPr bwMode="auto">
          <a:xfrm>
            <a:off x="10763250" y="447675"/>
            <a:ext cx="1000125" cy="304800"/>
          </a:xfrm>
          <a:prstGeom prst="rect">
            <a:avLst/>
          </a:prstGeom>
          <a:noFill/>
          <a:ln w="0">
            <a:noFill/>
            <a:prstDash val="solid"/>
          </a:ln>
        </p:spPr>
        <p:txBody>
          <a:bodyPr/>
          <a:lstStyle>
            <a:defPPr algn="l">
              <a:defRPr sz="1300" b="1">
                <a:solidFill>
                  <a:srgbClr val="56657A"/>
                </a:solidFill>
                <a:latin typeface="Arial"/>
                <a:ea typeface="Arial"/>
                <a:cs typeface="Arial"/>
              </a:defRPr>
            </a:defPPr>
          </a:lstStyle>
          <a:p>
            <a:pPr algn="l">
              <a:defRPr sz="1300" b="1">
                <a:solidFill>
                  <a:srgbClr val="56657A"/>
                </a:solidFill>
                <a:latin typeface="Arial"/>
                <a:ea typeface="Arial"/>
                <a:cs typeface="Arial"/>
              </a:defRPr>
            </a:pPr>
            <a:r>
              <a:rPr sz="1300" b="1">
                <a:solidFill>
                  <a:srgbClr val="56657A"/>
                </a:solidFill>
                <a:latin typeface="Arial"/>
                <a:ea typeface="Arial"/>
                <a:cs typeface="Arial"/>
              </a:rPr>
              <a:t>04 / 19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8F6F1"/>
        </a:solidFill>
      </p:bgPr>
    </p:bg>
    <p:spTree>
      <p:nvGrpSpPr>
        <p:cNvPr id="1" name=""/>
        <p:cNvGrpSpPr/>
        <p:nvPr/>
      </p:nvGrpSpPr>
      <p:grpSpPr bwMode="auto">
        <a:xfrm>
          <a:off x="0" y="0"/>
          <a:ext cx="0" cy="0"/>
          <a:chOff x="0" y="0"/>
          <a:chExt cx="0" cy="0"/>
        </a:xfrm>
      </p:grpSpPr>
      <p:sp>
        <p:nvSpPr>
          <p:cNvPr id="278976868" name=""/>
          <p:cNvSpPr>
            <a:spLocks noGrp="1"/>
          </p:cNvSpPr>
          <p:nvPr/>
        </p:nvSpPr>
        <p:spPr bwMode="auto">
          <a:xfrm>
            <a:off x="495300" y="419100"/>
            <a:ext cx="57150" cy="514350"/>
          </a:xfrm>
          <a:prstGeom prst="rect">
            <a:avLst/>
          </a:prstGeom>
          <a:solidFill>
            <a:srgbClr val="F0745B"/>
          </a:solidFill>
          <a:ln w="0">
            <a:solidFill>
              <a:srgbClr val="F0745B"/>
            </a:solidFill>
            <a:prstDash val="solid"/>
          </a:ln>
        </p:spPr>
      </p:sp>
      <p:sp>
        <p:nvSpPr>
          <p:cNvPr id="1824966081" name=""/>
          <p:cNvSpPr>
            <a:spLocks noGrp="1"/>
          </p:cNvSpPr>
          <p:nvPr/>
        </p:nvSpPr>
        <p:spPr bwMode="auto">
          <a:xfrm>
            <a:off x="742950" y="400050"/>
            <a:ext cx="9810750" cy="619125"/>
          </a:xfrm>
          <a:prstGeom prst="rect">
            <a:avLst/>
          </a:prstGeom>
          <a:noFill/>
          <a:ln w="0">
            <a:noFill/>
            <a:prstDash val="solid"/>
          </a:ln>
        </p:spPr>
        <p:txBody>
          <a:bodyPr/>
          <a:lstStyle>
            <a:defPPr algn="l">
              <a:defRPr sz="3000" b="1">
                <a:solidFill>
                  <a:srgbClr val="102653"/>
                </a:solidFill>
                <a:latin typeface="Arial"/>
                <a:ea typeface="Arial"/>
                <a:cs typeface="Arial"/>
              </a:defRPr>
            </a:defPPr>
          </a:lstStyle>
          <a:p>
            <a:pPr algn="l">
              <a:defRPr sz="3000" b="1">
                <a:solidFill>
                  <a:srgbClr val="102653"/>
                </a:solidFill>
                <a:latin typeface="Arial"/>
                <a:ea typeface="Arial"/>
                <a:cs typeface="Arial"/>
              </a:defRPr>
            </a:pPr>
            <a:r>
              <a:rPr sz="3000" b="1">
                <a:solidFill>
                  <a:srgbClr val="102653"/>
                </a:solidFill>
                <a:latin typeface="Arial"/>
                <a:ea typeface="Arial"/>
                <a:cs typeface="Arial"/>
              </a:rPr>
              <a:t>ACTOR Y CASOS DE USO</a:t>
            </a:r>
            <a:endParaRPr/>
          </a:p>
        </p:txBody>
      </p:sp>
      <p:sp>
        <p:nvSpPr>
          <p:cNvPr id="352990567" name=""/>
          <p:cNvSpPr>
            <a:spLocks noGrp="1"/>
          </p:cNvSpPr>
          <p:nvPr/>
        </p:nvSpPr>
        <p:spPr bwMode="auto">
          <a:xfrm>
            <a:off x="742950" y="1381125"/>
            <a:ext cx="10572750" cy="876299"/>
          </a:xfrm>
          <a:prstGeom prst="rect">
            <a:avLst/>
          </a:prstGeom>
          <a:noFill/>
          <a:ln w="0">
            <a:noFill/>
            <a:prstDash val="solid"/>
          </a:ln>
        </p:spPr>
        <p:txBody>
          <a:bodyPr/>
          <a:lstStyle>
            <a:defPPr algn="l">
              <a:defRPr sz="2050" b="1">
                <a:solidFill>
                  <a:srgbClr val="102653"/>
                </a:solidFill>
                <a:latin typeface="Arial"/>
                <a:ea typeface="Arial"/>
                <a:cs typeface="Arial"/>
              </a:defRPr>
            </a:defPPr>
          </a:lstStyle>
          <a:p>
            <a:pPr algn="l">
              <a:defRPr sz="2050" b="1">
                <a:solidFill>
                  <a:srgbClr val="102653"/>
                </a:solidFill>
                <a:latin typeface="Arial"/>
                <a:ea typeface="Arial"/>
                <a:cs typeface="Arial"/>
              </a:defRPr>
            </a:pPr>
            <a:r>
              <a:rPr sz="2400" b="1">
                <a:solidFill>
                  <a:schemeClr val="tx1"/>
                </a:solidFill>
                <a:latin typeface="Arial"/>
                <a:ea typeface="Arial"/>
                <a:cs typeface="Arial"/>
              </a:rPr>
              <a:t>El actor principal es el PACIENTE. El mismo sitio sirve a personas jóvenes, adultos mayores y personas con discapacidad visual o motriz.</a:t>
            </a:r>
            <a:endParaRPr sz="2400">
              <a:solidFill>
                <a:schemeClr val="tx1"/>
              </a:solidFill>
            </a:endParaRPr>
          </a:p>
        </p:txBody>
      </p:sp>
      <p:sp>
        <p:nvSpPr>
          <p:cNvPr id="982582881" name=""/>
          <p:cNvSpPr>
            <a:spLocks noGrp="1"/>
          </p:cNvSpPr>
          <p:nvPr/>
        </p:nvSpPr>
        <p:spPr bwMode="auto">
          <a:xfrm>
            <a:off x="742950" y="2409825"/>
            <a:ext cx="10572750" cy="1285875"/>
          </a:xfrm>
          <a:prstGeom prst="rect">
            <a:avLst/>
          </a:prstGeom>
          <a:noFill/>
          <a:ln w="0">
            <a:noFill/>
            <a:prstDash val="solid"/>
          </a:ln>
        </p:spPr>
        <p:txBody>
          <a:bodyPr/>
          <a:lstStyle>
            <a:defPPr algn="l">
              <a:defRPr sz="1900" b="0">
                <a:solidFill>
                  <a:srgbClr val="56657A"/>
                </a:solidFill>
                <a:latin typeface="Arial"/>
                <a:ea typeface="Arial"/>
                <a:cs typeface="Arial"/>
              </a:defRPr>
            </a:defPPr>
          </a:lstStyle>
          <a:p>
            <a:pPr algn="l">
              <a:defRPr sz="1900" b="0">
                <a:solidFill>
                  <a:srgbClr val="56657A"/>
                </a:solidFill>
                <a:latin typeface="Arial"/>
                <a:ea typeface="Arial"/>
                <a:cs typeface="Arial"/>
              </a:defRPr>
            </a:pPr>
            <a:r>
              <a:rPr sz="2200" b="0">
                <a:solidFill>
                  <a:schemeClr val="tx1"/>
                </a:solidFill>
                <a:latin typeface="Arial"/>
                <a:ea typeface="Arial"/>
                <a:cs typeface="Arial"/>
              </a:rPr>
              <a:t>Sus ocho funciones son: registrarse, solicitar una cita, consultar especialistas, revisar disponibilidad, ver su historial, consultar ejercicios, recibir recordatorios dentro del sitio y conocer el centro de atención.</a:t>
            </a:r>
            <a:endParaRPr sz="2200">
              <a:solidFill>
                <a:schemeClr val="tx1"/>
              </a:solidFill>
            </a:endParaRPr>
          </a:p>
        </p:txBody>
      </p:sp>
      <p:sp>
        <p:nvSpPr>
          <p:cNvPr id="1139962485" name=""/>
          <p:cNvSpPr>
            <a:spLocks noGrp="1"/>
          </p:cNvSpPr>
          <p:nvPr/>
        </p:nvSpPr>
        <p:spPr bwMode="auto">
          <a:xfrm>
            <a:off x="742950" y="3848100"/>
            <a:ext cx="10572750" cy="1143000"/>
          </a:xfrm>
          <a:prstGeom prst="rect">
            <a:avLst/>
          </a:prstGeom>
          <a:noFill/>
          <a:ln w="0">
            <a:noFill/>
            <a:prstDash val="solid"/>
          </a:ln>
        </p:spPr>
        <p:txBody>
          <a:bodyPr/>
          <a:lstStyle>
            <a:defPPr algn="l">
              <a:defRPr sz="1900" b="0">
                <a:solidFill>
                  <a:srgbClr val="56657A"/>
                </a:solidFill>
                <a:latin typeface="Arial"/>
                <a:ea typeface="Arial"/>
                <a:cs typeface="Arial"/>
              </a:defRPr>
            </a:defPPr>
          </a:lstStyle>
          <a:p>
            <a:pPr algn="l">
              <a:defRPr sz="1900" b="0">
                <a:solidFill>
                  <a:srgbClr val="56657A"/>
                </a:solidFill>
                <a:latin typeface="Arial"/>
                <a:ea typeface="Arial"/>
                <a:cs typeface="Arial"/>
              </a:defRPr>
            </a:pPr>
            <a:r>
              <a:rPr sz="2200" b="0">
                <a:solidFill>
                  <a:schemeClr val="tx1"/>
                </a:solidFill>
                <a:latin typeface="Arial"/>
                <a:ea typeface="Arial"/>
                <a:cs typeface="Arial"/>
              </a:rPr>
              <a:t>Al solicitar una cita, el sistema valida los datos, permite elegir profesional y horario, y presenta un resumen para revisar antes de confirmar. Escuchar ese resumen es una ayuda opcional.</a:t>
            </a:r>
            <a:endParaRPr/>
          </a:p>
        </p:txBody>
      </p:sp>
      <p:sp>
        <p:nvSpPr>
          <p:cNvPr id="315244006" name=""/>
          <p:cNvSpPr>
            <a:spLocks noGrp="1"/>
          </p:cNvSpPr>
          <p:nvPr/>
        </p:nvSpPr>
        <p:spPr bwMode="auto">
          <a:xfrm>
            <a:off x="10763250" y="447675"/>
            <a:ext cx="1000125" cy="304800"/>
          </a:xfrm>
          <a:prstGeom prst="rect">
            <a:avLst/>
          </a:prstGeom>
          <a:noFill/>
          <a:ln w="0">
            <a:noFill/>
            <a:prstDash val="solid"/>
          </a:ln>
        </p:spPr>
        <p:txBody>
          <a:bodyPr/>
          <a:lstStyle>
            <a:defPPr algn="l">
              <a:defRPr sz="1300" b="1">
                <a:solidFill>
                  <a:srgbClr val="56657A"/>
                </a:solidFill>
                <a:latin typeface="Arial"/>
                <a:ea typeface="Arial"/>
                <a:cs typeface="Arial"/>
              </a:defRPr>
            </a:defPPr>
          </a:lstStyle>
          <a:p>
            <a:pPr algn="l">
              <a:defRPr sz="1300" b="1">
                <a:solidFill>
                  <a:srgbClr val="56657A"/>
                </a:solidFill>
                <a:latin typeface="Arial"/>
                <a:ea typeface="Arial"/>
                <a:cs typeface="Arial"/>
              </a:defRPr>
            </a:pPr>
            <a:r>
              <a:rPr sz="1300" b="1">
                <a:solidFill>
                  <a:srgbClr val="56657A"/>
                </a:solidFill>
                <a:latin typeface="Arial"/>
                <a:ea typeface="Arial"/>
                <a:cs typeface="Arial"/>
              </a:rPr>
              <a:t>05 / 19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91C42"/>
        </a:solidFill>
      </p:bgPr>
    </p:bg>
    <p:spTree>
      <p:nvGrpSpPr>
        <p:cNvPr id="1" name=""/>
        <p:cNvGrpSpPr/>
        <p:nvPr/>
      </p:nvGrpSpPr>
      <p:grpSpPr bwMode="auto">
        <a:xfrm>
          <a:off x="0" y="0"/>
          <a:ext cx="0" cy="0"/>
          <a:chOff x="0" y="0"/>
          <a:chExt cx="0" cy="0"/>
        </a:xfrm>
      </p:grpSpPr>
      <p:sp>
        <p:nvSpPr>
          <p:cNvPr id="1413873652" name=""/>
          <p:cNvSpPr>
            <a:spLocks noGrp="1"/>
          </p:cNvSpPr>
          <p:nvPr/>
        </p:nvSpPr>
        <p:spPr bwMode="auto">
          <a:xfrm>
            <a:off x="495300" y="419100"/>
            <a:ext cx="57150" cy="514350"/>
          </a:xfrm>
          <a:prstGeom prst="rect">
            <a:avLst/>
          </a:prstGeom>
          <a:solidFill>
            <a:srgbClr val="1CB7AE"/>
          </a:solidFill>
          <a:ln w="0">
            <a:solidFill>
              <a:srgbClr val="1CB7AE"/>
            </a:solidFill>
          </a:ln>
        </p:spPr>
      </p:sp>
      <p:sp>
        <p:nvSpPr>
          <p:cNvPr id="2062088246" name=""/>
          <p:cNvSpPr>
            <a:spLocks noGrp="1"/>
          </p:cNvSpPr>
          <p:nvPr/>
        </p:nvSpPr>
        <p:spPr bwMode="auto">
          <a:xfrm>
            <a:off x="742950" y="400050"/>
            <a:ext cx="9810750" cy="619125"/>
          </a:xfrm>
          <a:prstGeom prst="rect">
            <a:avLst/>
          </a:prstGeom>
          <a:noFill/>
          <a:ln w="0">
            <a:noFill/>
          </a:ln>
        </p:spPr>
        <p:txBody>
          <a:bodyPr anchor="ctr">
            <a:normAutofit fontScale="100000"/>
          </a:bodyPr>
          <a:lstStyle/>
          <a:p>
            <a:pPr algn="l">
              <a:buNone/>
              <a:defRPr sz="3150" b="1">
                <a:solidFill>
                  <a:srgbClr val="FFFFFF"/>
                </a:solidFill>
                <a:latin typeface="Arial"/>
                <a:ea typeface="Arial"/>
                <a:cs typeface="Arial"/>
              </a:defRPr>
            </a:pPr>
            <a:r>
              <a:rPr sz="3150" b="1">
                <a:solidFill>
                  <a:srgbClr val="FFFFFF"/>
                </a:solidFill>
                <a:latin typeface="Arial"/>
                <a:ea typeface="Arial"/>
                <a:cs typeface="Arial"/>
              </a:rPr>
              <a:t>TRES PERFILES, UNA SOLICITUD</a:t>
            </a:r>
            <a:endParaRPr/>
          </a:p>
        </p:txBody>
      </p:sp>
      <p:sp>
        <p:nvSpPr>
          <p:cNvPr id="1192028268" name=""/>
          <p:cNvSpPr>
            <a:spLocks noGrp="1"/>
          </p:cNvSpPr>
          <p:nvPr/>
        </p:nvSpPr>
        <p:spPr bwMode="auto">
          <a:xfrm>
            <a:off x="10763250" y="447675"/>
            <a:ext cx="904875" cy="304800"/>
          </a:xfrm>
          <a:prstGeom prst="rect">
            <a:avLst/>
          </a:prstGeom>
          <a:noFill/>
          <a:ln w="0">
            <a:noFill/>
          </a:ln>
        </p:spPr>
        <p:txBody>
          <a:bodyPr anchor="ctr">
            <a:normAutofit fontScale="100000"/>
          </a:bodyPr>
          <a:lstStyle/>
          <a:p>
            <a:pPr algn="r">
              <a:buNone/>
              <a:defRPr sz="1300" b="1">
                <a:solidFill>
                  <a:srgbClr val="CFE5F2"/>
                </a:solidFill>
                <a:latin typeface="Arial"/>
                <a:ea typeface="Arial"/>
                <a:cs typeface="Arial"/>
              </a:defRPr>
            </a:pPr>
            <a:r>
              <a:rPr sz="1300" b="1">
                <a:solidFill>
                  <a:srgbClr val="CFE5F2"/>
                </a:solidFill>
                <a:latin typeface="Arial"/>
                <a:ea typeface="Arial"/>
                <a:cs typeface="Arial"/>
              </a:rPr>
              <a:t>06 / 19</a:t>
            </a:r>
            <a:endParaRPr/>
          </a:p>
        </p:txBody>
      </p:sp>
      <p:sp>
        <p:nvSpPr>
          <p:cNvPr id="1859485330" name=""/>
          <p:cNvSpPr>
            <a:spLocks noGrp="1"/>
          </p:cNvSpPr>
          <p:nvPr/>
        </p:nvSpPr>
        <p:spPr bwMode="auto">
          <a:xfrm>
            <a:off x="762000" y="1304925"/>
            <a:ext cx="10191750" cy="904875"/>
          </a:xfrm>
          <a:prstGeom prst="rect">
            <a:avLst/>
          </a:prstGeom>
          <a:noFill/>
          <a:ln w="0">
            <a:noFill/>
          </a:ln>
        </p:spPr>
        <p:txBody>
          <a:bodyPr anchor="ctr">
            <a:normAutofit fontScale="100000"/>
          </a:bodyPr>
          <a:lstStyle/>
          <a:p>
            <a:pPr algn="l">
              <a:buNone/>
              <a:defRPr sz="2350" b="1">
                <a:solidFill>
                  <a:srgbClr val="CFE5F2"/>
                </a:solidFill>
                <a:latin typeface="Arial"/>
                <a:ea typeface="Arial"/>
                <a:cs typeface="Arial"/>
              </a:defRPr>
            </a:pPr>
            <a:r>
              <a:rPr sz="2350" b="1">
                <a:solidFill>
                  <a:schemeClr val="bg1">
                    <a:lumMod val="95000"/>
                  </a:schemeClr>
                </a:solidFill>
                <a:latin typeface="Arial"/>
                <a:ea typeface="Arial"/>
                <a:cs typeface="Arial"/>
              </a:rPr>
              <a:t>Las necesidades de acceso cambian. El recorrido de cita permanece igual para todos.</a:t>
            </a:r>
            <a:endParaRPr>
              <a:solidFill>
                <a:schemeClr val="tx1"/>
              </a:solidFill>
            </a:endParaRPr>
          </a:p>
        </p:txBody>
      </p:sp>
      <p:sp>
        <p:nvSpPr>
          <p:cNvPr id="523704254" name=""/>
          <p:cNvSpPr>
            <a:spLocks noGrp="1"/>
          </p:cNvSpPr>
          <p:nvPr/>
        </p:nvSpPr>
        <p:spPr bwMode="auto">
          <a:xfrm>
            <a:off x="781050" y="2543175"/>
            <a:ext cx="3238500" cy="609600"/>
          </a:xfrm>
          <a:prstGeom prst="rect">
            <a:avLst/>
          </a:prstGeom>
          <a:noFill/>
          <a:ln w="0">
            <a:noFill/>
          </a:ln>
        </p:spPr>
        <p:txBody>
          <a:bodyPr anchor="ctr">
            <a:normAutofit fontScale="87179"/>
          </a:bodyPr>
          <a:lstStyle/>
          <a:p>
            <a:pPr algn="l">
              <a:buNone/>
              <a:defRPr sz="3900" b="1">
                <a:solidFill>
                  <a:srgbClr val="F0745B"/>
                </a:solidFill>
                <a:latin typeface="Arial"/>
                <a:ea typeface="Arial"/>
                <a:cs typeface="Arial"/>
              </a:defRPr>
            </a:pPr>
            <a:r>
              <a:rPr sz="3900" b="1">
                <a:solidFill>
                  <a:srgbClr val="F0745B"/>
                </a:solidFill>
                <a:latin typeface="Arial"/>
                <a:ea typeface="Arial"/>
                <a:cs typeface="Arial"/>
              </a:rPr>
              <a:t>01</a:t>
            </a:r>
            <a:endParaRPr/>
          </a:p>
        </p:txBody>
      </p:sp>
      <p:sp>
        <p:nvSpPr>
          <p:cNvPr id="1767864713" name=""/>
          <p:cNvSpPr>
            <a:spLocks noGrp="1"/>
          </p:cNvSpPr>
          <p:nvPr/>
        </p:nvSpPr>
        <p:spPr bwMode="auto">
          <a:xfrm>
            <a:off x="781050" y="3267075"/>
            <a:ext cx="3048000" cy="28575"/>
          </a:xfrm>
          <a:prstGeom prst="rect">
            <a:avLst/>
          </a:prstGeom>
          <a:solidFill>
            <a:srgbClr val="1CB7AE"/>
          </a:solidFill>
          <a:ln w="0">
            <a:solidFill>
              <a:srgbClr val="1CB7AE"/>
            </a:solidFill>
          </a:ln>
        </p:spPr>
      </p:sp>
      <p:sp>
        <p:nvSpPr>
          <p:cNvPr id="937213143" name=""/>
          <p:cNvSpPr>
            <a:spLocks noGrp="1"/>
          </p:cNvSpPr>
          <p:nvPr/>
        </p:nvSpPr>
        <p:spPr bwMode="auto">
          <a:xfrm>
            <a:off x="781050" y="3505199"/>
            <a:ext cx="3171825" cy="571500"/>
          </a:xfrm>
          <a:prstGeom prst="rect">
            <a:avLst/>
          </a:prstGeom>
          <a:noFill/>
          <a:ln w="0">
            <a:noFill/>
          </a:ln>
        </p:spPr>
        <p:txBody>
          <a:bodyPr anchor="ctr">
            <a:normAutofit fontScale="100000"/>
          </a:bodyPr>
          <a:lstStyle/>
          <a:p>
            <a:pPr algn="l">
              <a:buNone/>
              <a:defRPr sz="2250" b="1">
                <a:solidFill>
                  <a:srgbClr val="FFFFFF"/>
                </a:solidFill>
                <a:latin typeface="Arial"/>
                <a:ea typeface="Arial"/>
                <a:cs typeface="Arial"/>
              </a:defRPr>
            </a:pPr>
            <a:r>
              <a:rPr sz="2250" b="1">
                <a:solidFill>
                  <a:srgbClr val="FFFFFF"/>
                </a:solidFill>
                <a:latin typeface="Arial"/>
                <a:ea typeface="Arial"/>
                <a:cs typeface="Arial"/>
              </a:rPr>
              <a:t>Persona joven</a:t>
            </a:r>
            <a:endParaRPr/>
          </a:p>
        </p:txBody>
      </p:sp>
      <p:sp>
        <p:nvSpPr>
          <p:cNvPr id="640771021" name=""/>
          <p:cNvSpPr>
            <a:spLocks noGrp="1"/>
          </p:cNvSpPr>
          <p:nvPr/>
        </p:nvSpPr>
        <p:spPr bwMode="auto">
          <a:xfrm>
            <a:off x="781050" y="4200525"/>
            <a:ext cx="3143250" cy="1419225"/>
          </a:xfrm>
          <a:prstGeom prst="rect">
            <a:avLst/>
          </a:prstGeom>
          <a:noFill/>
          <a:ln w="0">
            <a:noFill/>
          </a:ln>
        </p:spPr>
        <p:txBody>
          <a:bodyPr anchor="ctr">
            <a:normAutofit fontScale="100000"/>
          </a:bodyPr>
          <a:lstStyle/>
          <a:p>
            <a:pPr algn="l">
              <a:buNone/>
              <a:defRPr sz="1800" b="0">
                <a:solidFill>
                  <a:srgbClr val="CFE5F2"/>
                </a:solidFill>
                <a:latin typeface="Arial"/>
                <a:ea typeface="Arial"/>
                <a:cs typeface="Arial"/>
              </a:defRPr>
            </a:pPr>
            <a:r>
              <a:rPr sz="1800" b="0">
                <a:solidFill>
                  <a:schemeClr val="bg1">
                    <a:lumMod val="95000"/>
                  </a:schemeClr>
                </a:solidFill>
                <a:latin typeface="Arial"/>
                <a:ea typeface="Arial"/>
                <a:cs typeface="Arial"/>
              </a:rPr>
              <a:t>Acceso rápido a la tarea, progreso visible y revisión antes de confirmar.</a:t>
            </a:r>
            <a:endParaRPr>
              <a:solidFill>
                <a:schemeClr val="bg1">
                  <a:lumMod val="95000"/>
                </a:schemeClr>
              </a:solidFill>
            </a:endParaRPr>
          </a:p>
        </p:txBody>
      </p:sp>
      <p:sp>
        <p:nvSpPr>
          <p:cNvPr id="1704379943" name=""/>
          <p:cNvSpPr>
            <a:spLocks noGrp="1"/>
          </p:cNvSpPr>
          <p:nvPr/>
        </p:nvSpPr>
        <p:spPr bwMode="auto">
          <a:xfrm>
            <a:off x="4572000" y="2543175"/>
            <a:ext cx="3238500" cy="609600"/>
          </a:xfrm>
          <a:prstGeom prst="rect">
            <a:avLst/>
          </a:prstGeom>
          <a:noFill/>
          <a:ln w="0">
            <a:noFill/>
          </a:ln>
        </p:spPr>
        <p:txBody>
          <a:bodyPr anchor="ctr">
            <a:normAutofit fontScale="87179"/>
          </a:bodyPr>
          <a:lstStyle/>
          <a:p>
            <a:pPr algn="l">
              <a:buNone/>
              <a:defRPr sz="3900" b="1">
                <a:solidFill>
                  <a:srgbClr val="F0745B"/>
                </a:solidFill>
                <a:latin typeface="Arial"/>
                <a:ea typeface="Arial"/>
                <a:cs typeface="Arial"/>
              </a:defRPr>
            </a:pPr>
            <a:r>
              <a:rPr sz="3900" b="1">
                <a:solidFill>
                  <a:srgbClr val="F0745B"/>
                </a:solidFill>
                <a:latin typeface="Arial"/>
                <a:ea typeface="Arial"/>
                <a:cs typeface="Arial"/>
              </a:rPr>
              <a:t>02</a:t>
            </a:r>
            <a:endParaRPr/>
          </a:p>
        </p:txBody>
      </p:sp>
      <p:sp>
        <p:nvSpPr>
          <p:cNvPr id="428390373" name=""/>
          <p:cNvSpPr>
            <a:spLocks noGrp="1"/>
          </p:cNvSpPr>
          <p:nvPr/>
        </p:nvSpPr>
        <p:spPr bwMode="auto">
          <a:xfrm>
            <a:off x="4572000" y="3267075"/>
            <a:ext cx="3048000" cy="28575"/>
          </a:xfrm>
          <a:prstGeom prst="rect">
            <a:avLst/>
          </a:prstGeom>
          <a:solidFill>
            <a:srgbClr val="1CB7AE"/>
          </a:solidFill>
          <a:ln w="0">
            <a:solidFill>
              <a:srgbClr val="1CB7AE"/>
            </a:solidFill>
          </a:ln>
        </p:spPr>
      </p:sp>
      <p:sp>
        <p:nvSpPr>
          <p:cNvPr id="447174629" name=""/>
          <p:cNvSpPr>
            <a:spLocks noGrp="1"/>
          </p:cNvSpPr>
          <p:nvPr/>
        </p:nvSpPr>
        <p:spPr bwMode="auto">
          <a:xfrm>
            <a:off x="4572000" y="3505199"/>
            <a:ext cx="3171825" cy="571500"/>
          </a:xfrm>
          <a:prstGeom prst="rect">
            <a:avLst/>
          </a:prstGeom>
          <a:noFill/>
          <a:ln w="0">
            <a:noFill/>
          </a:ln>
        </p:spPr>
        <p:txBody>
          <a:bodyPr anchor="ctr">
            <a:normAutofit fontScale="100000"/>
          </a:bodyPr>
          <a:lstStyle/>
          <a:p>
            <a:pPr algn="l">
              <a:buNone/>
              <a:defRPr sz="2250" b="1">
                <a:solidFill>
                  <a:srgbClr val="FFFFFF"/>
                </a:solidFill>
                <a:latin typeface="Arial"/>
                <a:ea typeface="Arial"/>
                <a:cs typeface="Arial"/>
              </a:defRPr>
            </a:pPr>
            <a:r>
              <a:rPr sz="2250" b="1">
                <a:solidFill>
                  <a:srgbClr val="FFFFFF"/>
                </a:solidFill>
                <a:latin typeface="Arial"/>
                <a:ea typeface="Arial"/>
                <a:cs typeface="Arial"/>
              </a:rPr>
              <a:t>Adulto mayor</a:t>
            </a:r>
            <a:endParaRPr/>
          </a:p>
        </p:txBody>
      </p:sp>
      <p:sp>
        <p:nvSpPr>
          <p:cNvPr id="1581812039" name=""/>
          <p:cNvSpPr>
            <a:spLocks noGrp="1"/>
          </p:cNvSpPr>
          <p:nvPr/>
        </p:nvSpPr>
        <p:spPr bwMode="auto">
          <a:xfrm>
            <a:off x="4572000" y="4200525"/>
            <a:ext cx="3143250" cy="1419225"/>
          </a:xfrm>
          <a:prstGeom prst="rect">
            <a:avLst/>
          </a:prstGeom>
          <a:noFill/>
          <a:ln w="0">
            <a:noFill/>
          </a:ln>
        </p:spPr>
        <p:txBody>
          <a:bodyPr anchor="ctr">
            <a:normAutofit fontScale="100000"/>
          </a:bodyPr>
          <a:lstStyle/>
          <a:p>
            <a:pPr algn="l">
              <a:buNone/>
              <a:defRPr sz="1800" b="0">
                <a:solidFill>
                  <a:srgbClr val="CFE5F2"/>
                </a:solidFill>
                <a:latin typeface="Arial"/>
                <a:ea typeface="Arial"/>
                <a:cs typeface="Arial"/>
              </a:defRPr>
            </a:pPr>
            <a:r>
              <a:rPr sz="1800" b="0">
                <a:solidFill>
                  <a:schemeClr val="bg1">
                    <a:lumMod val="95000"/>
                  </a:schemeClr>
                </a:solidFill>
                <a:latin typeface="Arial"/>
                <a:ea typeface="Arial"/>
                <a:cs typeface="Arial"/>
              </a:rPr>
              <a:t>Una tarea por paso, instrucciones cortas y controles que se pueden ampliar.</a:t>
            </a:r>
            <a:endParaRPr>
              <a:solidFill>
                <a:schemeClr val="bg1">
                  <a:lumMod val="95000"/>
                </a:schemeClr>
              </a:solidFill>
            </a:endParaRPr>
          </a:p>
        </p:txBody>
      </p:sp>
      <p:sp>
        <p:nvSpPr>
          <p:cNvPr id="2062173514" name=""/>
          <p:cNvSpPr>
            <a:spLocks noGrp="1"/>
          </p:cNvSpPr>
          <p:nvPr/>
        </p:nvSpPr>
        <p:spPr bwMode="auto">
          <a:xfrm>
            <a:off x="8362950" y="2543175"/>
            <a:ext cx="3238500" cy="609600"/>
          </a:xfrm>
          <a:prstGeom prst="rect">
            <a:avLst/>
          </a:prstGeom>
          <a:noFill/>
          <a:ln w="0">
            <a:noFill/>
          </a:ln>
        </p:spPr>
        <p:txBody>
          <a:bodyPr anchor="ctr">
            <a:normAutofit fontScale="87179"/>
          </a:bodyPr>
          <a:lstStyle/>
          <a:p>
            <a:pPr algn="l">
              <a:buNone/>
              <a:defRPr sz="3900" b="1">
                <a:solidFill>
                  <a:srgbClr val="F0745B"/>
                </a:solidFill>
                <a:latin typeface="Arial"/>
                <a:ea typeface="Arial"/>
                <a:cs typeface="Arial"/>
              </a:defRPr>
            </a:pPr>
            <a:r>
              <a:rPr sz="3900" b="1">
                <a:solidFill>
                  <a:srgbClr val="F0745B"/>
                </a:solidFill>
                <a:latin typeface="Arial"/>
                <a:ea typeface="Arial"/>
                <a:cs typeface="Arial"/>
              </a:rPr>
              <a:t>03</a:t>
            </a:r>
            <a:endParaRPr/>
          </a:p>
        </p:txBody>
      </p:sp>
      <p:sp>
        <p:nvSpPr>
          <p:cNvPr id="1750590002" name=""/>
          <p:cNvSpPr>
            <a:spLocks noGrp="1"/>
          </p:cNvSpPr>
          <p:nvPr/>
        </p:nvSpPr>
        <p:spPr bwMode="auto">
          <a:xfrm>
            <a:off x="8362950" y="3267075"/>
            <a:ext cx="3048000" cy="28575"/>
          </a:xfrm>
          <a:prstGeom prst="rect">
            <a:avLst/>
          </a:prstGeom>
          <a:solidFill>
            <a:srgbClr val="1CB7AE"/>
          </a:solidFill>
          <a:ln w="0">
            <a:solidFill>
              <a:srgbClr val="1CB7AE"/>
            </a:solidFill>
          </a:ln>
        </p:spPr>
      </p:sp>
      <p:sp>
        <p:nvSpPr>
          <p:cNvPr id="2018819334" name=""/>
          <p:cNvSpPr>
            <a:spLocks noGrp="1"/>
          </p:cNvSpPr>
          <p:nvPr/>
        </p:nvSpPr>
        <p:spPr bwMode="auto">
          <a:xfrm>
            <a:off x="8362950" y="3505199"/>
            <a:ext cx="3171825" cy="571500"/>
          </a:xfrm>
          <a:prstGeom prst="rect">
            <a:avLst/>
          </a:prstGeom>
          <a:noFill/>
          <a:ln w="0">
            <a:noFill/>
          </a:ln>
        </p:spPr>
        <p:txBody>
          <a:bodyPr anchor="ctr">
            <a:normAutofit fontScale="96458"/>
          </a:bodyPr>
          <a:lstStyle/>
          <a:p>
            <a:pPr algn="l">
              <a:buNone/>
              <a:defRPr sz="2250" b="1">
                <a:solidFill>
                  <a:srgbClr val="FFFFFF"/>
                </a:solidFill>
                <a:latin typeface="Arial"/>
                <a:ea typeface="Arial"/>
                <a:cs typeface="Arial"/>
              </a:defRPr>
            </a:pPr>
            <a:r>
              <a:rPr sz="2250" b="1">
                <a:solidFill>
                  <a:srgbClr val="FFFFFF"/>
                </a:solidFill>
                <a:latin typeface="Arial"/>
                <a:ea typeface="Arial"/>
                <a:cs typeface="Arial"/>
              </a:rPr>
              <a:t>Acceso visual o motriz</a:t>
            </a:r>
            <a:endParaRPr/>
          </a:p>
        </p:txBody>
      </p:sp>
      <p:sp>
        <p:nvSpPr>
          <p:cNvPr id="613883205" name=""/>
          <p:cNvSpPr>
            <a:spLocks noGrp="1"/>
          </p:cNvSpPr>
          <p:nvPr/>
        </p:nvSpPr>
        <p:spPr bwMode="auto">
          <a:xfrm>
            <a:off x="8362950" y="4200525"/>
            <a:ext cx="3143250" cy="1419225"/>
          </a:xfrm>
          <a:prstGeom prst="rect">
            <a:avLst/>
          </a:prstGeom>
          <a:noFill/>
          <a:ln w="0">
            <a:noFill/>
          </a:ln>
        </p:spPr>
        <p:txBody>
          <a:bodyPr anchor="ctr">
            <a:normAutofit fontScale="100000"/>
          </a:bodyPr>
          <a:lstStyle/>
          <a:p>
            <a:pPr algn="l">
              <a:buNone/>
              <a:defRPr sz="1800" b="0">
                <a:solidFill>
                  <a:srgbClr val="CFE5F2"/>
                </a:solidFill>
                <a:latin typeface="Arial"/>
                <a:ea typeface="Arial"/>
                <a:cs typeface="Arial"/>
              </a:defRPr>
            </a:pPr>
            <a:r>
              <a:rPr sz="1800" b="0">
                <a:solidFill>
                  <a:schemeClr val="bg1">
                    <a:lumMod val="95000"/>
                  </a:schemeClr>
                </a:solidFill>
                <a:latin typeface="Arial"/>
                <a:ea typeface="Arial"/>
                <a:cs typeface="Arial"/>
              </a:rPr>
              <a:t>Navegación con teclado, foco visible, etiquetas claras y lectura por voz opcional.</a:t>
            </a:r>
            <a:endParaRPr>
              <a:solidFill>
                <a:schemeClr val="bg1">
                  <a:lumMod val="95000"/>
                </a:schemeClr>
              </a:solidFill>
            </a:endParaRPr>
          </a:p>
        </p:txBody>
      </p:sp>
      <p:sp>
        <p:nvSpPr>
          <p:cNvPr id="1994763771" name=""/>
          <p:cNvSpPr>
            <a:spLocks noGrp="1"/>
          </p:cNvSpPr>
          <p:nvPr/>
        </p:nvSpPr>
        <p:spPr bwMode="auto">
          <a:xfrm>
            <a:off x="762000" y="5981700"/>
            <a:ext cx="10382250" cy="428625"/>
          </a:xfrm>
          <a:prstGeom prst="rect">
            <a:avLst/>
          </a:prstGeom>
          <a:noFill/>
          <a:ln w="0">
            <a:noFill/>
          </a:ln>
        </p:spPr>
        <p:txBody>
          <a:bodyPr anchor="ctr">
            <a:normAutofit fontScale="100000"/>
          </a:bodyPr>
          <a:lstStyle/>
          <a:p>
            <a:pPr algn="l">
              <a:buNone/>
              <a:defRPr sz="1750" b="1">
                <a:solidFill>
                  <a:srgbClr val="1CB7AE"/>
                </a:solidFill>
                <a:latin typeface="Arial"/>
                <a:ea typeface="Arial"/>
                <a:cs typeface="Arial"/>
              </a:defRPr>
            </a:pPr>
            <a:r>
              <a:rPr sz="1750" b="1">
                <a:solidFill>
                  <a:srgbClr val="1CB7AE"/>
                </a:solidFill>
                <a:latin typeface="Arial"/>
                <a:ea typeface="Arial"/>
                <a:cs typeface="Arial"/>
              </a:rPr>
              <a:t>Nadie tiene que escoger un “tipo de usuario” para utilizar la web.</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8F6F1"/>
        </a:solidFill>
      </p:bgPr>
    </p:bg>
    <p:spTree>
      <p:nvGrpSpPr>
        <p:cNvPr id="1" name=""/>
        <p:cNvGrpSpPr/>
        <p:nvPr/>
      </p:nvGrpSpPr>
      <p:grpSpPr bwMode="auto">
        <a:xfrm>
          <a:off x="0" y="0"/>
          <a:ext cx="0" cy="0"/>
          <a:chOff x="0" y="0"/>
          <a:chExt cx="0" cy="0"/>
        </a:xfrm>
      </p:grpSpPr>
      <p:sp>
        <p:nvSpPr>
          <p:cNvPr id="328536064" name=""/>
          <p:cNvSpPr>
            <a:spLocks noGrp="1"/>
          </p:cNvSpPr>
          <p:nvPr/>
        </p:nvSpPr>
        <p:spPr bwMode="auto">
          <a:xfrm>
            <a:off x="495300" y="419100"/>
            <a:ext cx="57150" cy="514350"/>
          </a:xfrm>
          <a:prstGeom prst="rect">
            <a:avLst/>
          </a:prstGeom>
          <a:solidFill>
            <a:srgbClr val="F0745B"/>
          </a:solidFill>
          <a:ln w="0">
            <a:solidFill>
              <a:srgbClr val="F0745B"/>
            </a:solidFill>
          </a:ln>
        </p:spPr>
      </p:sp>
      <p:sp>
        <p:nvSpPr>
          <p:cNvPr id="195299145" name=""/>
          <p:cNvSpPr>
            <a:spLocks noGrp="1"/>
          </p:cNvSpPr>
          <p:nvPr/>
        </p:nvSpPr>
        <p:spPr bwMode="auto">
          <a:xfrm>
            <a:off x="742950" y="400050"/>
            <a:ext cx="9810750" cy="619125"/>
          </a:xfrm>
          <a:prstGeom prst="rect">
            <a:avLst/>
          </a:prstGeom>
          <a:noFill/>
          <a:ln w="0">
            <a:noFill/>
          </a:ln>
        </p:spPr>
        <p:txBody>
          <a:bodyPr anchor="ctr">
            <a:normAutofit fontScale="100000"/>
          </a:bodyPr>
          <a:lstStyle/>
          <a:p>
            <a:pPr algn="l">
              <a:buNone/>
              <a:defRPr sz="3150" b="1">
                <a:solidFill>
                  <a:srgbClr val="102653"/>
                </a:solidFill>
                <a:latin typeface="Arial"/>
                <a:ea typeface="Arial"/>
                <a:cs typeface="Arial"/>
              </a:defRPr>
            </a:pPr>
            <a:r>
              <a:rPr sz="3150" b="1">
                <a:solidFill>
                  <a:srgbClr val="102653"/>
                </a:solidFill>
                <a:latin typeface="Arial"/>
                <a:ea typeface="Arial"/>
                <a:cs typeface="Arial"/>
              </a:rPr>
              <a:t>UNA SOLA WEB, OCHO FUNCIONES</a:t>
            </a:r>
            <a:endParaRPr/>
          </a:p>
        </p:txBody>
      </p:sp>
      <p:sp>
        <p:nvSpPr>
          <p:cNvPr id="5505846" name=""/>
          <p:cNvSpPr>
            <a:spLocks noGrp="1"/>
          </p:cNvSpPr>
          <p:nvPr/>
        </p:nvSpPr>
        <p:spPr bwMode="auto">
          <a:xfrm>
            <a:off x="10763250" y="447675"/>
            <a:ext cx="904875" cy="304800"/>
          </a:xfrm>
          <a:prstGeom prst="rect">
            <a:avLst/>
          </a:prstGeom>
          <a:noFill/>
          <a:ln w="0">
            <a:noFill/>
          </a:ln>
        </p:spPr>
        <p:txBody>
          <a:bodyPr anchor="ctr">
            <a:normAutofit fontScale="100000"/>
          </a:bodyPr>
          <a:lstStyle/>
          <a:p>
            <a:pPr algn="r">
              <a:buNone/>
              <a:defRPr sz="1300" b="1">
                <a:solidFill>
                  <a:srgbClr val="56657A"/>
                </a:solidFill>
                <a:latin typeface="Arial"/>
                <a:ea typeface="Arial"/>
                <a:cs typeface="Arial"/>
              </a:defRPr>
            </a:pPr>
            <a:r>
              <a:rPr sz="1300" b="1">
                <a:solidFill>
                  <a:srgbClr val="56657A"/>
                </a:solidFill>
                <a:latin typeface="Arial"/>
                <a:ea typeface="Arial"/>
                <a:cs typeface="Arial"/>
              </a:rPr>
              <a:t>07 / 19</a:t>
            </a:r>
            <a:endParaRPr/>
          </a:p>
        </p:txBody>
      </p:sp>
      <p:sp>
        <p:nvSpPr>
          <p:cNvPr id="182046239" name=""/>
          <p:cNvSpPr>
            <a:spLocks noGrp="1"/>
          </p:cNvSpPr>
          <p:nvPr/>
        </p:nvSpPr>
        <p:spPr bwMode="auto">
          <a:xfrm>
            <a:off x="742950" y="1133475"/>
            <a:ext cx="10477500" cy="609600"/>
          </a:xfrm>
          <a:prstGeom prst="rect">
            <a:avLst/>
          </a:prstGeom>
          <a:noFill/>
          <a:ln w="0">
            <a:noFill/>
          </a:ln>
        </p:spPr>
        <p:txBody>
          <a:bodyPr anchor="ctr">
            <a:normAutofit fontScale="100000"/>
          </a:bodyPr>
          <a:lstStyle/>
          <a:p>
            <a:pPr algn="l">
              <a:buNone/>
              <a:defRPr sz="2050" b="0">
                <a:solidFill>
                  <a:srgbClr val="56657A"/>
                </a:solidFill>
                <a:latin typeface="Arial"/>
                <a:ea typeface="Arial"/>
                <a:cs typeface="Arial"/>
              </a:defRPr>
            </a:pPr>
            <a:r>
              <a:rPr sz="2050" b="0">
                <a:solidFill>
                  <a:schemeClr val="tx1"/>
                </a:solidFill>
                <a:latin typeface="Arial"/>
                <a:ea typeface="Arial"/>
                <a:cs typeface="Arial"/>
              </a:rPr>
              <a:t>La navegación permite empezar una cita o consultar información antes de decidir.</a:t>
            </a:r>
            <a:endParaRPr>
              <a:solidFill>
                <a:schemeClr val="tx1"/>
              </a:solidFill>
            </a:endParaRPr>
          </a:p>
        </p:txBody>
      </p:sp>
      <p:sp>
        <p:nvSpPr>
          <p:cNvPr id="1426245639" name=""/>
          <p:cNvSpPr>
            <a:spLocks noGrp="1"/>
          </p:cNvSpPr>
          <p:nvPr/>
        </p:nvSpPr>
        <p:spPr bwMode="auto">
          <a:xfrm>
            <a:off x="762000" y="2095500"/>
            <a:ext cx="819150" cy="542925"/>
          </a:xfrm>
          <a:prstGeom prst="rect">
            <a:avLst/>
          </a:prstGeom>
          <a:noFill/>
          <a:ln w="0">
            <a:noFill/>
          </a:ln>
        </p:spPr>
        <p:txBody>
          <a:bodyPr anchor="ctr">
            <a:normAutofit fontScale="100000"/>
          </a:bodyPr>
          <a:lstStyle/>
          <a:p>
            <a:pPr algn="l">
              <a:buNone/>
              <a:defRPr sz="2950" b="1">
                <a:solidFill>
                  <a:srgbClr val="F0745B"/>
                </a:solidFill>
                <a:latin typeface="Arial"/>
                <a:ea typeface="Arial"/>
                <a:cs typeface="Arial"/>
              </a:defRPr>
            </a:pPr>
            <a:r>
              <a:rPr sz="2950" b="1">
                <a:solidFill>
                  <a:srgbClr val="F0745B"/>
                </a:solidFill>
                <a:latin typeface="Arial"/>
                <a:ea typeface="Arial"/>
                <a:cs typeface="Arial"/>
              </a:rPr>
              <a:t>01</a:t>
            </a:r>
            <a:endParaRPr/>
          </a:p>
        </p:txBody>
      </p:sp>
      <p:sp>
        <p:nvSpPr>
          <p:cNvPr id="962491316" name=""/>
          <p:cNvSpPr>
            <a:spLocks noGrp="1"/>
          </p:cNvSpPr>
          <p:nvPr/>
        </p:nvSpPr>
        <p:spPr bwMode="auto">
          <a:xfrm>
            <a:off x="1609724" y="2124075"/>
            <a:ext cx="4000500" cy="514350"/>
          </a:xfrm>
          <a:prstGeom prst="rect">
            <a:avLst/>
          </a:prstGeom>
          <a:noFill/>
          <a:ln w="0">
            <a:noFill/>
          </a:ln>
        </p:spPr>
        <p:txBody>
          <a:bodyPr anchor="ctr">
            <a:normAutofit fontScale="100000"/>
          </a:bodyPr>
          <a:lstStyle/>
          <a:p>
            <a:pPr algn="l">
              <a:buNone/>
              <a:defRPr sz="2050" b="1">
                <a:solidFill>
                  <a:srgbClr val="102653"/>
                </a:solidFill>
                <a:latin typeface="Arial"/>
                <a:ea typeface="Arial"/>
                <a:cs typeface="Arial"/>
              </a:defRPr>
            </a:pPr>
            <a:r>
              <a:rPr sz="2050" b="1">
                <a:solidFill>
                  <a:srgbClr val="102653"/>
                </a:solidFill>
                <a:latin typeface="Arial"/>
                <a:ea typeface="Arial"/>
                <a:cs typeface="Arial"/>
              </a:rPr>
              <a:t>Registro y solicitud</a:t>
            </a:r>
            <a:endParaRPr/>
          </a:p>
        </p:txBody>
      </p:sp>
      <p:sp>
        <p:nvSpPr>
          <p:cNvPr id="1678821641" name=""/>
          <p:cNvSpPr>
            <a:spLocks noGrp="1"/>
          </p:cNvSpPr>
          <p:nvPr/>
        </p:nvSpPr>
        <p:spPr bwMode="auto">
          <a:xfrm>
            <a:off x="762000" y="2847975"/>
            <a:ext cx="4476750" cy="19050"/>
          </a:xfrm>
          <a:prstGeom prst="rect">
            <a:avLst/>
          </a:prstGeom>
          <a:solidFill>
            <a:srgbClr val="C8D3DA"/>
          </a:solidFill>
          <a:ln w="0">
            <a:solidFill>
              <a:srgbClr val="C8D3DA"/>
            </a:solidFill>
          </a:ln>
        </p:spPr>
      </p:sp>
      <p:sp>
        <p:nvSpPr>
          <p:cNvPr id="935643764" name=""/>
          <p:cNvSpPr>
            <a:spLocks noGrp="1"/>
          </p:cNvSpPr>
          <p:nvPr/>
        </p:nvSpPr>
        <p:spPr bwMode="auto">
          <a:xfrm>
            <a:off x="762000" y="3076574"/>
            <a:ext cx="819150" cy="542925"/>
          </a:xfrm>
          <a:prstGeom prst="rect">
            <a:avLst/>
          </a:prstGeom>
          <a:noFill/>
          <a:ln w="0">
            <a:noFill/>
          </a:ln>
        </p:spPr>
        <p:txBody>
          <a:bodyPr anchor="ctr">
            <a:normAutofit fontScale="100000"/>
          </a:bodyPr>
          <a:lstStyle/>
          <a:p>
            <a:pPr algn="l">
              <a:buNone/>
              <a:defRPr sz="2950" b="1">
                <a:solidFill>
                  <a:srgbClr val="F0745B"/>
                </a:solidFill>
                <a:latin typeface="Arial"/>
                <a:ea typeface="Arial"/>
                <a:cs typeface="Arial"/>
              </a:defRPr>
            </a:pPr>
            <a:r>
              <a:rPr sz="2950" b="1">
                <a:solidFill>
                  <a:srgbClr val="F0745B"/>
                </a:solidFill>
                <a:latin typeface="Arial"/>
                <a:ea typeface="Arial"/>
                <a:cs typeface="Arial"/>
              </a:rPr>
              <a:t>02</a:t>
            </a:r>
            <a:endParaRPr/>
          </a:p>
        </p:txBody>
      </p:sp>
      <p:sp>
        <p:nvSpPr>
          <p:cNvPr id="966027534" name=""/>
          <p:cNvSpPr>
            <a:spLocks noGrp="1"/>
          </p:cNvSpPr>
          <p:nvPr/>
        </p:nvSpPr>
        <p:spPr bwMode="auto">
          <a:xfrm>
            <a:off x="1609724" y="3105150"/>
            <a:ext cx="4000500" cy="514350"/>
          </a:xfrm>
          <a:prstGeom prst="rect">
            <a:avLst/>
          </a:prstGeom>
          <a:noFill/>
          <a:ln w="0">
            <a:noFill/>
          </a:ln>
        </p:spPr>
        <p:txBody>
          <a:bodyPr anchor="ctr">
            <a:normAutofit fontScale="100000"/>
          </a:bodyPr>
          <a:lstStyle/>
          <a:p>
            <a:pPr algn="l">
              <a:buNone/>
              <a:defRPr sz="2050" b="1">
                <a:solidFill>
                  <a:srgbClr val="102653"/>
                </a:solidFill>
                <a:latin typeface="Arial"/>
                <a:ea typeface="Arial"/>
                <a:cs typeface="Arial"/>
              </a:defRPr>
            </a:pPr>
            <a:r>
              <a:rPr sz="2050" b="1">
                <a:solidFill>
                  <a:srgbClr val="102653"/>
                </a:solidFill>
                <a:latin typeface="Arial"/>
                <a:ea typeface="Arial"/>
                <a:cs typeface="Arial"/>
              </a:rPr>
              <a:t>Profesionales y horarios</a:t>
            </a:r>
            <a:endParaRPr/>
          </a:p>
        </p:txBody>
      </p:sp>
      <p:sp>
        <p:nvSpPr>
          <p:cNvPr id="764019488" name=""/>
          <p:cNvSpPr>
            <a:spLocks noGrp="1"/>
          </p:cNvSpPr>
          <p:nvPr/>
        </p:nvSpPr>
        <p:spPr bwMode="auto">
          <a:xfrm>
            <a:off x="762000" y="3829050"/>
            <a:ext cx="4476750" cy="19050"/>
          </a:xfrm>
          <a:prstGeom prst="rect">
            <a:avLst/>
          </a:prstGeom>
          <a:solidFill>
            <a:srgbClr val="C8D3DA"/>
          </a:solidFill>
          <a:ln w="0">
            <a:solidFill>
              <a:srgbClr val="C8D3DA"/>
            </a:solidFill>
          </a:ln>
        </p:spPr>
      </p:sp>
      <p:sp>
        <p:nvSpPr>
          <p:cNvPr id="2115735032" name=""/>
          <p:cNvSpPr>
            <a:spLocks noGrp="1"/>
          </p:cNvSpPr>
          <p:nvPr/>
        </p:nvSpPr>
        <p:spPr bwMode="auto">
          <a:xfrm>
            <a:off x="762000" y="4057650"/>
            <a:ext cx="819150" cy="542925"/>
          </a:xfrm>
          <a:prstGeom prst="rect">
            <a:avLst/>
          </a:prstGeom>
          <a:noFill/>
          <a:ln w="0">
            <a:noFill/>
          </a:ln>
        </p:spPr>
        <p:txBody>
          <a:bodyPr anchor="ctr">
            <a:normAutofit fontScale="100000"/>
          </a:bodyPr>
          <a:lstStyle/>
          <a:p>
            <a:pPr algn="l">
              <a:buNone/>
              <a:defRPr sz="2950" b="1">
                <a:solidFill>
                  <a:srgbClr val="F0745B"/>
                </a:solidFill>
                <a:latin typeface="Arial"/>
                <a:ea typeface="Arial"/>
                <a:cs typeface="Arial"/>
              </a:defRPr>
            </a:pPr>
            <a:r>
              <a:rPr sz="2950" b="1">
                <a:solidFill>
                  <a:srgbClr val="F0745B"/>
                </a:solidFill>
                <a:latin typeface="Arial"/>
                <a:ea typeface="Arial"/>
                <a:cs typeface="Arial"/>
              </a:rPr>
              <a:t>03</a:t>
            </a:r>
            <a:endParaRPr/>
          </a:p>
        </p:txBody>
      </p:sp>
      <p:sp>
        <p:nvSpPr>
          <p:cNvPr id="775691164" name=""/>
          <p:cNvSpPr>
            <a:spLocks noGrp="1"/>
          </p:cNvSpPr>
          <p:nvPr/>
        </p:nvSpPr>
        <p:spPr bwMode="auto">
          <a:xfrm>
            <a:off x="1609724" y="4086225"/>
            <a:ext cx="4000500" cy="514350"/>
          </a:xfrm>
          <a:prstGeom prst="rect">
            <a:avLst/>
          </a:prstGeom>
          <a:noFill/>
          <a:ln w="0">
            <a:noFill/>
          </a:ln>
        </p:spPr>
        <p:txBody>
          <a:bodyPr anchor="ctr">
            <a:normAutofit fontScale="100000"/>
          </a:bodyPr>
          <a:lstStyle/>
          <a:p>
            <a:pPr algn="l">
              <a:buNone/>
              <a:defRPr sz="2050" b="1">
                <a:solidFill>
                  <a:srgbClr val="102653"/>
                </a:solidFill>
                <a:latin typeface="Arial"/>
                <a:ea typeface="Arial"/>
                <a:cs typeface="Arial"/>
              </a:defRPr>
            </a:pPr>
            <a:r>
              <a:rPr sz="2050" b="1">
                <a:solidFill>
                  <a:srgbClr val="102653"/>
                </a:solidFill>
                <a:latin typeface="Arial"/>
                <a:ea typeface="Arial"/>
                <a:cs typeface="Arial"/>
              </a:rPr>
              <a:t>Historial y recordatorios</a:t>
            </a:r>
            <a:endParaRPr/>
          </a:p>
        </p:txBody>
      </p:sp>
      <p:sp>
        <p:nvSpPr>
          <p:cNvPr id="1252472326" name=""/>
          <p:cNvSpPr>
            <a:spLocks noGrp="1"/>
          </p:cNvSpPr>
          <p:nvPr/>
        </p:nvSpPr>
        <p:spPr bwMode="auto">
          <a:xfrm>
            <a:off x="762000" y="4810125"/>
            <a:ext cx="4476750" cy="19050"/>
          </a:xfrm>
          <a:prstGeom prst="rect">
            <a:avLst/>
          </a:prstGeom>
          <a:solidFill>
            <a:srgbClr val="C8D3DA"/>
          </a:solidFill>
          <a:ln w="0">
            <a:solidFill>
              <a:srgbClr val="C8D3DA"/>
            </a:solidFill>
          </a:ln>
        </p:spPr>
      </p:sp>
      <p:sp>
        <p:nvSpPr>
          <p:cNvPr id="257738366" name=""/>
          <p:cNvSpPr>
            <a:spLocks noGrp="1"/>
          </p:cNvSpPr>
          <p:nvPr/>
        </p:nvSpPr>
        <p:spPr bwMode="auto">
          <a:xfrm>
            <a:off x="762000" y="5038725"/>
            <a:ext cx="819150" cy="542925"/>
          </a:xfrm>
          <a:prstGeom prst="rect">
            <a:avLst/>
          </a:prstGeom>
          <a:noFill/>
          <a:ln w="0">
            <a:noFill/>
          </a:ln>
        </p:spPr>
        <p:txBody>
          <a:bodyPr anchor="ctr">
            <a:normAutofit fontScale="100000"/>
          </a:bodyPr>
          <a:lstStyle/>
          <a:p>
            <a:pPr algn="l">
              <a:buNone/>
              <a:defRPr sz="2950" b="1">
                <a:solidFill>
                  <a:srgbClr val="F0745B"/>
                </a:solidFill>
                <a:latin typeface="Arial"/>
                <a:ea typeface="Arial"/>
                <a:cs typeface="Arial"/>
              </a:defRPr>
            </a:pPr>
            <a:r>
              <a:rPr sz="2950" b="1">
                <a:solidFill>
                  <a:srgbClr val="F0745B"/>
                </a:solidFill>
                <a:latin typeface="Arial"/>
                <a:ea typeface="Arial"/>
                <a:cs typeface="Arial"/>
              </a:rPr>
              <a:t>04</a:t>
            </a:r>
            <a:endParaRPr/>
          </a:p>
        </p:txBody>
      </p:sp>
      <p:sp>
        <p:nvSpPr>
          <p:cNvPr id="1799575471" name=""/>
          <p:cNvSpPr>
            <a:spLocks noGrp="1"/>
          </p:cNvSpPr>
          <p:nvPr/>
        </p:nvSpPr>
        <p:spPr bwMode="auto">
          <a:xfrm>
            <a:off x="1609724" y="5067300"/>
            <a:ext cx="4000500" cy="514350"/>
          </a:xfrm>
          <a:prstGeom prst="rect">
            <a:avLst/>
          </a:prstGeom>
          <a:noFill/>
          <a:ln w="0">
            <a:noFill/>
          </a:ln>
        </p:spPr>
        <p:txBody>
          <a:bodyPr anchor="ctr">
            <a:normAutofit fontScale="100000"/>
          </a:bodyPr>
          <a:lstStyle/>
          <a:p>
            <a:pPr algn="l">
              <a:buNone/>
              <a:defRPr sz="2050" b="1">
                <a:solidFill>
                  <a:srgbClr val="102653"/>
                </a:solidFill>
                <a:latin typeface="Arial"/>
                <a:ea typeface="Arial"/>
                <a:cs typeface="Arial"/>
              </a:defRPr>
            </a:pPr>
            <a:r>
              <a:rPr sz="2050" b="1">
                <a:solidFill>
                  <a:srgbClr val="102653"/>
                </a:solidFill>
                <a:latin typeface="Arial"/>
                <a:ea typeface="Arial"/>
                <a:cs typeface="Arial"/>
              </a:rPr>
              <a:t>Ejercicios y centro</a:t>
            </a:r>
            <a:endParaRPr/>
          </a:p>
        </p:txBody>
      </p:sp>
      <p:sp>
        <p:nvSpPr>
          <p:cNvPr id="270852997" name=""/>
          <p:cNvSpPr>
            <a:spLocks noGrp="1"/>
          </p:cNvSpPr>
          <p:nvPr/>
        </p:nvSpPr>
        <p:spPr bwMode="auto">
          <a:xfrm>
            <a:off x="762000" y="5791200"/>
            <a:ext cx="4476750" cy="19050"/>
          </a:xfrm>
          <a:prstGeom prst="rect">
            <a:avLst/>
          </a:prstGeom>
          <a:solidFill>
            <a:srgbClr val="C8D3DA"/>
          </a:solidFill>
          <a:ln w="0">
            <a:solidFill>
              <a:srgbClr val="C8D3DA"/>
            </a:solidFill>
          </a:ln>
        </p:spPr>
      </p:sp>
      <p:sp>
        <p:nvSpPr>
          <p:cNvPr id="760380945" name=""/>
          <p:cNvSpPr>
            <a:spLocks noGrp="1"/>
          </p:cNvSpPr>
          <p:nvPr/>
        </p:nvSpPr>
        <p:spPr bwMode="auto">
          <a:xfrm>
            <a:off x="5905500" y="1743075"/>
            <a:ext cx="5619750" cy="4200525"/>
          </a:xfrm>
          <a:prstGeom prst="rect">
            <a:avLst/>
          </a:prstGeom>
          <a:solidFill>
            <a:srgbClr val="FFFFFF"/>
          </a:solidFill>
          <a:ln w="0">
            <a:solidFill>
              <a:srgbClr val="FFFFFF"/>
            </a:solidFill>
          </a:ln>
        </p:spPr>
      </p:sp>
      <p:pic>
        <p:nvPicPr>
          <p:cNvPr id="1192930937" name=""/>
          <p:cNvPicPr>
            <a:picLocks noChangeAspect="1"/>
          </p:cNvPicPr>
          <p:nvPr/>
        </p:nvPicPr>
        <p:blipFill rotWithShape="1">
          <a:blip r:embed="rId3"/>
          <a:stretch/>
        </p:blipFill>
        <p:spPr bwMode="auto">
          <a:xfrm>
            <a:off x="6048375" y="2171700"/>
            <a:ext cx="5334000" cy="3333750"/>
          </a:xfrm>
          <a:prstGeom prst="rect">
            <a:avLst/>
          </a:prstGeom>
        </p:spPr>
      </p:pic>
      <p:sp>
        <p:nvSpPr>
          <p:cNvPr id="719927924" name=""/>
          <p:cNvSpPr>
            <a:spLocks noGrp="1"/>
          </p:cNvSpPr>
          <p:nvPr/>
        </p:nvSpPr>
        <p:spPr bwMode="auto">
          <a:xfrm>
            <a:off x="6191250" y="6038850"/>
            <a:ext cx="4762500" cy="285750"/>
          </a:xfrm>
          <a:prstGeom prst="rect">
            <a:avLst/>
          </a:prstGeom>
          <a:noFill/>
          <a:ln w="0">
            <a:noFill/>
          </a:ln>
        </p:spPr>
        <p:txBody>
          <a:bodyPr anchor="ctr">
            <a:normAutofit fontScale="100000"/>
          </a:bodyPr>
          <a:lstStyle/>
          <a:p>
            <a:pPr algn="l">
              <a:buNone/>
              <a:defRPr sz="1300" b="0">
                <a:solidFill>
                  <a:srgbClr val="56657A"/>
                </a:solidFill>
                <a:latin typeface="Arial"/>
                <a:ea typeface="Arial"/>
                <a:cs typeface="Arial"/>
              </a:defRPr>
            </a:pPr>
            <a:r>
              <a:rPr sz="1300" b="0">
                <a:solidFill>
                  <a:srgbClr val="56657A"/>
                </a:solidFill>
                <a:latin typeface="Arial"/>
                <a:ea typeface="Arial"/>
                <a:cs typeface="Arial"/>
              </a:rPr>
              <a:t>Pantalla de inicio del prototipo</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8F6F1"/>
        </a:solidFill>
      </p:bgPr>
    </p:bg>
    <p:spTree>
      <p:nvGrpSpPr>
        <p:cNvPr id="1" name=""/>
        <p:cNvGrpSpPr/>
        <p:nvPr/>
      </p:nvGrpSpPr>
      <p:grpSpPr bwMode="auto">
        <a:xfrm>
          <a:off x="0" y="0"/>
          <a:ext cx="0" cy="0"/>
          <a:chOff x="0" y="0"/>
          <a:chExt cx="0" cy="0"/>
        </a:xfrm>
      </p:grpSpPr>
      <p:sp>
        <p:nvSpPr>
          <p:cNvPr id="1932643115" name=""/>
          <p:cNvSpPr>
            <a:spLocks noGrp="1"/>
          </p:cNvSpPr>
          <p:nvPr/>
        </p:nvSpPr>
        <p:spPr bwMode="auto">
          <a:xfrm>
            <a:off x="495300" y="419100"/>
            <a:ext cx="57150" cy="514350"/>
          </a:xfrm>
          <a:prstGeom prst="rect">
            <a:avLst/>
          </a:prstGeom>
          <a:solidFill>
            <a:srgbClr val="F0745B"/>
          </a:solidFill>
          <a:ln w="0">
            <a:solidFill>
              <a:srgbClr val="F0745B"/>
            </a:solidFill>
            <a:prstDash val="solid"/>
          </a:ln>
        </p:spPr>
      </p:sp>
      <p:sp>
        <p:nvSpPr>
          <p:cNvPr id="464767" name=""/>
          <p:cNvSpPr>
            <a:spLocks noGrp="1"/>
          </p:cNvSpPr>
          <p:nvPr/>
        </p:nvSpPr>
        <p:spPr bwMode="auto">
          <a:xfrm>
            <a:off x="742950" y="400050"/>
            <a:ext cx="9810750" cy="619125"/>
          </a:xfrm>
          <a:prstGeom prst="rect">
            <a:avLst/>
          </a:prstGeom>
          <a:noFill/>
          <a:ln w="0">
            <a:noFill/>
            <a:prstDash val="solid"/>
          </a:ln>
        </p:spPr>
        <p:txBody>
          <a:bodyPr/>
          <a:lstStyle>
            <a:defPPr algn="l">
              <a:defRPr sz="3000" b="1">
                <a:solidFill>
                  <a:srgbClr val="102653"/>
                </a:solidFill>
                <a:latin typeface="Arial"/>
                <a:ea typeface="Arial"/>
                <a:cs typeface="Arial"/>
              </a:defRPr>
            </a:defPPr>
          </a:lstStyle>
          <a:p>
            <a:pPr algn="l">
              <a:defRPr sz="3000" b="1">
                <a:solidFill>
                  <a:srgbClr val="102653"/>
                </a:solidFill>
                <a:latin typeface="Arial"/>
                <a:ea typeface="Arial"/>
                <a:cs typeface="Arial"/>
              </a:defRPr>
            </a:pPr>
            <a:r>
              <a:rPr sz="3000" b="1">
                <a:solidFill>
                  <a:srgbClr val="102653"/>
                </a:solidFill>
                <a:latin typeface="Arial"/>
                <a:ea typeface="Arial"/>
                <a:cs typeface="Arial"/>
              </a:rPr>
              <a:t>RECURSOS DE INTERFAZ Y SU PROPÓSITO</a:t>
            </a:r>
            <a:endParaRPr/>
          </a:p>
        </p:txBody>
      </p:sp>
      <p:sp>
        <p:nvSpPr>
          <p:cNvPr id="1006456658" name=""/>
          <p:cNvSpPr>
            <a:spLocks noGrp="1"/>
          </p:cNvSpPr>
          <p:nvPr/>
        </p:nvSpPr>
        <p:spPr bwMode="auto">
          <a:xfrm>
            <a:off x="742950" y="1381125"/>
            <a:ext cx="4762500" cy="428625"/>
          </a:xfrm>
          <a:prstGeom prst="rect">
            <a:avLst/>
          </a:prstGeom>
          <a:noFill/>
          <a:ln w="0">
            <a:noFill/>
            <a:prstDash val="solid"/>
          </a:ln>
        </p:spPr>
        <p:txBody>
          <a:bodyPr/>
          <a:lstStyle>
            <a:defPPr algn="l">
              <a:defRPr sz="2100" b="1">
                <a:solidFill>
                  <a:srgbClr val="0055AE"/>
                </a:solidFill>
                <a:latin typeface="Arial"/>
                <a:ea typeface="Arial"/>
                <a:cs typeface="Arial"/>
              </a:defRPr>
            </a:defPPr>
          </a:lstStyle>
          <a:p>
            <a:pPr algn="l">
              <a:defRPr sz="2100" b="1">
                <a:solidFill>
                  <a:srgbClr val="0055AE"/>
                </a:solidFill>
                <a:latin typeface="Arial"/>
                <a:ea typeface="Arial"/>
                <a:cs typeface="Arial"/>
              </a:defRPr>
            </a:pPr>
            <a:r>
              <a:rPr sz="2100" b="1">
                <a:solidFill>
                  <a:srgbClr val="0055AE"/>
                </a:solidFill>
                <a:latin typeface="Arial"/>
                <a:ea typeface="Arial"/>
                <a:cs typeface="Arial"/>
              </a:rPr>
              <a:t>NAVEGACIÓN</a:t>
            </a:r>
            <a:endParaRPr/>
          </a:p>
        </p:txBody>
      </p:sp>
      <p:sp>
        <p:nvSpPr>
          <p:cNvPr id="982499423" name=""/>
          <p:cNvSpPr>
            <a:spLocks noGrp="1"/>
          </p:cNvSpPr>
          <p:nvPr/>
        </p:nvSpPr>
        <p:spPr bwMode="auto">
          <a:xfrm>
            <a:off x="742950" y="1838325"/>
            <a:ext cx="4762500" cy="1285875"/>
          </a:xfrm>
          <a:prstGeom prst="rect">
            <a:avLst/>
          </a:prstGeom>
          <a:noFill/>
          <a:ln w="0">
            <a:noFill/>
            <a:prstDash val="solid"/>
          </a:ln>
        </p:spPr>
        <p:txBody>
          <a:bodyPr/>
          <a:lstStyle>
            <a:defPPr algn="l">
              <a:defRPr sz="1750" b="0">
                <a:solidFill>
                  <a:srgbClr val="56657A"/>
                </a:solidFill>
                <a:latin typeface="Arial"/>
                <a:ea typeface="Arial"/>
                <a:cs typeface="Arial"/>
              </a:defRPr>
            </a:defPPr>
          </a:lstStyle>
          <a:p>
            <a:pPr algn="l">
              <a:defRPr sz="1750" b="0">
                <a:solidFill>
                  <a:srgbClr val="56657A"/>
                </a:solidFill>
                <a:latin typeface="Arial"/>
                <a:ea typeface="Arial"/>
                <a:cs typeface="Arial"/>
              </a:defRPr>
            </a:pPr>
            <a:r>
              <a:rPr sz="1750" b="0">
                <a:solidFill>
                  <a:srgbClr val="56657A"/>
                </a:solidFill>
                <a:latin typeface="Arial"/>
                <a:ea typeface="Arial"/>
                <a:cs typeface="Arial"/>
              </a:rPr>
              <a:t>Menú principal con las tareas más usadas. “Más” reúne calendario, ejercicios, recordatorios, centro y registro.</a:t>
            </a:r>
            <a:endParaRPr/>
          </a:p>
        </p:txBody>
      </p:sp>
      <p:sp>
        <p:nvSpPr>
          <p:cNvPr id="592566670" name=""/>
          <p:cNvSpPr>
            <a:spLocks noGrp="1"/>
          </p:cNvSpPr>
          <p:nvPr/>
        </p:nvSpPr>
        <p:spPr bwMode="auto">
          <a:xfrm>
            <a:off x="6286500" y="1381125"/>
            <a:ext cx="4953000" cy="428625"/>
          </a:xfrm>
          <a:prstGeom prst="rect">
            <a:avLst/>
          </a:prstGeom>
          <a:noFill/>
          <a:ln w="0">
            <a:noFill/>
            <a:prstDash val="solid"/>
          </a:ln>
        </p:spPr>
        <p:txBody>
          <a:bodyPr/>
          <a:lstStyle>
            <a:defPPr algn="l">
              <a:defRPr sz="2100" b="1">
                <a:solidFill>
                  <a:srgbClr val="0055AE"/>
                </a:solidFill>
                <a:latin typeface="Arial"/>
                <a:ea typeface="Arial"/>
                <a:cs typeface="Arial"/>
              </a:defRPr>
            </a:defPPr>
          </a:lstStyle>
          <a:p>
            <a:pPr algn="l">
              <a:defRPr sz="2100" b="1">
                <a:solidFill>
                  <a:srgbClr val="0055AE"/>
                </a:solidFill>
                <a:latin typeface="Arial"/>
                <a:ea typeface="Arial"/>
                <a:cs typeface="Arial"/>
              </a:defRPr>
            </a:pPr>
            <a:r>
              <a:rPr sz="2100" b="1">
                <a:solidFill>
                  <a:srgbClr val="0055AE"/>
                </a:solidFill>
                <a:latin typeface="Arial"/>
                <a:ea typeface="Arial"/>
                <a:cs typeface="Arial"/>
              </a:rPr>
              <a:t>FORMULARIOS</a:t>
            </a:r>
            <a:endParaRPr/>
          </a:p>
        </p:txBody>
      </p:sp>
      <p:sp>
        <p:nvSpPr>
          <p:cNvPr id="2135970120" name=""/>
          <p:cNvSpPr>
            <a:spLocks noGrp="1"/>
          </p:cNvSpPr>
          <p:nvPr/>
        </p:nvSpPr>
        <p:spPr bwMode="auto">
          <a:xfrm>
            <a:off x="6286500" y="1838325"/>
            <a:ext cx="4953000" cy="1285875"/>
          </a:xfrm>
          <a:prstGeom prst="rect">
            <a:avLst/>
          </a:prstGeom>
          <a:noFill/>
          <a:ln w="0">
            <a:noFill/>
            <a:prstDash val="solid"/>
          </a:ln>
        </p:spPr>
        <p:txBody>
          <a:bodyPr/>
          <a:lstStyle>
            <a:defPPr algn="l">
              <a:defRPr sz="1750" b="0">
                <a:solidFill>
                  <a:srgbClr val="56657A"/>
                </a:solidFill>
                <a:latin typeface="Arial"/>
                <a:ea typeface="Arial"/>
                <a:cs typeface="Arial"/>
              </a:defRPr>
            </a:defPPr>
          </a:lstStyle>
          <a:p>
            <a:pPr algn="l">
              <a:defRPr sz="1750" b="0">
                <a:solidFill>
                  <a:srgbClr val="56657A"/>
                </a:solidFill>
                <a:latin typeface="Arial"/>
                <a:ea typeface="Arial"/>
                <a:cs typeface="Arial"/>
              </a:defRPr>
            </a:pPr>
            <a:r>
              <a:rPr sz="1750" b="0">
                <a:solidFill>
                  <a:srgbClr val="56657A"/>
                </a:solidFill>
                <a:latin typeface="Arial"/>
                <a:ea typeface="Arial"/>
                <a:cs typeface="Arial"/>
              </a:rPr>
              <a:t>Etiquetas, selectores y mensajes dicen qué dato se necesita. Si algo falta, el aviso señala cómo corregirlo.</a:t>
            </a:r>
            <a:endParaRPr/>
          </a:p>
        </p:txBody>
      </p:sp>
      <p:sp>
        <p:nvSpPr>
          <p:cNvPr id="1504148036" name=""/>
          <p:cNvSpPr>
            <a:spLocks noGrp="1"/>
          </p:cNvSpPr>
          <p:nvPr/>
        </p:nvSpPr>
        <p:spPr bwMode="auto">
          <a:xfrm>
            <a:off x="742950" y="3362324"/>
            <a:ext cx="10496550" cy="19050"/>
          </a:xfrm>
          <a:prstGeom prst="rect">
            <a:avLst/>
          </a:prstGeom>
          <a:solidFill>
            <a:srgbClr val="C8D3DA"/>
          </a:solidFill>
          <a:ln w="0">
            <a:solidFill>
              <a:srgbClr val="C8D3DA"/>
            </a:solidFill>
            <a:prstDash val="solid"/>
          </a:ln>
        </p:spPr>
      </p:sp>
      <p:sp>
        <p:nvSpPr>
          <p:cNvPr id="860537689" name=""/>
          <p:cNvSpPr>
            <a:spLocks noGrp="1"/>
          </p:cNvSpPr>
          <p:nvPr/>
        </p:nvSpPr>
        <p:spPr bwMode="auto">
          <a:xfrm>
            <a:off x="742950" y="3600450"/>
            <a:ext cx="4762500" cy="428625"/>
          </a:xfrm>
          <a:prstGeom prst="rect">
            <a:avLst/>
          </a:prstGeom>
          <a:noFill/>
          <a:ln w="0">
            <a:noFill/>
            <a:prstDash val="solid"/>
          </a:ln>
        </p:spPr>
        <p:txBody>
          <a:bodyPr/>
          <a:lstStyle>
            <a:defPPr algn="l">
              <a:defRPr sz="2100" b="1">
                <a:solidFill>
                  <a:srgbClr val="0055AE"/>
                </a:solidFill>
                <a:latin typeface="Arial"/>
                <a:ea typeface="Arial"/>
                <a:cs typeface="Arial"/>
              </a:defRPr>
            </a:defPPr>
          </a:lstStyle>
          <a:p>
            <a:pPr algn="l">
              <a:defRPr sz="2100" b="1">
                <a:solidFill>
                  <a:srgbClr val="0055AE"/>
                </a:solidFill>
                <a:latin typeface="Arial"/>
                <a:ea typeface="Arial"/>
                <a:cs typeface="Arial"/>
              </a:defRPr>
            </a:pPr>
            <a:r>
              <a:rPr sz="2100" b="1">
                <a:solidFill>
                  <a:srgbClr val="0055AE"/>
                </a:solidFill>
                <a:latin typeface="Arial"/>
                <a:ea typeface="Arial"/>
                <a:cs typeface="Arial"/>
              </a:rPr>
              <a:t>LECTURA Y CONTRASTE</a:t>
            </a:r>
            <a:endParaRPr/>
          </a:p>
        </p:txBody>
      </p:sp>
      <p:sp>
        <p:nvSpPr>
          <p:cNvPr id="17245769" name=""/>
          <p:cNvSpPr>
            <a:spLocks noGrp="1"/>
          </p:cNvSpPr>
          <p:nvPr/>
        </p:nvSpPr>
        <p:spPr bwMode="auto">
          <a:xfrm>
            <a:off x="742950" y="4057650"/>
            <a:ext cx="4762500" cy="1285875"/>
          </a:xfrm>
          <a:prstGeom prst="rect">
            <a:avLst/>
          </a:prstGeom>
          <a:noFill/>
          <a:ln w="0">
            <a:noFill/>
            <a:prstDash val="solid"/>
          </a:ln>
        </p:spPr>
        <p:txBody>
          <a:bodyPr/>
          <a:lstStyle>
            <a:defPPr algn="l">
              <a:defRPr sz="1750" b="0">
                <a:solidFill>
                  <a:srgbClr val="56657A"/>
                </a:solidFill>
                <a:latin typeface="Arial"/>
                <a:ea typeface="Arial"/>
                <a:cs typeface="Arial"/>
              </a:defRPr>
            </a:defPPr>
          </a:lstStyle>
          <a:p>
            <a:pPr algn="l">
              <a:defRPr sz="1750" b="0">
                <a:solidFill>
                  <a:srgbClr val="56657A"/>
                </a:solidFill>
                <a:latin typeface="Arial"/>
                <a:ea typeface="Arial"/>
                <a:cs typeface="Arial"/>
              </a:defRPr>
            </a:pPr>
            <a:r>
              <a:rPr sz="1750" b="0">
                <a:solidFill>
                  <a:srgbClr val="56657A"/>
                </a:solidFill>
                <a:latin typeface="Arial"/>
                <a:ea typeface="Arial"/>
                <a:cs typeface="Arial"/>
              </a:rPr>
              <a:t>El usuario puede ampliar el texto, activar alto contraste y aumentar los botones desde cualquier sección.</a:t>
            </a:r>
            <a:endParaRPr/>
          </a:p>
        </p:txBody>
      </p:sp>
      <p:sp>
        <p:nvSpPr>
          <p:cNvPr id="1899638634" name=""/>
          <p:cNvSpPr>
            <a:spLocks noGrp="1"/>
          </p:cNvSpPr>
          <p:nvPr/>
        </p:nvSpPr>
        <p:spPr bwMode="auto">
          <a:xfrm>
            <a:off x="6286500" y="3600450"/>
            <a:ext cx="4953000" cy="428625"/>
          </a:xfrm>
          <a:prstGeom prst="rect">
            <a:avLst/>
          </a:prstGeom>
          <a:noFill/>
          <a:ln w="0">
            <a:noFill/>
            <a:prstDash val="solid"/>
          </a:ln>
        </p:spPr>
        <p:txBody>
          <a:bodyPr/>
          <a:lstStyle>
            <a:defPPr algn="l">
              <a:defRPr sz="2100" b="1">
                <a:solidFill>
                  <a:srgbClr val="0055AE"/>
                </a:solidFill>
                <a:latin typeface="Arial"/>
                <a:ea typeface="Arial"/>
                <a:cs typeface="Arial"/>
              </a:defRPr>
            </a:defPPr>
          </a:lstStyle>
          <a:p>
            <a:pPr algn="l">
              <a:defRPr sz="2100" b="1">
                <a:solidFill>
                  <a:srgbClr val="0055AE"/>
                </a:solidFill>
                <a:latin typeface="Arial"/>
                <a:ea typeface="Arial"/>
                <a:cs typeface="Arial"/>
              </a:defRPr>
            </a:pPr>
            <a:r>
              <a:rPr sz="2100" b="1">
                <a:solidFill>
                  <a:srgbClr val="0055AE"/>
                </a:solidFill>
                <a:latin typeface="Arial"/>
                <a:ea typeface="Arial"/>
                <a:cs typeface="Arial"/>
              </a:rPr>
              <a:t>CONTENIDO MULTIMEDIA</a:t>
            </a:r>
            <a:endParaRPr/>
          </a:p>
        </p:txBody>
      </p:sp>
      <p:sp>
        <p:nvSpPr>
          <p:cNvPr id="1328329829" name=""/>
          <p:cNvSpPr>
            <a:spLocks noGrp="1"/>
          </p:cNvSpPr>
          <p:nvPr/>
        </p:nvSpPr>
        <p:spPr bwMode="auto">
          <a:xfrm>
            <a:off x="6286500" y="4057650"/>
            <a:ext cx="4953000" cy="1285875"/>
          </a:xfrm>
          <a:prstGeom prst="rect">
            <a:avLst/>
          </a:prstGeom>
          <a:noFill/>
          <a:ln w="0">
            <a:noFill/>
            <a:prstDash val="solid"/>
          </a:ln>
        </p:spPr>
        <p:txBody>
          <a:bodyPr/>
          <a:lstStyle>
            <a:defPPr algn="l">
              <a:defRPr sz="1750" b="0">
                <a:solidFill>
                  <a:srgbClr val="56657A"/>
                </a:solidFill>
                <a:latin typeface="Arial"/>
                <a:ea typeface="Arial"/>
                <a:cs typeface="Arial"/>
              </a:defRPr>
            </a:defPPr>
          </a:lstStyle>
          <a:p>
            <a:pPr algn="l">
              <a:defRPr sz="1750" b="0">
                <a:solidFill>
                  <a:srgbClr val="56657A"/>
                </a:solidFill>
                <a:latin typeface="Arial"/>
                <a:ea typeface="Arial"/>
                <a:cs typeface="Arial"/>
              </a:defRPr>
            </a:pPr>
            <a:r>
              <a:rPr sz="1750" b="0">
                <a:solidFill>
                  <a:srgbClr val="56657A"/>
                </a:solidFill>
                <a:latin typeface="Arial"/>
                <a:ea typeface="Arial"/>
                <a:cs typeface="Arial"/>
              </a:rPr>
              <a:t>Los ejercicios incluyen video, subtítulos sincronizados y transcripción para revisar o escuchar las indicaciones.</a:t>
            </a:r>
            <a:endParaRPr/>
          </a:p>
        </p:txBody>
      </p:sp>
      <p:sp>
        <p:nvSpPr>
          <p:cNvPr id="2120286687" name=""/>
          <p:cNvSpPr>
            <a:spLocks noGrp="1"/>
          </p:cNvSpPr>
          <p:nvPr/>
        </p:nvSpPr>
        <p:spPr bwMode="auto">
          <a:xfrm>
            <a:off x="742950" y="5572125"/>
            <a:ext cx="10496550" cy="19050"/>
          </a:xfrm>
          <a:prstGeom prst="rect">
            <a:avLst/>
          </a:prstGeom>
          <a:solidFill>
            <a:srgbClr val="C8D3DA"/>
          </a:solidFill>
          <a:ln w="0">
            <a:solidFill>
              <a:srgbClr val="C8D3DA"/>
            </a:solidFill>
            <a:prstDash val="solid"/>
          </a:ln>
        </p:spPr>
      </p:sp>
      <p:sp>
        <p:nvSpPr>
          <p:cNvPr id="1205095129" name=""/>
          <p:cNvSpPr>
            <a:spLocks noGrp="1"/>
          </p:cNvSpPr>
          <p:nvPr/>
        </p:nvSpPr>
        <p:spPr bwMode="auto">
          <a:xfrm>
            <a:off x="742950" y="5743575"/>
            <a:ext cx="10496550" cy="609600"/>
          </a:xfrm>
          <a:prstGeom prst="rect">
            <a:avLst/>
          </a:prstGeom>
          <a:noFill/>
          <a:ln w="0">
            <a:noFill/>
            <a:prstDash val="solid"/>
          </a:ln>
        </p:spPr>
        <p:txBody>
          <a:bodyPr/>
          <a:lstStyle>
            <a:defPPr algn="l">
              <a:defRPr sz="1650" b="1">
                <a:solidFill>
                  <a:srgbClr val="102653"/>
                </a:solidFill>
                <a:latin typeface="Arial"/>
                <a:ea typeface="Arial"/>
                <a:cs typeface="Arial"/>
              </a:defRPr>
            </a:defPPr>
          </a:lstStyle>
          <a:p>
            <a:pPr algn="l">
              <a:defRPr sz="1650" b="1">
                <a:solidFill>
                  <a:srgbClr val="102653"/>
                </a:solidFill>
                <a:latin typeface="Arial"/>
                <a:ea typeface="Arial"/>
                <a:cs typeface="Arial"/>
              </a:defRPr>
            </a:pPr>
            <a:r>
              <a:rPr sz="1650" b="1">
                <a:solidFill>
                  <a:srgbClr val="102653"/>
                </a:solidFill>
                <a:latin typeface="Arial"/>
                <a:ea typeface="Arial"/>
                <a:cs typeface="Arial"/>
              </a:rPr>
              <a:t>El logotipo mantiene la referencia institucional; la tipografía sans serif y los botones amplios apoyan la lectura y el uso táctil.</a:t>
            </a:r>
            <a:endParaRPr/>
          </a:p>
        </p:txBody>
      </p:sp>
      <p:sp>
        <p:nvSpPr>
          <p:cNvPr id="99029073" name=""/>
          <p:cNvSpPr>
            <a:spLocks noGrp="1"/>
          </p:cNvSpPr>
          <p:nvPr/>
        </p:nvSpPr>
        <p:spPr bwMode="auto">
          <a:xfrm>
            <a:off x="10763250" y="447675"/>
            <a:ext cx="1000125" cy="304800"/>
          </a:xfrm>
          <a:prstGeom prst="rect">
            <a:avLst/>
          </a:prstGeom>
          <a:noFill/>
          <a:ln w="0">
            <a:noFill/>
            <a:prstDash val="solid"/>
          </a:ln>
        </p:spPr>
        <p:txBody>
          <a:bodyPr/>
          <a:lstStyle>
            <a:defPPr algn="l">
              <a:defRPr sz="1300" b="1">
                <a:solidFill>
                  <a:srgbClr val="56657A"/>
                </a:solidFill>
                <a:latin typeface="Arial"/>
                <a:ea typeface="Arial"/>
                <a:cs typeface="Arial"/>
              </a:defRPr>
            </a:defPPr>
          </a:lstStyle>
          <a:p>
            <a:pPr algn="l">
              <a:defRPr sz="1300" b="1">
                <a:solidFill>
                  <a:srgbClr val="56657A"/>
                </a:solidFill>
                <a:latin typeface="Arial"/>
                <a:ea typeface="Arial"/>
                <a:cs typeface="Arial"/>
              </a:defRPr>
            </a:pPr>
            <a:r>
              <a:rPr sz="1300" b="1">
                <a:solidFill>
                  <a:srgbClr val="56657A"/>
                </a:solidFill>
                <a:latin typeface="Arial"/>
                <a:ea typeface="Arial"/>
                <a:cs typeface="Arial"/>
              </a:rPr>
              <a:t>08 / 19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8F6F1"/>
        </a:solidFill>
      </p:bgPr>
    </p:bg>
    <p:spTree>
      <p:nvGrpSpPr>
        <p:cNvPr id="1" name=""/>
        <p:cNvGrpSpPr/>
        <p:nvPr/>
      </p:nvGrpSpPr>
      <p:grpSpPr bwMode="auto">
        <a:xfrm>
          <a:off x="0" y="0"/>
          <a:ext cx="0" cy="0"/>
          <a:chOff x="0" y="0"/>
          <a:chExt cx="0" cy="0"/>
        </a:xfrm>
      </p:grpSpPr>
      <p:sp>
        <p:nvSpPr>
          <p:cNvPr id="614464647" name=""/>
          <p:cNvSpPr>
            <a:spLocks noGrp="1"/>
          </p:cNvSpPr>
          <p:nvPr/>
        </p:nvSpPr>
        <p:spPr bwMode="auto">
          <a:xfrm>
            <a:off x="495300" y="419100"/>
            <a:ext cx="57150" cy="514350"/>
          </a:xfrm>
          <a:prstGeom prst="rect">
            <a:avLst/>
          </a:prstGeom>
          <a:solidFill>
            <a:srgbClr val="F0745B"/>
          </a:solidFill>
          <a:ln w="0">
            <a:solidFill>
              <a:srgbClr val="F0745B"/>
            </a:solidFill>
          </a:ln>
        </p:spPr>
      </p:sp>
      <p:sp>
        <p:nvSpPr>
          <p:cNvPr id="1351962227" name=""/>
          <p:cNvSpPr>
            <a:spLocks noGrp="1"/>
          </p:cNvSpPr>
          <p:nvPr/>
        </p:nvSpPr>
        <p:spPr bwMode="auto">
          <a:xfrm>
            <a:off x="742950" y="400050"/>
            <a:ext cx="9810750" cy="619125"/>
          </a:xfrm>
          <a:prstGeom prst="rect">
            <a:avLst/>
          </a:prstGeom>
          <a:noFill/>
          <a:ln w="0">
            <a:noFill/>
          </a:ln>
        </p:spPr>
        <p:txBody>
          <a:bodyPr anchor="ctr">
            <a:normAutofit fontScale="100000"/>
          </a:bodyPr>
          <a:lstStyle/>
          <a:p>
            <a:pPr algn="l">
              <a:buNone/>
              <a:defRPr sz="3150" b="1">
                <a:solidFill>
                  <a:srgbClr val="102653"/>
                </a:solidFill>
                <a:latin typeface="Arial"/>
                <a:ea typeface="Arial"/>
                <a:cs typeface="Arial"/>
              </a:defRPr>
            </a:pPr>
            <a:r>
              <a:rPr sz="3150" b="1">
                <a:solidFill>
                  <a:srgbClr val="102653"/>
                </a:solidFill>
                <a:latin typeface="Arial"/>
                <a:ea typeface="Arial"/>
                <a:cs typeface="Arial"/>
              </a:rPr>
              <a:t>LA CITA SE PIDE EN TRES PASOS</a:t>
            </a:r>
            <a:endParaRPr/>
          </a:p>
        </p:txBody>
      </p:sp>
      <p:sp>
        <p:nvSpPr>
          <p:cNvPr id="2084876157" name=""/>
          <p:cNvSpPr>
            <a:spLocks noGrp="1"/>
          </p:cNvSpPr>
          <p:nvPr/>
        </p:nvSpPr>
        <p:spPr bwMode="auto">
          <a:xfrm>
            <a:off x="10763250" y="447675"/>
            <a:ext cx="904875" cy="304800"/>
          </a:xfrm>
          <a:prstGeom prst="rect">
            <a:avLst/>
          </a:prstGeom>
          <a:noFill/>
          <a:ln w="0">
            <a:noFill/>
          </a:ln>
        </p:spPr>
        <p:txBody>
          <a:bodyPr anchor="ctr">
            <a:normAutofit fontScale="100000"/>
          </a:bodyPr>
          <a:lstStyle/>
          <a:p>
            <a:pPr algn="r">
              <a:buNone/>
              <a:defRPr sz="1300" b="1">
                <a:solidFill>
                  <a:srgbClr val="56657A"/>
                </a:solidFill>
                <a:latin typeface="Arial"/>
                <a:ea typeface="Arial"/>
                <a:cs typeface="Arial"/>
              </a:defRPr>
            </a:pPr>
            <a:r>
              <a:rPr sz="1300" b="1">
                <a:solidFill>
                  <a:srgbClr val="56657A"/>
                </a:solidFill>
                <a:latin typeface="Arial"/>
                <a:ea typeface="Arial"/>
                <a:cs typeface="Arial"/>
              </a:rPr>
              <a:t>09 / 19</a:t>
            </a:r>
            <a:endParaRPr/>
          </a:p>
        </p:txBody>
      </p:sp>
      <p:sp>
        <p:nvSpPr>
          <p:cNvPr id="785844451" name=""/>
          <p:cNvSpPr>
            <a:spLocks noGrp="1"/>
          </p:cNvSpPr>
          <p:nvPr/>
        </p:nvSpPr>
        <p:spPr bwMode="auto">
          <a:xfrm>
            <a:off x="733424" y="1162050"/>
            <a:ext cx="10572750" cy="742950"/>
          </a:xfrm>
          <a:prstGeom prst="rect">
            <a:avLst/>
          </a:prstGeom>
          <a:noFill/>
          <a:ln w="0">
            <a:noFill/>
          </a:ln>
        </p:spPr>
        <p:txBody>
          <a:bodyPr anchor="ctr">
            <a:normAutofit fontScale="100000"/>
          </a:bodyPr>
          <a:lstStyle/>
          <a:p>
            <a:pPr algn="l">
              <a:buNone/>
              <a:defRPr sz="2100" b="0">
                <a:solidFill>
                  <a:srgbClr val="56657A"/>
                </a:solidFill>
                <a:latin typeface="Arial"/>
                <a:ea typeface="Arial"/>
                <a:cs typeface="Arial"/>
              </a:defRPr>
            </a:pPr>
            <a:r>
              <a:rPr sz="2100" b="0">
                <a:solidFill>
                  <a:srgbClr val="56657A"/>
                </a:solidFill>
                <a:latin typeface="Arial"/>
                <a:ea typeface="Arial"/>
                <a:cs typeface="Arial"/>
              </a:rPr>
              <a:t>El formulario muestra una decisión por pantalla y permite volver sin perder lo escrito.</a:t>
            </a:r>
            <a:endParaRPr/>
          </a:p>
        </p:txBody>
      </p:sp>
      <p:sp>
        <p:nvSpPr>
          <p:cNvPr id="1730305912" name=""/>
          <p:cNvSpPr>
            <a:spLocks noGrp="1"/>
          </p:cNvSpPr>
          <p:nvPr/>
        </p:nvSpPr>
        <p:spPr bwMode="auto">
          <a:xfrm>
            <a:off x="762000" y="2266950"/>
            <a:ext cx="3190875" cy="885825"/>
          </a:xfrm>
          <a:prstGeom prst="rect">
            <a:avLst/>
          </a:prstGeom>
          <a:noFill/>
          <a:ln w="0">
            <a:noFill/>
          </a:ln>
        </p:spPr>
        <p:txBody>
          <a:bodyPr anchor="ctr">
            <a:normAutofit fontScale="100000"/>
          </a:bodyPr>
          <a:lstStyle/>
          <a:p>
            <a:pPr algn="l">
              <a:buNone/>
              <a:defRPr sz="4950" b="1">
                <a:solidFill>
                  <a:srgbClr val="F0745B"/>
                </a:solidFill>
                <a:latin typeface="Arial"/>
                <a:ea typeface="Arial"/>
                <a:cs typeface="Arial"/>
              </a:defRPr>
            </a:pPr>
            <a:r>
              <a:rPr sz="4950" b="1">
                <a:solidFill>
                  <a:srgbClr val="F0745B"/>
                </a:solidFill>
                <a:latin typeface="Arial"/>
                <a:ea typeface="Arial"/>
                <a:cs typeface="Arial"/>
              </a:rPr>
              <a:t>01</a:t>
            </a:r>
            <a:endParaRPr/>
          </a:p>
        </p:txBody>
      </p:sp>
      <p:sp>
        <p:nvSpPr>
          <p:cNvPr id="1019472785" name=""/>
          <p:cNvSpPr>
            <a:spLocks noGrp="1"/>
          </p:cNvSpPr>
          <p:nvPr/>
        </p:nvSpPr>
        <p:spPr bwMode="auto">
          <a:xfrm>
            <a:off x="762000" y="3267075"/>
            <a:ext cx="3028950" cy="47625"/>
          </a:xfrm>
          <a:prstGeom prst="rect">
            <a:avLst/>
          </a:prstGeom>
          <a:solidFill>
            <a:srgbClr val="1CB7AE"/>
          </a:solidFill>
          <a:ln w="0">
            <a:solidFill>
              <a:srgbClr val="1CB7AE"/>
            </a:solidFill>
          </a:ln>
        </p:spPr>
      </p:sp>
      <p:sp>
        <p:nvSpPr>
          <p:cNvPr id="101188953" name=""/>
          <p:cNvSpPr>
            <a:spLocks noGrp="1"/>
          </p:cNvSpPr>
          <p:nvPr/>
        </p:nvSpPr>
        <p:spPr bwMode="auto">
          <a:xfrm>
            <a:off x="762000" y="3562350"/>
            <a:ext cx="3143250" cy="552450"/>
          </a:xfrm>
          <a:prstGeom prst="rect">
            <a:avLst/>
          </a:prstGeom>
          <a:noFill/>
          <a:ln w="0">
            <a:noFill/>
          </a:ln>
        </p:spPr>
        <p:txBody>
          <a:bodyPr anchor="ctr">
            <a:normAutofit fontScale="100000"/>
          </a:bodyPr>
          <a:lstStyle/>
          <a:p>
            <a:pPr algn="l">
              <a:buNone/>
              <a:defRPr sz="2500" b="1">
                <a:solidFill>
                  <a:srgbClr val="102653"/>
                </a:solidFill>
                <a:latin typeface="Arial"/>
                <a:ea typeface="Arial"/>
                <a:cs typeface="Arial"/>
              </a:defRPr>
            </a:pPr>
            <a:r>
              <a:rPr sz="2500" b="1">
                <a:solidFill>
                  <a:srgbClr val="102653"/>
                </a:solidFill>
                <a:latin typeface="Arial"/>
                <a:ea typeface="Arial"/>
                <a:cs typeface="Arial"/>
              </a:rPr>
              <a:t>Datos personales</a:t>
            </a:r>
            <a:endParaRPr/>
          </a:p>
        </p:txBody>
      </p:sp>
      <p:sp>
        <p:nvSpPr>
          <p:cNvPr id="1995600509" name=""/>
          <p:cNvSpPr>
            <a:spLocks noGrp="1"/>
          </p:cNvSpPr>
          <p:nvPr/>
        </p:nvSpPr>
        <p:spPr bwMode="auto">
          <a:xfrm>
            <a:off x="762000" y="4286250"/>
            <a:ext cx="3143250" cy="714375"/>
          </a:xfrm>
          <a:prstGeom prst="rect">
            <a:avLst/>
          </a:prstGeom>
          <a:noFill/>
          <a:ln w="0">
            <a:noFill/>
          </a:ln>
        </p:spPr>
        <p:txBody>
          <a:bodyPr anchor="ctr">
            <a:normAutofit fontScale="100000"/>
          </a:bodyPr>
          <a:lstStyle/>
          <a:p>
            <a:pPr algn="l">
              <a:buNone/>
              <a:defRPr sz="1800" b="0">
                <a:solidFill>
                  <a:srgbClr val="56657A"/>
                </a:solidFill>
                <a:latin typeface="Arial"/>
                <a:ea typeface="Arial"/>
                <a:cs typeface="Arial"/>
              </a:defRPr>
            </a:pPr>
            <a:r>
              <a:rPr sz="1800" b="0">
                <a:solidFill>
                  <a:srgbClr val="56657A"/>
                </a:solidFill>
                <a:latin typeface="Arial"/>
                <a:ea typeface="Arial"/>
                <a:cs typeface="Arial"/>
              </a:rPr>
              <a:t>Nombre y cédula</a:t>
            </a:r>
            <a:endParaRPr/>
          </a:p>
        </p:txBody>
      </p:sp>
      <p:sp>
        <p:nvSpPr>
          <p:cNvPr id="460285529" name=""/>
          <p:cNvSpPr>
            <a:spLocks noGrp="1"/>
          </p:cNvSpPr>
          <p:nvPr/>
        </p:nvSpPr>
        <p:spPr bwMode="auto">
          <a:xfrm>
            <a:off x="4438650" y="2266950"/>
            <a:ext cx="3190875" cy="885825"/>
          </a:xfrm>
          <a:prstGeom prst="rect">
            <a:avLst/>
          </a:prstGeom>
          <a:noFill/>
          <a:ln w="0">
            <a:noFill/>
          </a:ln>
        </p:spPr>
        <p:txBody>
          <a:bodyPr anchor="ctr">
            <a:normAutofit fontScale="100000"/>
          </a:bodyPr>
          <a:lstStyle/>
          <a:p>
            <a:pPr algn="l">
              <a:buNone/>
              <a:defRPr sz="4950" b="1">
                <a:solidFill>
                  <a:srgbClr val="F0745B"/>
                </a:solidFill>
                <a:latin typeface="Arial"/>
                <a:ea typeface="Arial"/>
                <a:cs typeface="Arial"/>
              </a:defRPr>
            </a:pPr>
            <a:r>
              <a:rPr sz="4950" b="1">
                <a:solidFill>
                  <a:srgbClr val="F0745B"/>
                </a:solidFill>
                <a:latin typeface="Arial"/>
                <a:ea typeface="Arial"/>
                <a:cs typeface="Arial"/>
              </a:rPr>
              <a:t>02</a:t>
            </a:r>
            <a:endParaRPr/>
          </a:p>
        </p:txBody>
      </p:sp>
      <p:sp>
        <p:nvSpPr>
          <p:cNvPr id="507120079" name=""/>
          <p:cNvSpPr>
            <a:spLocks noGrp="1"/>
          </p:cNvSpPr>
          <p:nvPr/>
        </p:nvSpPr>
        <p:spPr bwMode="auto">
          <a:xfrm>
            <a:off x="4438650" y="3267075"/>
            <a:ext cx="3028950" cy="47625"/>
          </a:xfrm>
          <a:prstGeom prst="rect">
            <a:avLst/>
          </a:prstGeom>
          <a:solidFill>
            <a:srgbClr val="1CB7AE"/>
          </a:solidFill>
          <a:ln w="0">
            <a:solidFill>
              <a:srgbClr val="1CB7AE"/>
            </a:solidFill>
          </a:ln>
        </p:spPr>
      </p:sp>
      <p:sp>
        <p:nvSpPr>
          <p:cNvPr id="1325712022" name=""/>
          <p:cNvSpPr>
            <a:spLocks noGrp="1"/>
          </p:cNvSpPr>
          <p:nvPr/>
        </p:nvSpPr>
        <p:spPr bwMode="auto">
          <a:xfrm>
            <a:off x="4438650" y="3562350"/>
            <a:ext cx="3143250" cy="552450"/>
          </a:xfrm>
          <a:prstGeom prst="rect">
            <a:avLst/>
          </a:prstGeom>
          <a:noFill/>
          <a:ln w="0">
            <a:noFill/>
          </a:ln>
        </p:spPr>
        <p:txBody>
          <a:bodyPr anchor="ctr">
            <a:normAutofit fontScale="100000"/>
          </a:bodyPr>
          <a:lstStyle/>
          <a:p>
            <a:pPr algn="l">
              <a:buNone/>
              <a:defRPr sz="2500" b="1">
                <a:solidFill>
                  <a:srgbClr val="102653"/>
                </a:solidFill>
                <a:latin typeface="Arial"/>
                <a:ea typeface="Arial"/>
                <a:cs typeface="Arial"/>
              </a:defRPr>
            </a:pPr>
            <a:r>
              <a:rPr sz="2500" b="1">
                <a:solidFill>
                  <a:srgbClr val="102653"/>
                </a:solidFill>
                <a:latin typeface="Arial"/>
                <a:ea typeface="Arial"/>
                <a:cs typeface="Arial"/>
              </a:rPr>
              <a:t>Profesional</a:t>
            </a:r>
            <a:endParaRPr/>
          </a:p>
        </p:txBody>
      </p:sp>
      <p:sp>
        <p:nvSpPr>
          <p:cNvPr id="1318886608" name=""/>
          <p:cNvSpPr>
            <a:spLocks noGrp="1"/>
          </p:cNvSpPr>
          <p:nvPr/>
        </p:nvSpPr>
        <p:spPr bwMode="auto">
          <a:xfrm>
            <a:off x="4438650" y="4286250"/>
            <a:ext cx="3143250" cy="714375"/>
          </a:xfrm>
          <a:prstGeom prst="rect">
            <a:avLst/>
          </a:prstGeom>
          <a:noFill/>
          <a:ln w="0">
            <a:noFill/>
          </a:ln>
        </p:spPr>
        <p:txBody>
          <a:bodyPr anchor="ctr">
            <a:normAutofit fontScale="100000"/>
          </a:bodyPr>
          <a:lstStyle/>
          <a:p>
            <a:pPr algn="l">
              <a:buNone/>
              <a:defRPr sz="1800" b="0">
                <a:solidFill>
                  <a:srgbClr val="56657A"/>
                </a:solidFill>
                <a:latin typeface="Arial"/>
                <a:ea typeface="Arial"/>
                <a:cs typeface="Arial"/>
              </a:defRPr>
            </a:pPr>
            <a:r>
              <a:rPr sz="1800" b="0">
                <a:solidFill>
                  <a:srgbClr val="56657A"/>
                </a:solidFill>
                <a:latin typeface="Arial"/>
                <a:ea typeface="Arial"/>
                <a:cs typeface="Arial"/>
              </a:rPr>
              <a:t>Especialidad y profesional</a:t>
            </a:r>
            <a:endParaRPr/>
          </a:p>
        </p:txBody>
      </p:sp>
      <p:sp>
        <p:nvSpPr>
          <p:cNvPr id="181784591" name=""/>
          <p:cNvSpPr>
            <a:spLocks noGrp="1"/>
          </p:cNvSpPr>
          <p:nvPr/>
        </p:nvSpPr>
        <p:spPr bwMode="auto">
          <a:xfrm>
            <a:off x="8115300" y="2266950"/>
            <a:ext cx="3190875" cy="885825"/>
          </a:xfrm>
          <a:prstGeom prst="rect">
            <a:avLst/>
          </a:prstGeom>
          <a:noFill/>
          <a:ln w="0">
            <a:noFill/>
          </a:ln>
        </p:spPr>
        <p:txBody>
          <a:bodyPr anchor="ctr">
            <a:normAutofit fontScale="100000"/>
          </a:bodyPr>
          <a:lstStyle/>
          <a:p>
            <a:pPr algn="l">
              <a:buNone/>
              <a:defRPr sz="4950" b="1">
                <a:solidFill>
                  <a:srgbClr val="F0745B"/>
                </a:solidFill>
                <a:latin typeface="Arial"/>
                <a:ea typeface="Arial"/>
                <a:cs typeface="Arial"/>
              </a:defRPr>
            </a:pPr>
            <a:r>
              <a:rPr sz="4950" b="1">
                <a:solidFill>
                  <a:srgbClr val="F0745B"/>
                </a:solidFill>
                <a:latin typeface="Arial"/>
                <a:ea typeface="Arial"/>
                <a:cs typeface="Arial"/>
              </a:rPr>
              <a:t>03</a:t>
            </a:r>
            <a:endParaRPr/>
          </a:p>
        </p:txBody>
      </p:sp>
      <p:sp>
        <p:nvSpPr>
          <p:cNvPr id="702143132" name=""/>
          <p:cNvSpPr>
            <a:spLocks noGrp="1"/>
          </p:cNvSpPr>
          <p:nvPr/>
        </p:nvSpPr>
        <p:spPr bwMode="auto">
          <a:xfrm>
            <a:off x="8115300" y="3267075"/>
            <a:ext cx="3028950" cy="47625"/>
          </a:xfrm>
          <a:prstGeom prst="rect">
            <a:avLst/>
          </a:prstGeom>
          <a:solidFill>
            <a:srgbClr val="1CB7AE"/>
          </a:solidFill>
          <a:ln w="0">
            <a:solidFill>
              <a:srgbClr val="1CB7AE"/>
            </a:solidFill>
          </a:ln>
        </p:spPr>
      </p:sp>
      <p:sp>
        <p:nvSpPr>
          <p:cNvPr id="1147393885" name=""/>
          <p:cNvSpPr>
            <a:spLocks noGrp="1"/>
          </p:cNvSpPr>
          <p:nvPr/>
        </p:nvSpPr>
        <p:spPr bwMode="auto">
          <a:xfrm>
            <a:off x="8115300" y="3562350"/>
            <a:ext cx="3143250" cy="552450"/>
          </a:xfrm>
          <a:prstGeom prst="rect">
            <a:avLst/>
          </a:prstGeom>
          <a:noFill/>
          <a:ln w="0">
            <a:noFill/>
          </a:ln>
        </p:spPr>
        <p:txBody>
          <a:bodyPr anchor="ctr">
            <a:normAutofit fontScale="100000"/>
          </a:bodyPr>
          <a:lstStyle/>
          <a:p>
            <a:pPr algn="l">
              <a:buNone/>
              <a:defRPr sz="2500" b="1">
                <a:solidFill>
                  <a:srgbClr val="102653"/>
                </a:solidFill>
                <a:latin typeface="Arial"/>
                <a:ea typeface="Arial"/>
                <a:cs typeface="Arial"/>
              </a:defRPr>
            </a:pPr>
            <a:r>
              <a:rPr sz="2500" b="1">
                <a:solidFill>
                  <a:srgbClr val="102653"/>
                </a:solidFill>
                <a:latin typeface="Arial"/>
                <a:ea typeface="Arial"/>
                <a:cs typeface="Arial"/>
              </a:rPr>
              <a:t>Fecha y hora</a:t>
            </a:r>
            <a:endParaRPr/>
          </a:p>
        </p:txBody>
      </p:sp>
      <p:sp>
        <p:nvSpPr>
          <p:cNvPr id="1655528435" name=""/>
          <p:cNvSpPr>
            <a:spLocks noGrp="1"/>
          </p:cNvSpPr>
          <p:nvPr/>
        </p:nvSpPr>
        <p:spPr bwMode="auto">
          <a:xfrm>
            <a:off x="8115300" y="4286250"/>
            <a:ext cx="3143250" cy="714375"/>
          </a:xfrm>
          <a:prstGeom prst="rect">
            <a:avLst/>
          </a:prstGeom>
          <a:noFill/>
          <a:ln w="0">
            <a:noFill/>
          </a:ln>
        </p:spPr>
        <p:txBody>
          <a:bodyPr anchor="ctr">
            <a:normAutofit fontScale="100000"/>
          </a:bodyPr>
          <a:lstStyle/>
          <a:p>
            <a:pPr algn="l">
              <a:buNone/>
              <a:defRPr sz="1800" b="0">
                <a:solidFill>
                  <a:srgbClr val="56657A"/>
                </a:solidFill>
                <a:latin typeface="Arial"/>
                <a:ea typeface="Arial"/>
                <a:cs typeface="Arial"/>
              </a:defRPr>
            </a:pPr>
            <a:r>
              <a:rPr sz="1800" b="0">
                <a:solidFill>
                  <a:srgbClr val="56657A"/>
                </a:solidFill>
                <a:latin typeface="Arial"/>
                <a:ea typeface="Arial"/>
                <a:cs typeface="Arial"/>
              </a:rPr>
              <a:t>Cupo disponible</a:t>
            </a:r>
            <a:endParaRPr/>
          </a:p>
        </p:txBody>
      </p:sp>
      <p:sp>
        <p:nvSpPr>
          <p:cNvPr id="101374131" name=""/>
          <p:cNvSpPr>
            <a:spLocks noGrp="1"/>
          </p:cNvSpPr>
          <p:nvPr/>
        </p:nvSpPr>
        <p:spPr bwMode="auto">
          <a:xfrm>
            <a:off x="0" y="5486400"/>
            <a:ext cx="12192000" cy="1371600"/>
          </a:xfrm>
          <a:prstGeom prst="rect">
            <a:avLst/>
          </a:prstGeom>
          <a:solidFill>
            <a:srgbClr val="102653"/>
          </a:solidFill>
          <a:ln w="0">
            <a:solidFill>
              <a:srgbClr val="102653"/>
            </a:solidFill>
          </a:ln>
        </p:spPr>
      </p:sp>
      <p:sp>
        <p:nvSpPr>
          <p:cNvPr id="2100272933" name=""/>
          <p:cNvSpPr>
            <a:spLocks noGrp="1"/>
          </p:cNvSpPr>
          <p:nvPr/>
        </p:nvSpPr>
        <p:spPr bwMode="auto">
          <a:xfrm>
            <a:off x="733424" y="5724524"/>
            <a:ext cx="10668000" cy="800100"/>
          </a:xfrm>
          <a:prstGeom prst="rect">
            <a:avLst/>
          </a:prstGeom>
          <a:noFill/>
          <a:ln w="0">
            <a:noFill/>
          </a:ln>
        </p:spPr>
        <p:txBody>
          <a:bodyPr anchor="ctr">
            <a:normAutofit fontScale="100000"/>
          </a:bodyPr>
          <a:lstStyle/>
          <a:p>
            <a:pPr algn="l">
              <a:buNone/>
              <a:defRPr sz="2350" b="1">
                <a:solidFill>
                  <a:srgbClr val="FFFFFF"/>
                </a:solidFill>
                <a:latin typeface="Arial"/>
                <a:ea typeface="Arial"/>
                <a:cs typeface="Arial"/>
              </a:defRPr>
            </a:pPr>
            <a:r>
              <a:rPr sz="2350" b="1">
                <a:solidFill>
                  <a:srgbClr val="FFFFFF"/>
                </a:solidFill>
                <a:latin typeface="Arial"/>
                <a:ea typeface="Arial"/>
                <a:cs typeface="Arial"/>
              </a:rPr>
              <a:t>Antes de confirmar aparece un resumen para revisar y corregir la solicitud.</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8F6F1"/>
        </a:solidFill>
      </p:bgPr>
    </p:bg>
    <p:spTree>
      <p:nvGrpSpPr>
        <p:cNvPr id="1" name=""/>
        <p:cNvGrpSpPr/>
        <p:nvPr/>
      </p:nvGrpSpPr>
      <p:grpSpPr bwMode="auto">
        <a:xfrm>
          <a:off x="0" y="0"/>
          <a:ext cx="0" cy="0"/>
          <a:chOff x="0" y="0"/>
          <a:chExt cx="0" cy="0"/>
        </a:xfrm>
      </p:grpSpPr>
      <p:sp>
        <p:nvSpPr>
          <p:cNvPr id="1178115253" name=""/>
          <p:cNvSpPr>
            <a:spLocks noGrp="1"/>
          </p:cNvSpPr>
          <p:nvPr/>
        </p:nvSpPr>
        <p:spPr bwMode="auto">
          <a:xfrm>
            <a:off x="495300" y="419100"/>
            <a:ext cx="57150" cy="514350"/>
          </a:xfrm>
          <a:prstGeom prst="rect">
            <a:avLst/>
          </a:prstGeom>
          <a:solidFill>
            <a:srgbClr val="F0745B"/>
          </a:solidFill>
          <a:ln w="0">
            <a:solidFill>
              <a:srgbClr val="F0745B"/>
            </a:solidFill>
          </a:ln>
        </p:spPr>
      </p:sp>
      <p:sp>
        <p:nvSpPr>
          <p:cNvPr id="1337361127" name=""/>
          <p:cNvSpPr>
            <a:spLocks noGrp="1"/>
          </p:cNvSpPr>
          <p:nvPr/>
        </p:nvSpPr>
        <p:spPr bwMode="auto">
          <a:xfrm>
            <a:off x="742950" y="400050"/>
            <a:ext cx="9810750" cy="619125"/>
          </a:xfrm>
          <a:prstGeom prst="rect">
            <a:avLst/>
          </a:prstGeom>
          <a:noFill/>
          <a:ln w="0">
            <a:noFill/>
          </a:ln>
        </p:spPr>
        <p:txBody>
          <a:bodyPr anchor="ctr">
            <a:normAutofit fontScale="100000"/>
          </a:bodyPr>
          <a:lstStyle/>
          <a:p>
            <a:pPr algn="l">
              <a:buNone/>
              <a:defRPr sz="3150" b="1">
                <a:solidFill>
                  <a:srgbClr val="102653"/>
                </a:solidFill>
                <a:latin typeface="Arial"/>
                <a:ea typeface="Arial"/>
                <a:cs typeface="Arial"/>
              </a:defRPr>
            </a:pPr>
            <a:r>
              <a:rPr sz="3150" b="1">
                <a:solidFill>
                  <a:srgbClr val="102653"/>
                </a:solidFill>
                <a:latin typeface="Arial"/>
                <a:ea typeface="Arial"/>
                <a:cs typeface="Arial"/>
              </a:rPr>
              <a:t>EL FORMULARIO DA ORIENTACIÓN</a:t>
            </a:r>
            <a:endParaRPr/>
          </a:p>
        </p:txBody>
      </p:sp>
      <p:sp>
        <p:nvSpPr>
          <p:cNvPr id="2041354235" name=""/>
          <p:cNvSpPr>
            <a:spLocks noGrp="1"/>
          </p:cNvSpPr>
          <p:nvPr/>
        </p:nvSpPr>
        <p:spPr bwMode="auto">
          <a:xfrm>
            <a:off x="10763250" y="447675"/>
            <a:ext cx="904875" cy="304800"/>
          </a:xfrm>
          <a:prstGeom prst="rect">
            <a:avLst/>
          </a:prstGeom>
          <a:noFill/>
          <a:ln w="0">
            <a:noFill/>
          </a:ln>
        </p:spPr>
        <p:txBody>
          <a:bodyPr anchor="ctr">
            <a:normAutofit fontScale="100000"/>
          </a:bodyPr>
          <a:lstStyle/>
          <a:p>
            <a:pPr algn="r">
              <a:buNone/>
              <a:defRPr sz="1300" b="1">
                <a:solidFill>
                  <a:srgbClr val="56657A"/>
                </a:solidFill>
                <a:latin typeface="Arial"/>
                <a:ea typeface="Arial"/>
                <a:cs typeface="Arial"/>
              </a:defRPr>
            </a:pPr>
            <a:r>
              <a:rPr sz="1300" b="1">
                <a:solidFill>
                  <a:srgbClr val="56657A"/>
                </a:solidFill>
                <a:latin typeface="Arial"/>
                <a:ea typeface="Arial"/>
                <a:cs typeface="Arial"/>
              </a:rPr>
              <a:t>10 / 19</a:t>
            </a:r>
            <a:endParaRPr/>
          </a:p>
        </p:txBody>
      </p:sp>
      <p:sp>
        <p:nvSpPr>
          <p:cNvPr id="1818372612" name=""/>
          <p:cNvSpPr>
            <a:spLocks noGrp="1"/>
          </p:cNvSpPr>
          <p:nvPr/>
        </p:nvSpPr>
        <p:spPr bwMode="auto">
          <a:xfrm>
            <a:off x="742950" y="1162050"/>
            <a:ext cx="9906000" cy="723900"/>
          </a:xfrm>
          <a:prstGeom prst="rect">
            <a:avLst/>
          </a:prstGeom>
          <a:noFill/>
          <a:ln w="0">
            <a:noFill/>
          </a:ln>
        </p:spPr>
        <p:txBody>
          <a:bodyPr anchor="ctr">
            <a:normAutofit fontScale="100000"/>
          </a:bodyPr>
          <a:lstStyle/>
          <a:p>
            <a:pPr algn="l">
              <a:buNone/>
              <a:defRPr sz="2100" b="0">
                <a:solidFill>
                  <a:srgbClr val="56657A"/>
                </a:solidFill>
                <a:latin typeface="Arial"/>
                <a:ea typeface="Arial"/>
                <a:cs typeface="Arial"/>
              </a:defRPr>
            </a:pPr>
            <a:r>
              <a:rPr sz="2100" b="0">
                <a:solidFill>
                  <a:srgbClr val="56657A"/>
                </a:solidFill>
                <a:latin typeface="Arial"/>
                <a:ea typeface="Arial"/>
                <a:cs typeface="Arial"/>
              </a:rPr>
              <a:t>Las instrucciones y los mensajes de error indican qué dato falta y cómo corregirlo.</a:t>
            </a:r>
            <a:endParaRPr/>
          </a:p>
        </p:txBody>
      </p:sp>
      <p:sp>
        <p:nvSpPr>
          <p:cNvPr id="336214029" name=""/>
          <p:cNvSpPr>
            <a:spLocks noGrp="1"/>
          </p:cNvSpPr>
          <p:nvPr/>
        </p:nvSpPr>
        <p:spPr bwMode="auto">
          <a:xfrm>
            <a:off x="600075" y="2105025"/>
            <a:ext cx="7048500" cy="3943350"/>
          </a:xfrm>
          <a:prstGeom prst="rect">
            <a:avLst/>
          </a:prstGeom>
          <a:solidFill>
            <a:srgbClr val="FFFFFF"/>
          </a:solidFill>
          <a:ln w="0">
            <a:solidFill>
              <a:srgbClr val="FFFFFF"/>
            </a:solidFill>
          </a:ln>
        </p:spPr>
      </p:sp>
      <p:pic>
        <p:nvPicPr>
          <p:cNvPr id="440246480" name=""/>
          <p:cNvPicPr>
            <a:picLocks noChangeAspect="1"/>
          </p:cNvPicPr>
          <p:nvPr/>
        </p:nvPicPr>
        <p:blipFill rotWithShape="1">
          <a:blip r:embed="rId3"/>
          <a:stretch/>
        </p:blipFill>
        <p:spPr bwMode="auto">
          <a:xfrm>
            <a:off x="1106805" y="2190750"/>
            <a:ext cx="6035039" cy="3771900"/>
          </a:xfrm>
          <a:prstGeom prst="rect">
            <a:avLst/>
          </a:prstGeom>
        </p:spPr>
      </p:pic>
      <p:sp>
        <p:nvSpPr>
          <p:cNvPr id="1289585956" name=""/>
          <p:cNvSpPr>
            <a:spLocks noGrp="1"/>
          </p:cNvSpPr>
          <p:nvPr/>
        </p:nvSpPr>
        <p:spPr bwMode="auto">
          <a:xfrm>
            <a:off x="7953375" y="2238375"/>
            <a:ext cx="47625" cy="3238500"/>
          </a:xfrm>
          <a:prstGeom prst="rect">
            <a:avLst/>
          </a:prstGeom>
          <a:solidFill>
            <a:srgbClr val="F0745B"/>
          </a:solidFill>
          <a:ln w="0">
            <a:solidFill>
              <a:srgbClr val="F0745B"/>
            </a:solidFill>
          </a:ln>
        </p:spPr>
      </p:sp>
      <p:sp>
        <p:nvSpPr>
          <p:cNvPr id="901793658" name=""/>
          <p:cNvSpPr>
            <a:spLocks noGrp="1"/>
          </p:cNvSpPr>
          <p:nvPr/>
        </p:nvSpPr>
        <p:spPr bwMode="auto">
          <a:xfrm>
            <a:off x="8248650" y="2247900"/>
            <a:ext cx="3048000" cy="514350"/>
          </a:xfrm>
          <a:prstGeom prst="rect">
            <a:avLst/>
          </a:prstGeom>
          <a:noFill/>
          <a:ln w="0">
            <a:noFill/>
          </a:ln>
        </p:spPr>
        <p:txBody>
          <a:bodyPr anchor="ctr">
            <a:normAutofit fontScale="100000"/>
          </a:bodyPr>
          <a:lstStyle/>
          <a:p>
            <a:pPr algn="l">
              <a:buNone/>
              <a:defRPr sz="2050" b="1">
                <a:solidFill>
                  <a:srgbClr val="F0745B"/>
                </a:solidFill>
                <a:latin typeface="Arial"/>
                <a:ea typeface="Arial"/>
                <a:cs typeface="Arial"/>
              </a:defRPr>
            </a:pPr>
            <a:r>
              <a:rPr sz="2050" b="1">
                <a:solidFill>
                  <a:srgbClr val="F0745B"/>
                </a:solidFill>
                <a:latin typeface="Arial"/>
                <a:ea typeface="Arial"/>
                <a:cs typeface="Arial"/>
              </a:rPr>
              <a:t>Paso 1</a:t>
            </a:r>
            <a:endParaRPr/>
          </a:p>
        </p:txBody>
      </p:sp>
      <p:sp>
        <p:nvSpPr>
          <p:cNvPr id="1858969951" name=""/>
          <p:cNvSpPr>
            <a:spLocks noGrp="1"/>
          </p:cNvSpPr>
          <p:nvPr/>
        </p:nvSpPr>
        <p:spPr bwMode="auto">
          <a:xfrm>
            <a:off x="8248650" y="2914650"/>
            <a:ext cx="3000375" cy="981075"/>
          </a:xfrm>
          <a:prstGeom prst="rect">
            <a:avLst/>
          </a:prstGeom>
          <a:noFill/>
          <a:ln w="0">
            <a:noFill/>
          </a:ln>
        </p:spPr>
        <p:txBody>
          <a:bodyPr anchor="ctr">
            <a:normAutofit fontScale="96090"/>
          </a:bodyPr>
          <a:lstStyle/>
          <a:p>
            <a:pPr algn="l">
              <a:buNone/>
              <a:defRPr sz="2050" b="1">
                <a:solidFill>
                  <a:srgbClr val="102653"/>
                </a:solidFill>
                <a:latin typeface="Arial"/>
                <a:ea typeface="Arial"/>
                <a:cs typeface="Arial"/>
              </a:defRPr>
            </a:pPr>
            <a:r>
              <a:rPr sz="2050" b="1">
                <a:solidFill>
                  <a:srgbClr val="102653"/>
                </a:solidFill>
                <a:latin typeface="Arial"/>
                <a:ea typeface="Arial"/>
                <a:cs typeface="Arial"/>
              </a:rPr>
              <a:t>Se pide el nombre y una cédula de diez dígitos.</a:t>
            </a:r>
            <a:endParaRPr/>
          </a:p>
        </p:txBody>
      </p:sp>
      <p:sp>
        <p:nvSpPr>
          <p:cNvPr id="2047036252" name=""/>
          <p:cNvSpPr>
            <a:spLocks noGrp="1"/>
          </p:cNvSpPr>
          <p:nvPr/>
        </p:nvSpPr>
        <p:spPr bwMode="auto">
          <a:xfrm>
            <a:off x="8248650" y="4181475"/>
            <a:ext cx="3000375" cy="1285875"/>
          </a:xfrm>
          <a:prstGeom prst="rect">
            <a:avLst/>
          </a:prstGeom>
          <a:noFill/>
          <a:ln w="0">
            <a:noFill/>
          </a:ln>
        </p:spPr>
        <p:txBody>
          <a:bodyPr anchor="ctr">
            <a:normAutofit fontScale="100000"/>
          </a:bodyPr>
          <a:lstStyle/>
          <a:p>
            <a:pPr algn="l">
              <a:buNone/>
              <a:defRPr sz="1750" b="0">
                <a:solidFill>
                  <a:srgbClr val="56657A"/>
                </a:solidFill>
                <a:latin typeface="Arial"/>
                <a:ea typeface="Arial"/>
                <a:cs typeface="Arial"/>
              </a:defRPr>
            </a:pPr>
            <a:r>
              <a:rPr sz="1750" b="0">
                <a:solidFill>
                  <a:srgbClr val="56657A"/>
                </a:solidFill>
                <a:latin typeface="Arial"/>
                <a:ea typeface="Arial"/>
                <a:cs typeface="Arial"/>
              </a:rPr>
              <a:t>El número sirve para validar el formulario, pero no se guarda en la cita.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8F6F1"/>
        </a:solidFill>
      </p:bgPr>
    </p:bg>
    <p:spTree>
      <p:nvGrpSpPr>
        <p:cNvPr id="1" name=""/>
        <p:cNvGrpSpPr/>
        <p:nvPr/>
      </p:nvGrpSpPr>
      <p:grpSpPr bwMode="auto">
        <a:xfrm>
          <a:off x="0" y="0"/>
          <a:ext cx="0" cy="0"/>
          <a:chOff x="0" y="0"/>
          <a:chExt cx="0" cy="0"/>
        </a:xfrm>
      </p:grpSpPr>
      <p:sp>
        <p:nvSpPr>
          <p:cNvPr id="1264841984" name=""/>
          <p:cNvSpPr>
            <a:spLocks noGrp="1"/>
          </p:cNvSpPr>
          <p:nvPr/>
        </p:nvSpPr>
        <p:spPr bwMode="auto">
          <a:xfrm>
            <a:off x="495300" y="419100"/>
            <a:ext cx="57150" cy="514350"/>
          </a:xfrm>
          <a:prstGeom prst="rect">
            <a:avLst/>
          </a:prstGeom>
          <a:solidFill>
            <a:srgbClr val="F0745B"/>
          </a:solidFill>
          <a:ln w="0">
            <a:solidFill>
              <a:srgbClr val="F0745B"/>
            </a:solidFill>
            <a:prstDash val="solid"/>
          </a:ln>
        </p:spPr>
      </p:sp>
      <p:sp>
        <p:nvSpPr>
          <p:cNvPr id="572955579" name=""/>
          <p:cNvSpPr>
            <a:spLocks noGrp="1"/>
          </p:cNvSpPr>
          <p:nvPr/>
        </p:nvSpPr>
        <p:spPr bwMode="auto">
          <a:xfrm>
            <a:off x="742950" y="400050"/>
            <a:ext cx="9810750" cy="619125"/>
          </a:xfrm>
          <a:prstGeom prst="rect">
            <a:avLst/>
          </a:prstGeom>
          <a:noFill/>
          <a:ln w="0">
            <a:noFill/>
            <a:prstDash val="solid"/>
          </a:ln>
        </p:spPr>
        <p:txBody>
          <a:bodyPr/>
          <a:lstStyle>
            <a:defPPr algn="l">
              <a:defRPr sz="3000" b="1">
                <a:solidFill>
                  <a:srgbClr val="102653"/>
                </a:solidFill>
                <a:latin typeface="Arial"/>
                <a:ea typeface="Arial"/>
                <a:cs typeface="Arial"/>
              </a:defRPr>
            </a:defPPr>
          </a:lstStyle>
          <a:p>
            <a:pPr algn="l">
              <a:defRPr sz="3000" b="1">
                <a:solidFill>
                  <a:srgbClr val="102653"/>
                </a:solidFill>
                <a:latin typeface="Arial"/>
                <a:ea typeface="Arial"/>
                <a:cs typeface="Arial"/>
              </a:defRPr>
            </a:pPr>
            <a:r>
              <a:rPr sz="3000" b="1">
                <a:solidFill>
                  <a:srgbClr val="102653"/>
                </a:solidFill>
                <a:latin typeface="Arial"/>
                <a:ea typeface="Arial"/>
                <a:cs typeface="Arial"/>
              </a:rPr>
              <a:t>QUÉ DATOS USA EL PROTOTIPO</a:t>
            </a:r>
            <a:endParaRPr/>
          </a:p>
        </p:txBody>
      </p:sp>
      <p:sp>
        <p:nvSpPr>
          <p:cNvPr id="1135456250" name=""/>
          <p:cNvSpPr>
            <a:spLocks noGrp="1"/>
          </p:cNvSpPr>
          <p:nvPr/>
        </p:nvSpPr>
        <p:spPr bwMode="auto">
          <a:xfrm>
            <a:off x="742950" y="1381125"/>
            <a:ext cx="10572750" cy="1143000"/>
          </a:xfrm>
          <a:prstGeom prst="rect">
            <a:avLst/>
          </a:prstGeom>
          <a:noFill/>
          <a:ln w="0">
            <a:noFill/>
            <a:prstDash val="solid"/>
          </a:ln>
        </p:spPr>
        <p:txBody>
          <a:bodyPr/>
          <a:lstStyle>
            <a:defPPr algn="l">
              <a:defRPr sz="1950" b="1">
                <a:solidFill>
                  <a:srgbClr val="102653"/>
                </a:solidFill>
                <a:latin typeface="Arial"/>
                <a:ea typeface="Arial"/>
                <a:cs typeface="Arial"/>
              </a:defRPr>
            </a:defPPr>
          </a:lstStyle>
          <a:p>
            <a:pPr algn="l">
              <a:defRPr sz="1950" b="1">
                <a:solidFill>
                  <a:srgbClr val="102653"/>
                </a:solidFill>
                <a:latin typeface="Arial"/>
                <a:ea typeface="Arial"/>
                <a:cs typeface="Arial"/>
              </a:defRPr>
            </a:pPr>
            <a:r>
              <a:rPr sz="1950" b="1">
                <a:solidFill>
                  <a:srgbClr val="102653"/>
                </a:solidFill>
                <a:latin typeface="Arial"/>
                <a:ea typeface="Arial"/>
                <a:cs typeface="Arial"/>
              </a:rPr>
              <a:t>El formulario solicita nombre y cédula de diez dígitos para validar la solicitud. La cédula se elimina antes de guardar la cita y no se consulta con registros oficiales.</a:t>
            </a:r>
            <a:endParaRPr/>
          </a:p>
        </p:txBody>
      </p:sp>
      <p:sp>
        <p:nvSpPr>
          <p:cNvPr id="507652372" name=""/>
          <p:cNvSpPr>
            <a:spLocks noGrp="1"/>
          </p:cNvSpPr>
          <p:nvPr/>
        </p:nvSpPr>
        <p:spPr bwMode="auto">
          <a:xfrm>
            <a:off x="742950" y="2676525"/>
            <a:ext cx="10572750" cy="1143000"/>
          </a:xfrm>
          <a:prstGeom prst="rect">
            <a:avLst/>
          </a:prstGeom>
          <a:noFill/>
          <a:ln w="0">
            <a:noFill/>
            <a:prstDash val="solid"/>
          </a:ln>
        </p:spPr>
        <p:txBody>
          <a:bodyPr/>
          <a:lstStyle>
            <a:defPPr algn="l">
              <a:defRPr sz="1900" b="0">
                <a:solidFill>
                  <a:srgbClr val="56657A"/>
                </a:solidFill>
                <a:latin typeface="Arial"/>
                <a:ea typeface="Arial"/>
                <a:cs typeface="Arial"/>
              </a:defRPr>
            </a:defPPr>
          </a:lstStyle>
          <a:p>
            <a:pPr algn="l">
              <a:defRPr sz="1900" b="0">
                <a:solidFill>
                  <a:srgbClr val="56657A"/>
                </a:solidFill>
                <a:latin typeface="Arial"/>
                <a:ea typeface="Arial"/>
                <a:cs typeface="Arial"/>
              </a:defRPr>
            </a:pPr>
            <a:r>
              <a:rPr sz="1900" b="0">
                <a:solidFill>
                  <a:srgbClr val="56657A"/>
                </a:solidFill>
                <a:latin typeface="Arial"/>
                <a:ea typeface="Arial"/>
                <a:cs typeface="Arial"/>
              </a:rPr>
              <a:t>Las citas de demostración permanecen en la sesión del navegador. Las preferencias de texto, contraste y botones se guardan en el navegador para mantener los ajustes.</a:t>
            </a:r>
            <a:endParaRPr/>
          </a:p>
        </p:txBody>
      </p:sp>
      <p:sp>
        <p:nvSpPr>
          <p:cNvPr id="1486839780" name=""/>
          <p:cNvSpPr>
            <a:spLocks noGrp="1"/>
          </p:cNvSpPr>
          <p:nvPr/>
        </p:nvSpPr>
        <p:spPr bwMode="auto">
          <a:xfrm>
            <a:off x="742950" y="3971925"/>
            <a:ext cx="10572750" cy="1047750"/>
          </a:xfrm>
          <a:prstGeom prst="rect">
            <a:avLst/>
          </a:prstGeom>
          <a:noFill/>
          <a:ln w="0">
            <a:noFill/>
            <a:prstDash val="solid"/>
          </a:ln>
        </p:spPr>
        <p:txBody>
          <a:bodyPr/>
          <a:lstStyle>
            <a:defPPr algn="l">
              <a:defRPr sz="1900" b="0">
                <a:solidFill>
                  <a:srgbClr val="56657A"/>
                </a:solidFill>
                <a:latin typeface="Arial"/>
                <a:ea typeface="Arial"/>
                <a:cs typeface="Arial"/>
              </a:defRPr>
            </a:defPPr>
          </a:lstStyle>
          <a:p>
            <a:pPr algn="l">
              <a:defRPr sz="1900" b="0">
                <a:solidFill>
                  <a:srgbClr val="56657A"/>
                </a:solidFill>
                <a:latin typeface="Arial"/>
                <a:ea typeface="Arial"/>
                <a:cs typeface="Arial"/>
              </a:defRPr>
            </a:pPr>
            <a:r>
              <a:rPr sz="1900" b="0">
                <a:solidFill>
                  <a:srgbClr val="56657A"/>
                </a:solidFill>
                <a:latin typeface="Arial"/>
                <a:ea typeface="Arial"/>
                <a:cs typeface="Arial"/>
              </a:rPr>
              <a:t>Los horarios y profesionales son de ejemplo. La aplicación no crea una cuenta real, no se conecta con sistemas del IESS y no reserva turnos reales.</a:t>
            </a:r>
            <a:endParaRPr/>
          </a:p>
        </p:txBody>
      </p:sp>
      <p:sp>
        <p:nvSpPr>
          <p:cNvPr id="942877785" name=""/>
          <p:cNvSpPr>
            <a:spLocks noGrp="1"/>
          </p:cNvSpPr>
          <p:nvPr/>
        </p:nvSpPr>
        <p:spPr bwMode="auto">
          <a:xfrm>
            <a:off x="742950" y="5172075"/>
            <a:ext cx="10572750" cy="714375"/>
          </a:xfrm>
          <a:prstGeom prst="rect">
            <a:avLst/>
          </a:prstGeom>
          <a:noFill/>
          <a:ln w="0">
            <a:noFill/>
            <a:prstDash val="solid"/>
          </a:ln>
        </p:spPr>
        <p:txBody>
          <a:bodyPr/>
          <a:lstStyle>
            <a:defPPr algn="l">
              <a:defRPr sz="1800" b="1">
                <a:solidFill>
                  <a:srgbClr val="0055AE"/>
                </a:solidFill>
                <a:latin typeface="Arial"/>
                <a:ea typeface="Arial"/>
                <a:cs typeface="Arial"/>
              </a:defRPr>
            </a:defPPr>
          </a:lstStyle>
          <a:p>
            <a:pPr algn="l">
              <a:defRPr sz="1800" b="1">
                <a:solidFill>
                  <a:srgbClr val="0055AE"/>
                </a:solidFill>
                <a:latin typeface="Arial"/>
                <a:ea typeface="Arial"/>
                <a:cs typeface="Arial"/>
              </a:defRPr>
            </a:pPr>
            <a:r>
              <a:rPr sz="1800" b="1">
                <a:solidFill>
                  <a:srgbClr val="0055AE"/>
                </a:solidFill>
                <a:latin typeface="Arial"/>
                <a:ea typeface="Arial"/>
                <a:cs typeface="Arial"/>
              </a:rPr>
              <a:t>Estas decisiones permiten mostrar el flujo sin tratar datos de salud como si fuera un servicio institucional en producción.</a:t>
            </a:r>
            <a:endParaRPr/>
          </a:p>
        </p:txBody>
      </p:sp>
      <p:sp>
        <p:nvSpPr>
          <p:cNvPr id="1200128965" name=""/>
          <p:cNvSpPr>
            <a:spLocks noGrp="1"/>
          </p:cNvSpPr>
          <p:nvPr/>
        </p:nvSpPr>
        <p:spPr bwMode="auto">
          <a:xfrm>
            <a:off x="10763250" y="447675"/>
            <a:ext cx="1000125" cy="304800"/>
          </a:xfrm>
          <a:prstGeom prst="rect">
            <a:avLst/>
          </a:prstGeom>
          <a:noFill/>
          <a:ln w="0">
            <a:noFill/>
            <a:prstDash val="solid"/>
          </a:ln>
        </p:spPr>
        <p:txBody>
          <a:bodyPr/>
          <a:lstStyle>
            <a:defPPr algn="l">
              <a:defRPr sz="1300" b="1">
                <a:solidFill>
                  <a:srgbClr val="56657A"/>
                </a:solidFill>
                <a:latin typeface="Arial"/>
                <a:ea typeface="Arial"/>
                <a:cs typeface="Arial"/>
              </a:defRPr>
            </a:defPPr>
          </a:lstStyle>
          <a:p>
            <a:pPr algn="l">
              <a:defRPr sz="1300" b="1">
                <a:solidFill>
                  <a:srgbClr val="56657A"/>
                </a:solidFill>
                <a:latin typeface="Arial"/>
                <a:ea typeface="Arial"/>
                <a:cs typeface="Arial"/>
              </a:defRPr>
            </a:pPr>
            <a:r>
              <a:rPr sz="1300" b="1">
                <a:solidFill>
                  <a:srgbClr val="56657A"/>
                </a:solidFill>
                <a:latin typeface="Arial"/>
                <a:ea typeface="Arial"/>
                <a:cs typeface="Arial"/>
              </a:rPr>
              <a:t>11 / 19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91C42"/>
        </a:solidFill>
      </p:bgPr>
    </p:bg>
    <p:spTree>
      <p:nvGrpSpPr>
        <p:cNvPr id="1" name=""/>
        <p:cNvGrpSpPr/>
        <p:nvPr/>
      </p:nvGrpSpPr>
      <p:grpSpPr bwMode="auto">
        <a:xfrm>
          <a:off x="0" y="0"/>
          <a:ext cx="0" cy="0"/>
          <a:chOff x="0" y="0"/>
          <a:chExt cx="0" cy="0"/>
        </a:xfrm>
      </p:grpSpPr>
      <p:sp>
        <p:nvSpPr>
          <p:cNvPr id="643724818" name=""/>
          <p:cNvSpPr>
            <a:spLocks noGrp="1"/>
          </p:cNvSpPr>
          <p:nvPr/>
        </p:nvSpPr>
        <p:spPr bwMode="auto">
          <a:xfrm>
            <a:off x="495300" y="419100"/>
            <a:ext cx="57150" cy="514350"/>
          </a:xfrm>
          <a:prstGeom prst="rect">
            <a:avLst/>
          </a:prstGeom>
          <a:solidFill>
            <a:srgbClr val="1CB7AE"/>
          </a:solidFill>
          <a:ln w="0">
            <a:solidFill>
              <a:srgbClr val="1CB7AE"/>
            </a:solidFill>
          </a:ln>
        </p:spPr>
      </p:sp>
      <p:sp>
        <p:nvSpPr>
          <p:cNvPr id="808271370" name=""/>
          <p:cNvSpPr>
            <a:spLocks noGrp="1"/>
          </p:cNvSpPr>
          <p:nvPr/>
        </p:nvSpPr>
        <p:spPr bwMode="auto">
          <a:xfrm>
            <a:off x="742950" y="400050"/>
            <a:ext cx="9810750" cy="619125"/>
          </a:xfrm>
          <a:prstGeom prst="rect">
            <a:avLst/>
          </a:prstGeom>
          <a:noFill/>
          <a:ln w="0">
            <a:noFill/>
          </a:ln>
        </p:spPr>
        <p:txBody>
          <a:bodyPr anchor="ctr">
            <a:normAutofit fontScale="100000"/>
          </a:bodyPr>
          <a:lstStyle/>
          <a:p>
            <a:pPr algn="l">
              <a:buNone/>
              <a:defRPr sz="3150" b="1">
                <a:solidFill>
                  <a:srgbClr val="FFFFFF"/>
                </a:solidFill>
                <a:latin typeface="Arial"/>
                <a:ea typeface="Arial"/>
                <a:cs typeface="Arial"/>
              </a:defRPr>
            </a:pPr>
            <a:r>
              <a:rPr sz="3150" b="1">
                <a:solidFill>
                  <a:srgbClr val="FFFFFF"/>
                </a:solidFill>
                <a:latin typeface="Arial"/>
                <a:ea typeface="Arial"/>
                <a:cs typeface="Arial"/>
              </a:rPr>
              <a:t>ELEGIR PROFESIONAL</a:t>
            </a:r>
            <a:endParaRPr/>
          </a:p>
        </p:txBody>
      </p:sp>
      <p:sp>
        <p:nvSpPr>
          <p:cNvPr id="114811093" name=""/>
          <p:cNvSpPr>
            <a:spLocks noGrp="1"/>
          </p:cNvSpPr>
          <p:nvPr/>
        </p:nvSpPr>
        <p:spPr bwMode="auto">
          <a:xfrm>
            <a:off x="10763250" y="447675"/>
            <a:ext cx="904875" cy="304800"/>
          </a:xfrm>
          <a:prstGeom prst="rect">
            <a:avLst/>
          </a:prstGeom>
          <a:noFill/>
          <a:ln w="0">
            <a:noFill/>
          </a:ln>
        </p:spPr>
        <p:txBody>
          <a:bodyPr anchor="ctr">
            <a:normAutofit fontScale="100000"/>
          </a:bodyPr>
          <a:lstStyle/>
          <a:p>
            <a:pPr algn="r">
              <a:buNone/>
              <a:defRPr sz="1300" b="1">
                <a:solidFill>
                  <a:srgbClr val="CFE5F2"/>
                </a:solidFill>
                <a:latin typeface="Arial"/>
                <a:ea typeface="Arial"/>
                <a:cs typeface="Arial"/>
              </a:defRPr>
            </a:pPr>
            <a:r>
              <a:rPr sz="1300" b="1">
                <a:solidFill>
                  <a:srgbClr val="CFE5F2"/>
                </a:solidFill>
                <a:latin typeface="Arial"/>
                <a:ea typeface="Arial"/>
                <a:cs typeface="Arial"/>
              </a:rPr>
              <a:t>12 / 19</a:t>
            </a:r>
            <a:endParaRPr/>
          </a:p>
        </p:txBody>
      </p:sp>
      <p:sp>
        <p:nvSpPr>
          <p:cNvPr id="348578400" name=""/>
          <p:cNvSpPr>
            <a:spLocks noGrp="1"/>
          </p:cNvSpPr>
          <p:nvPr/>
        </p:nvSpPr>
        <p:spPr bwMode="auto">
          <a:xfrm>
            <a:off x="762000" y="1352550"/>
            <a:ext cx="3667125" cy="1190625"/>
          </a:xfrm>
          <a:prstGeom prst="rect">
            <a:avLst/>
          </a:prstGeom>
          <a:noFill/>
          <a:ln w="0">
            <a:noFill/>
          </a:ln>
        </p:spPr>
        <p:txBody>
          <a:bodyPr anchor="ctr">
            <a:normAutofit fontScale="100000"/>
          </a:bodyPr>
          <a:lstStyle/>
          <a:p>
            <a:pPr algn="l">
              <a:buNone/>
              <a:defRPr sz="2250" b="1">
                <a:solidFill>
                  <a:srgbClr val="CFE5F2"/>
                </a:solidFill>
                <a:latin typeface="Arial"/>
                <a:ea typeface="Arial"/>
                <a:cs typeface="Arial"/>
              </a:defRPr>
            </a:pPr>
            <a:r>
              <a:rPr sz="2250" b="1">
                <a:solidFill>
                  <a:srgbClr val="CFE5F2"/>
                </a:solidFill>
                <a:latin typeface="Arial"/>
                <a:ea typeface="Arial"/>
                <a:cs typeface="Arial"/>
              </a:rPr>
              <a:t>La búsqueda filtra por nombre o especialidad.</a:t>
            </a:r>
            <a:endParaRPr/>
          </a:p>
        </p:txBody>
      </p:sp>
      <p:sp>
        <p:nvSpPr>
          <p:cNvPr id="1083600443" name=""/>
          <p:cNvSpPr>
            <a:spLocks noGrp="1"/>
          </p:cNvSpPr>
          <p:nvPr/>
        </p:nvSpPr>
        <p:spPr bwMode="auto">
          <a:xfrm>
            <a:off x="762000" y="3009900"/>
            <a:ext cx="3667125" cy="1895474"/>
          </a:xfrm>
          <a:prstGeom prst="rect">
            <a:avLst/>
          </a:prstGeom>
          <a:noFill/>
          <a:ln w="0">
            <a:noFill/>
          </a:ln>
        </p:spPr>
        <p:txBody>
          <a:bodyPr anchor="ctr">
            <a:normAutofit fontScale="100000"/>
          </a:bodyPr>
          <a:lstStyle/>
          <a:p>
            <a:pPr algn="l">
              <a:buNone/>
              <a:defRPr sz="1950" b="0">
                <a:solidFill>
                  <a:srgbClr val="FFFFFF"/>
                </a:solidFill>
                <a:latin typeface="Arial"/>
                <a:ea typeface="Arial"/>
                <a:cs typeface="Arial"/>
              </a:defRPr>
            </a:pPr>
            <a:r>
              <a:rPr sz="1950" b="0">
                <a:solidFill>
                  <a:srgbClr val="FFFFFF"/>
                </a:solidFill>
                <a:latin typeface="Arial"/>
                <a:ea typeface="Arial"/>
                <a:cs typeface="Arial"/>
              </a:rPr>
              <a:t>Cada ficha describe el enfoque de atención y abre la misma solicitud de cita.</a:t>
            </a:r>
            <a:endParaRPr/>
          </a:p>
        </p:txBody>
      </p:sp>
      <p:sp>
        <p:nvSpPr>
          <p:cNvPr id="1006551717" name=""/>
          <p:cNvSpPr>
            <a:spLocks noGrp="1"/>
          </p:cNvSpPr>
          <p:nvPr/>
        </p:nvSpPr>
        <p:spPr bwMode="auto">
          <a:xfrm>
            <a:off x="762000" y="5334000"/>
            <a:ext cx="3238500" cy="38100"/>
          </a:xfrm>
          <a:prstGeom prst="rect">
            <a:avLst/>
          </a:prstGeom>
          <a:solidFill>
            <a:srgbClr val="F0745B"/>
          </a:solidFill>
          <a:ln w="0">
            <a:solidFill>
              <a:srgbClr val="F0745B"/>
            </a:solidFill>
          </a:ln>
        </p:spPr>
      </p:sp>
      <p:sp>
        <p:nvSpPr>
          <p:cNvPr id="426942356" name=""/>
          <p:cNvSpPr>
            <a:spLocks noGrp="1"/>
          </p:cNvSpPr>
          <p:nvPr/>
        </p:nvSpPr>
        <p:spPr bwMode="auto">
          <a:xfrm>
            <a:off x="4857750" y="1524000"/>
            <a:ext cx="6572250" cy="4524375"/>
          </a:xfrm>
          <a:prstGeom prst="rect">
            <a:avLst/>
          </a:prstGeom>
          <a:solidFill>
            <a:srgbClr val="FFFFFF"/>
          </a:solidFill>
          <a:ln w="0">
            <a:solidFill>
              <a:srgbClr val="FFFFFF"/>
            </a:solidFill>
          </a:ln>
        </p:spPr>
      </p:sp>
      <p:pic>
        <p:nvPicPr>
          <p:cNvPr id="1664181364" name=""/>
          <p:cNvPicPr>
            <a:picLocks noChangeAspect="1"/>
          </p:cNvPicPr>
          <p:nvPr/>
        </p:nvPicPr>
        <p:blipFill rotWithShape="1">
          <a:blip r:embed="rId3"/>
          <a:stretch/>
        </p:blipFill>
        <p:spPr bwMode="auto">
          <a:xfrm>
            <a:off x="5000625" y="1821656"/>
            <a:ext cx="6286500" cy="392906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8F6F1"/>
        </a:solidFill>
      </p:bgPr>
    </p:bg>
    <p:spTree>
      <p:nvGrpSpPr>
        <p:cNvPr id="1" name=""/>
        <p:cNvGrpSpPr/>
        <p:nvPr/>
      </p:nvGrpSpPr>
      <p:grpSpPr bwMode="auto">
        <a:xfrm>
          <a:off x="0" y="0"/>
          <a:ext cx="0" cy="0"/>
          <a:chOff x="0" y="0"/>
          <a:chExt cx="0" cy="0"/>
        </a:xfrm>
      </p:grpSpPr>
      <p:sp>
        <p:nvSpPr>
          <p:cNvPr id="820392694" name=""/>
          <p:cNvSpPr>
            <a:spLocks noGrp="1"/>
          </p:cNvSpPr>
          <p:nvPr/>
        </p:nvSpPr>
        <p:spPr bwMode="auto">
          <a:xfrm>
            <a:off x="0" y="0"/>
            <a:ext cx="4048125" cy="6858000"/>
          </a:xfrm>
          <a:prstGeom prst="rect">
            <a:avLst/>
          </a:prstGeom>
          <a:solidFill>
            <a:srgbClr val="102653"/>
          </a:solidFill>
          <a:ln w="0">
            <a:solidFill>
              <a:srgbClr val="102653"/>
            </a:solidFill>
          </a:ln>
        </p:spPr>
      </p:sp>
      <p:sp>
        <p:nvSpPr>
          <p:cNvPr id="1826370565" name=""/>
          <p:cNvSpPr>
            <a:spLocks noGrp="1"/>
          </p:cNvSpPr>
          <p:nvPr/>
        </p:nvSpPr>
        <p:spPr bwMode="auto">
          <a:xfrm>
            <a:off x="523875" y="504825"/>
            <a:ext cx="57150" cy="514350"/>
          </a:xfrm>
          <a:prstGeom prst="rect">
            <a:avLst/>
          </a:prstGeom>
          <a:solidFill>
            <a:srgbClr val="1CB7AE"/>
          </a:solidFill>
          <a:ln w="0">
            <a:solidFill>
              <a:srgbClr val="1CB7AE"/>
            </a:solidFill>
          </a:ln>
        </p:spPr>
      </p:sp>
      <p:sp>
        <p:nvSpPr>
          <p:cNvPr id="915257446" name=""/>
          <p:cNvSpPr>
            <a:spLocks noGrp="1"/>
          </p:cNvSpPr>
          <p:nvPr/>
        </p:nvSpPr>
        <p:spPr bwMode="auto">
          <a:xfrm>
            <a:off x="752475" y="1181099"/>
            <a:ext cx="2952750" cy="1571625"/>
          </a:xfrm>
          <a:prstGeom prst="rect">
            <a:avLst/>
          </a:prstGeom>
          <a:noFill/>
          <a:ln w="0">
            <a:noFill/>
          </a:ln>
        </p:spPr>
        <p:txBody>
          <a:bodyPr anchor="ctr">
            <a:normAutofit fontScale="100000"/>
          </a:bodyPr>
          <a:lstStyle/>
          <a:p>
            <a:pPr algn="l">
              <a:buNone/>
              <a:defRPr sz="2950" b="1">
                <a:solidFill>
                  <a:srgbClr val="FFFFFF"/>
                </a:solidFill>
                <a:latin typeface="Arial"/>
                <a:ea typeface="Arial"/>
                <a:cs typeface="Arial"/>
              </a:defRPr>
            </a:pPr>
            <a:r>
              <a:rPr sz="2950" b="1">
                <a:solidFill>
                  <a:srgbClr val="FFFFFF"/>
                </a:solidFill>
                <a:latin typeface="Arial"/>
                <a:ea typeface="Arial"/>
                <a:cs typeface="Arial"/>
              </a:rPr>
              <a:t>HORARIOS</a:t>
            </a:r>
            <a:endParaRPr/>
          </a:p>
          <a:p>
            <a:pPr algn="l">
              <a:buNone/>
              <a:defRPr sz="2950" b="1">
                <a:solidFill>
                  <a:srgbClr val="FFFFFF"/>
                </a:solidFill>
                <a:latin typeface="Arial"/>
                <a:ea typeface="Arial"/>
                <a:cs typeface="Arial"/>
              </a:defRPr>
            </a:pPr>
            <a:r>
              <a:rPr sz="2950" b="1">
                <a:solidFill>
                  <a:srgbClr val="FFFFFF"/>
                </a:solidFill>
                <a:latin typeface="Arial"/>
                <a:ea typeface="Arial"/>
                <a:cs typeface="Arial"/>
              </a:rPr>
              <a:t>DISPONIBLES</a:t>
            </a:r>
            <a:endParaRPr/>
          </a:p>
        </p:txBody>
      </p:sp>
      <p:sp>
        <p:nvSpPr>
          <p:cNvPr id="2113630284" name=""/>
          <p:cNvSpPr>
            <a:spLocks noGrp="1"/>
          </p:cNvSpPr>
          <p:nvPr/>
        </p:nvSpPr>
        <p:spPr bwMode="auto">
          <a:xfrm>
            <a:off x="752475" y="3257550"/>
            <a:ext cx="2905125" cy="1457325"/>
          </a:xfrm>
          <a:prstGeom prst="rect">
            <a:avLst/>
          </a:prstGeom>
          <a:noFill/>
          <a:ln w="0">
            <a:noFill/>
          </a:ln>
        </p:spPr>
        <p:txBody>
          <a:bodyPr anchor="ctr">
            <a:normAutofit fontScale="100000"/>
          </a:bodyPr>
          <a:lstStyle/>
          <a:p>
            <a:pPr algn="l">
              <a:buNone/>
              <a:defRPr sz="2100" b="0">
                <a:solidFill>
                  <a:srgbClr val="CFE5F2"/>
                </a:solidFill>
                <a:latin typeface="Arial"/>
                <a:ea typeface="Arial"/>
                <a:cs typeface="Arial"/>
              </a:defRPr>
            </a:pPr>
            <a:r>
              <a:rPr sz="2100" b="0">
                <a:solidFill>
                  <a:srgbClr val="CFE5F2"/>
                </a:solidFill>
                <a:latin typeface="Arial"/>
                <a:ea typeface="Arial"/>
                <a:cs typeface="Arial"/>
              </a:rPr>
              <a:t>La tabla reúne los cupos de los próximos días por profesional.</a:t>
            </a:r>
            <a:endParaRPr/>
          </a:p>
        </p:txBody>
      </p:sp>
      <p:sp>
        <p:nvSpPr>
          <p:cNvPr id="846992533" name=""/>
          <p:cNvSpPr>
            <a:spLocks noGrp="1"/>
          </p:cNvSpPr>
          <p:nvPr/>
        </p:nvSpPr>
        <p:spPr bwMode="auto">
          <a:xfrm>
            <a:off x="752475" y="4905375"/>
            <a:ext cx="2714625" cy="38100"/>
          </a:xfrm>
          <a:prstGeom prst="rect">
            <a:avLst/>
          </a:prstGeom>
          <a:solidFill>
            <a:srgbClr val="F0745B"/>
          </a:solidFill>
          <a:ln w="0">
            <a:solidFill>
              <a:srgbClr val="F0745B"/>
            </a:solidFill>
          </a:ln>
        </p:spPr>
      </p:sp>
      <p:sp>
        <p:nvSpPr>
          <p:cNvPr id="786801461" name=""/>
          <p:cNvSpPr>
            <a:spLocks noGrp="1"/>
          </p:cNvSpPr>
          <p:nvPr/>
        </p:nvSpPr>
        <p:spPr bwMode="auto">
          <a:xfrm>
            <a:off x="752475" y="5219700"/>
            <a:ext cx="2857500" cy="1219200"/>
          </a:xfrm>
          <a:prstGeom prst="rect">
            <a:avLst/>
          </a:prstGeom>
          <a:noFill/>
          <a:ln w="0">
            <a:noFill/>
          </a:ln>
        </p:spPr>
        <p:txBody>
          <a:bodyPr anchor="ctr">
            <a:normAutofit fontScale="100000"/>
          </a:bodyPr>
          <a:lstStyle/>
          <a:p>
            <a:pPr algn="l">
              <a:buNone/>
              <a:defRPr sz="1800" b="0">
                <a:solidFill>
                  <a:srgbClr val="FFFFFF"/>
                </a:solidFill>
                <a:latin typeface="Arial"/>
                <a:ea typeface="Arial"/>
                <a:cs typeface="Arial"/>
              </a:defRPr>
            </a:pPr>
            <a:r>
              <a:rPr sz="1800" b="0">
                <a:solidFill>
                  <a:srgbClr val="FFFFFF"/>
                </a:solidFill>
                <a:latin typeface="Arial"/>
                <a:ea typeface="Arial"/>
                <a:cs typeface="Arial"/>
              </a:rPr>
              <a:t>Elegir un cupo prepara el mismo formulario de cita.</a:t>
            </a:r>
            <a:endParaRPr/>
          </a:p>
        </p:txBody>
      </p:sp>
      <p:sp>
        <p:nvSpPr>
          <p:cNvPr id="562066000" name=""/>
          <p:cNvSpPr>
            <a:spLocks noGrp="1"/>
          </p:cNvSpPr>
          <p:nvPr/>
        </p:nvSpPr>
        <p:spPr bwMode="auto">
          <a:xfrm>
            <a:off x="4324350" y="885825"/>
            <a:ext cx="7486650" cy="5219700"/>
          </a:xfrm>
          <a:prstGeom prst="rect">
            <a:avLst/>
          </a:prstGeom>
          <a:solidFill>
            <a:srgbClr val="FFFFFF"/>
          </a:solidFill>
          <a:ln w="0">
            <a:solidFill>
              <a:srgbClr val="FFFFFF"/>
            </a:solidFill>
          </a:ln>
        </p:spPr>
      </p:sp>
      <p:pic>
        <p:nvPicPr>
          <p:cNvPr id="114201361" name=""/>
          <p:cNvPicPr>
            <a:picLocks noChangeAspect="1"/>
          </p:cNvPicPr>
          <p:nvPr/>
        </p:nvPicPr>
        <p:blipFill rotWithShape="1">
          <a:blip r:embed="rId3"/>
          <a:stretch/>
        </p:blipFill>
        <p:spPr bwMode="auto">
          <a:xfrm>
            <a:off x="4467225" y="1245394"/>
            <a:ext cx="7200900" cy="4500563"/>
          </a:xfrm>
          <a:prstGeom prst="rect">
            <a:avLst/>
          </a:prstGeom>
        </p:spPr>
      </p:pic>
      <p:sp>
        <p:nvSpPr>
          <p:cNvPr id="1544630298" name=""/>
          <p:cNvSpPr>
            <a:spLocks noGrp="1"/>
          </p:cNvSpPr>
          <p:nvPr/>
        </p:nvSpPr>
        <p:spPr bwMode="auto">
          <a:xfrm>
            <a:off x="10753725" y="457200"/>
            <a:ext cx="904875" cy="304800"/>
          </a:xfrm>
          <a:prstGeom prst="rect">
            <a:avLst/>
          </a:prstGeom>
          <a:noFill/>
          <a:ln w="0">
            <a:noFill/>
          </a:ln>
        </p:spPr>
        <p:txBody>
          <a:bodyPr anchor="ctr">
            <a:normAutofit fontScale="100000"/>
          </a:bodyPr>
          <a:lstStyle/>
          <a:p>
            <a:pPr algn="r">
              <a:buNone/>
              <a:defRPr sz="1300" b="1">
                <a:solidFill>
                  <a:srgbClr val="56657A"/>
                </a:solidFill>
                <a:latin typeface="Arial"/>
                <a:ea typeface="Arial"/>
                <a:cs typeface="Arial"/>
              </a:defRPr>
            </a:pPr>
            <a:r>
              <a:rPr sz="1300" b="1">
                <a:solidFill>
                  <a:srgbClr val="56657A"/>
                </a:solidFill>
                <a:latin typeface="Arial"/>
                <a:ea typeface="Arial"/>
                <a:cs typeface="Arial"/>
              </a:rPr>
              <a:t>13 / 19</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8F6F1"/>
        </a:solidFill>
      </p:bgPr>
    </p:bg>
    <p:spTree>
      <p:nvGrpSpPr>
        <p:cNvPr id="1" name=""/>
        <p:cNvGrpSpPr/>
        <p:nvPr/>
      </p:nvGrpSpPr>
      <p:grpSpPr bwMode="auto">
        <a:xfrm>
          <a:off x="0" y="0"/>
          <a:ext cx="0" cy="0"/>
          <a:chOff x="0" y="0"/>
          <a:chExt cx="0" cy="0"/>
        </a:xfrm>
      </p:grpSpPr>
      <p:sp>
        <p:nvSpPr>
          <p:cNvPr id="1611610012" name=""/>
          <p:cNvSpPr>
            <a:spLocks noGrp="1"/>
          </p:cNvSpPr>
          <p:nvPr/>
        </p:nvSpPr>
        <p:spPr bwMode="auto">
          <a:xfrm>
            <a:off x="495300" y="419100"/>
            <a:ext cx="57150" cy="514350"/>
          </a:xfrm>
          <a:prstGeom prst="rect">
            <a:avLst/>
          </a:prstGeom>
          <a:solidFill>
            <a:srgbClr val="F0745B"/>
          </a:solidFill>
          <a:ln w="0">
            <a:solidFill>
              <a:srgbClr val="F0745B"/>
            </a:solidFill>
          </a:ln>
        </p:spPr>
      </p:sp>
      <p:sp>
        <p:nvSpPr>
          <p:cNvPr id="1775133379" name=""/>
          <p:cNvSpPr>
            <a:spLocks noGrp="1"/>
          </p:cNvSpPr>
          <p:nvPr/>
        </p:nvSpPr>
        <p:spPr bwMode="auto">
          <a:xfrm>
            <a:off x="742950" y="400050"/>
            <a:ext cx="9810750" cy="619125"/>
          </a:xfrm>
          <a:prstGeom prst="rect">
            <a:avLst/>
          </a:prstGeom>
          <a:noFill/>
          <a:ln w="0">
            <a:noFill/>
          </a:ln>
        </p:spPr>
        <p:txBody>
          <a:bodyPr anchor="ctr">
            <a:normAutofit fontScale="100000"/>
          </a:bodyPr>
          <a:lstStyle/>
          <a:p>
            <a:pPr algn="l">
              <a:buNone/>
              <a:defRPr sz="3150" b="1">
                <a:solidFill>
                  <a:srgbClr val="102653"/>
                </a:solidFill>
                <a:latin typeface="Arial"/>
                <a:ea typeface="Arial"/>
                <a:cs typeface="Arial"/>
              </a:defRPr>
            </a:pPr>
            <a:r>
              <a:rPr sz="3150" b="1">
                <a:solidFill>
                  <a:srgbClr val="102653"/>
                </a:solidFill>
                <a:latin typeface="Arial"/>
                <a:ea typeface="Arial"/>
                <a:cs typeface="Arial"/>
              </a:rPr>
              <a:t>DESPUÉS DE CONFIRMAR</a:t>
            </a:r>
            <a:endParaRPr/>
          </a:p>
        </p:txBody>
      </p:sp>
      <p:sp>
        <p:nvSpPr>
          <p:cNvPr id="1138824931" name=""/>
          <p:cNvSpPr>
            <a:spLocks noGrp="1"/>
          </p:cNvSpPr>
          <p:nvPr/>
        </p:nvSpPr>
        <p:spPr bwMode="auto">
          <a:xfrm>
            <a:off x="10763250" y="447675"/>
            <a:ext cx="904875" cy="304800"/>
          </a:xfrm>
          <a:prstGeom prst="rect">
            <a:avLst/>
          </a:prstGeom>
          <a:noFill/>
          <a:ln w="0">
            <a:noFill/>
          </a:ln>
        </p:spPr>
        <p:txBody>
          <a:bodyPr anchor="ctr">
            <a:normAutofit fontScale="100000"/>
          </a:bodyPr>
          <a:lstStyle/>
          <a:p>
            <a:pPr algn="r">
              <a:buNone/>
              <a:defRPr sz="1300" b="1">
                <a:solidFill>
                  <a:srgbClr val="56657A"/>
                </a:solidFill>
                <a:latin typeface="Arial"/>
                <a:ea typeface="Arial"/>
                <a:cs typeface="Arial"/>
              </a:defRPr>
            </a:pPr>
            <a:r>
              <a:rPr sz="1300" b="1">
                <a:solidFill>
                  <a:srgbClr val="56657A"/>
                </a:solidFill>
                <a:latin typeface="Arial"/>
                <a:ea typeface="Arial"/>
                <a:cs typeface="Arial"/>
              </a:rPr>
              <a:t>14 / 19</a:t>
            </a:r>
            <a:endParaRPr/>
          </a:p>
        </p:txBody>
      </p:sp>
      <p:sp>
        <p:nvSpPr>
          <p:cNvPr id="1541596373" name=""/>
          <p:cNvSpPr>
            <a:spLocks noGrp="1"/>
          </p:cNvSpPr>
          <p:nvPr/>
        </p:nvSpPr>
        <p:spPr bwMode="auto">
          <a:xfrm>
            <a:off x="742950" y="1171575"/>
            <a:ext cx="10191750" cy="771525"/>
          </a:xfrm>
          <a:prstGeom prst="rect">
            <a:avLst/>
          </a:prstGeom>
          <a:noFill/>
          <a:ln w="0">
            <a:noFill/>
          </a:ln>
        </p:spPr>
        <p:txBody>
          <a:bodyPr anchor="ctr">
            <a:normAutofit fontScale="100000"/>
          </a:bodyPr>
          <a:lstStyle/>
          <a:p>
            <a:pPr algn="l">
              <a:buNone/>
              <a:defRPr sz="2100" b="0">
                <a:solidFill>
                  <a:srgbClr val="56657A"/>
                </a:solidFill>
                <a:latin typeface="Arial"/>
                <a:ea typeface="Arial"/>
                <a:cs typeface="Arial"/>
              </a:defRPr>
            </a:pPr>
            <a:r>
              <a:rPr sz="2100" b="0">
                <a:solidFill>
                  <a:srgbClr val="56657A"/>
                </a:solidFill>
                <a:latin typeface="Arial"/>
                <a:ea typeface="Arial"/>
                <a:cs typeface="Arial"/>
              </a:rPr>
              <a:t>La cita queda en “Mis citas”. Desde allí se consulta, reprograma o cancela.</a:t>
            </a:r>
            <a:endParaRPr/>
          </a:p>
        </p:txBody>
      </p:sp>
      <p:sp>
        <p:nvSpPr>
          <p:cNvPr id="1385310007" name=""/>
          <p:cNvSpPr>
            <a:spLocks noGrp="1"/>
          </p:cNvSpPr>
          <p:nvPr/>
        </p:nvSpPr>
        <p:spPr bwMode="auto">
          <a:xfrm>
            <a:off x="685800" y="2228850"/>
            <a:ext cx="7143750" cy="3714750"/>
          </a:xfrm>
          <a:prstGeom prst="rect">
            <a:avLst/>
          </a:prstGeom>
          <a:solidFill>
            <a:srgbClr val="FFFFFF"/>
          </a:solidFill>
          <a:ln w="0">
            <a:solidFill>
              <a:srgbClr val="FFFFFF"/>
            </a:solidFill>
          </a:ln>
        </p:spPr>
      </p:sp>
      <p:pic>
        <p:nvPicPr>
          <p:cNvPr id="541284895" name=""/>
          <p:cNvPicPr>
            <a:picLocks noChangeAspect="1"/>
          </p:cNvPicPr>
          <p:nvPr/>
        </p:nvPicPr>
        <p:blipFill rotWithShape="1">
          <a:blip r:embed="rId3"/>
          <a:stretch/>
        </p:blipFill>
        <p:spPr bwMode="auto">
          <a:xfrm>
            <a:off x="1476375" y="2343150"/>
            <a:ext cx="5562600" cy="3476625"/>
          </a:xfrm>
          <a:prstGeom prst="rect">
            <a:avLst/>
          </a:prstGeom>
        </p:spPr>
      </p:pic>
      <p:sp>
        <p:nvSpPr>
          <p:cNvPr id="1132537332" name=""/>
          <p:cNvSpPr>
            <a:spLocks noGrp="1"/>
          </p:cNvSpPr>
          <p:nvPr/>
        </p:nvSpPr>
        <p:spPr bwMode="auto">
          <a:xfrm>
            <a:off x="8210550" y="2362199"/>
            <a:ext cx="3333750" cy="428625"/>
          </a:xfrm>
          <a:prstGeom prst="rect">
            <a:avLst/>
          </a:prstGeom>
          <a:noFill/>
          <a:ln w="0">
            <a:noFill/>
          </a:ln>
        </p:spPr>
        <p:txBody>
          <a:bodyPr anchor="ctr">
            <a:normAutofit fontScale="100000"/>
          </a:bodyPr>
          <a:lstStyle/>
          <a:p>
            <a:pPr algn="l">
              <a:buNone/>
              <a:defRPr sz="2200" b="1">
                <a:solidFill>
                  <a:srgbClr val="0055AE"/>
                </a:solidFill>
                <a:latin typeface="Arial"/>
                <a:ea typeface="Arial"/>
                <a:cs typeface="Arial"/>
              </a:defRPr>
            </a:pPr>
            <a:r>
              <a:rPr sz="2200" b="1">
                <a:solidFill>
                  <a:srgbClr val="0055AE"/>
                </a:solidFill>
                <a:latin typeface="Arial"/>
                <a:ea typeface="Arial"/>
                <a:cs typeface="Arial"/>
              </a:rPr>
              <a:t>Consultar</a:t>
            </a:r>
            <a:endParaRPr/>
          </a:p>
        </p:txBody>
      </p:sp>
      <p:sp>
        <p:nvSpPr>
          <p:cNvPr id="1440713565" name=""/>
          <p:cNvSpPr>
            <a:spLocks noGrp="1"/>
          </p:cNvSpPr>
          <p:nvPr/>
        </p:nvSpPr>
        <p:spPr bwMode="auto">
          <a:xfrm>
            <a:off x="8210550" y="2809875"/>
            <a:ext cx="3048000" cy="533400"/>
          </a:xfrm>
          <a:prstGeom prst="rect">
            <a:avLst/>
          </a:prstGeom>
          <a:noFill/>
          <a:ln w="0">
            <a:noFill/>
          </a:ln>
        </p:spPr>
        <p:txBody>
          <a:bodyPr anchor="ctr">
            <a:normAutofit fontScale="97370"/>
          </a:bodyPr>
          <a:lstStyle/>
          <a:p>
            <a:pPr algn="l">
              <a:buNone/>
              <a:defRPr sz="1650" b="0">
                <a:solidFill>
                  <a:srgbClr val="56657A"/>
                </a:solidFill>
                <a:latin typeface="Arial"/>
                <a:ea typeface="Arial"/>
                <a:cs typeface="Arial"/>
              </a:defRPr>
            </a:pPr>
            <a:r>
              <a:rPr sz="1650" b="0">
                <a:solidFill>
                  <a:srgbClr val="56657A"/>
                </a:solidFill>
                <a:latin typeface="Arial"/>
                <a:ea typeface="Arial"/>
                <a:cs typeface="Arial"/>
              </a:rPr>
              <a:t>Ver fecha, profesional y estado.</a:t>
            </a:r>
            <a:endParaRPr/>
          </a:p>
        </p:txBody>
      </p:sp>
      <p:sp>
        <p:nvSpPr>
          <p:cNvPr id="1440868328" name=""/>
          <p:cNvSpPr>
            <a:spLocks noGrp="1"/>
          </p:cNvSpPr>
          <p:nvPr/>
        </p:nvSpPr>
        <p:spPr bwMode="auto">
          <a:xfrm>
            <a:off x="8210550" y="3429000"/>
            <a:ext cx="2971800" cy="19050"/>
          </a:xfrm>
          <a:prstGeom prst="rect">
            <a:avLst/>
          </a:prstGeom>
          <a:solidFill>
            <a:srgbClr val="C8D3DA"/>
          </a:solidFill>
          <a:ln w="0">
            <a:solidFill>
              <a:srgbClr val="C8D3DA"/>
            </a:solidFill>
          </a:ln>
        </p:spPr>
      </p:sp>
      <p:sp>
        <p:nvSpPr>
          <p:cNvPr id="200549072" name=""/>
          <p:cNvSpPr>
            <a:spLocks noGrp="1"/>
          </p:cNvSpPr>
          <p:nvPr/>
        </p:nvSpPr>
        <p:spPr bwMode="auto">
          <a:xfrm>
            <a:off x="8210550" y="3543300"/>
            <a:ext cx="3333750" cy="428625"/>
          </a:xfrm>
          <a:prstGeom prst="rect">
            <a:avLst/>
          </a:prstGeom>
          <a:noFill/>
          <a:ln w="0">
            <a:noFill/>
          </a:ln>
        </p:spPr>
        <p:txBody>
          <a:bodyPr anchor="ctr">
            <a:normAutofit fontScale="100000"/>
          </a:bodyPr>
          <a:lstStyle/>
          <a:p>
            <a:pPr algn="l">
              <a:buNone/>
              <a:defRPr sz="2200" b="1">
                <a:solidFill>
                  <a:srgbClr val="0055AE"/>
                </a:solidFill>
                <a:latin typeface="Arial"/>
                <a:ea typeface="Arial"/>
                <a:cs typeface="Arial"/>
              </a:defRPr>
            </a:pPr>
            <a:r>
              <a:rPr sz="2200" b="1">
                <a:solidFill>
                  <a:srgbClr val="0055AE"/>
                </a:solidFill>
                <a:latin typeface="Arial"/>
                <a:ea typeface="Arial"/>
                <a:cs typeface="Arial"/>
              </a:rPr>
              <a:t>Reprogramar</a:t>
            </a:r>
            <a:endParaRPr/>
          </a:p>
        </p:txBody>
      </p:sp>
      <p:sp>
        <p:nvSpPr>
          <p:cNvPr id="1486300301" name=""/>
          <p:cNvSpPr>
            <a:spLocks noGrp="1"/>
          </p:cNvSpPr>
          <p:nvPr/>
        </p:nvSpPr>
        <p:spPr bwMode="auto">
          <a:xfrm>
            <a:off x="8210550" y="3990975"/>
            <a:ext cx="3048000" cy="533400"/>
          </a:xfrm>
          <a:prstGeom prst="rect">
            <a:avLst/>
          </a:prstGeom>
          <a:noFill/>
          <a:ln w="0">
            <a:noFill/>
          </a:ln>
        </p:spPr>
        <p:txBody>
          <a:bodyPr anchor="ctr">
            <a:normAutofit fontScale="100000"/>
          </a:bodyPr>
          <a:lstStyle/>
          <a:p>
            <a:pPr algn="l">
              <a:buNone/>
              <a:defRPr sz="1650" b="0">
                <a:solidFill>
                  <a:srgbClr val="56657A"/>
                </a:solidFill>
                <a:latin typeface="Arial"/>
                <a:ea typeface="Arial"/>
                <a:cs typeface="Arial"/>
              </a:defRPr>
            </a:pPr>
            <a:r>
              <a:rPr sz="1650" b="0">
                <a:solidFill>
                  <a:srgbClr val="56657A"/>
                </a:solidFill>
                <a:latin typeface="Arial"/>
                <a:ea typeface="Arial"/>
                <a:cs typeface="Arial"/>
              </a:rPr>
              <a:t>Elegir otro cupo disponible.</a:t>
            </a:r>
            <a:endParaRPr/>
          </a:p>
        </p:txBody>
      </p:sp>
      <p:sp>
        <p:nvSpPr>
          <p:cNvPr id="116154514" name=""/>
          <p:cNvSpPr>
            <a:spLocks noGrp="1"/>
          </p:cNvSpPr>
          <p:nvPr/>
        </p:nvSpPr>
        <p:spPr bwMode="auto">
          <a:xfrm>
            <a:off x="8210550" y="4610100"/>
            <a:ext cx="2971800" cy="19050"/>
          </a:xfrm>
          <a:prstGeom prst="rect">
            <a:avLst/>
          </a:prstGeom>
          <a:solidFill>
            <a:srgbClr val="C8D3DA"/>
          </a:solidFill>
          <a:ln w="0">
            <a:solidFill>
              <a:srgbClr val="C8D3DA"/>
            </a:solidFill>
          </a:ln>
        </p:spPr>
      </p:sp>
      <p:sp>
        <p:nvSpPr>
          <p:cNvPr id="419312846" name=""/>
          <p:cNvSpPr>
            <a:spLocks noGrp="1"/>
          </p:cNvSpPr>
          <p:nvPr/>
        </p:nvSpPr>
        <p:spPr bwMode="auto">
          <a:xfrm>
            <a:off x="8210550" y="4724399"/>
            <a:ext cx="3333750" cy="428625"/>
          </a:xfrm>
          <a:prstGeom prst="rect">
            <a:avLst/>
          </a:prstGeom>
          <a:noFill/>
          <a:ln w="0">
            <a:noFill/>
          </a:ln>
        </p:spPr>
        <p:txBody>
          <a:bodyPr anchor="ctr">
            <a:normAutofit fontScale="100000"/>
          </a:bodyPr>
          <a:lstStyle/>
          <a:p>
            <a:pPr algn="l">
              <a:buNone/>
              <a:defRPr sz="2200" b="1">
                <a:solidFill>
                  <a:srgbClr val="F0745B"/>
                </a:solidFill>
                <a:latin typeface="Arial"/>
                <a:ea typeface="Arial"/>
                <a:cs typeface="Arial"/>
              </a:defRPr>
            </a:pPr>
            <a:r>
              <a:rPr sz="2200" b="1">
                <a:solidFill>
                  <a:srgbClr val="F0745B"/>
                </a:solidFill>
                <a:latin typeface="Arial"/>
                <a:ea typeface="Arial"/>
                <a:cs typeface="Arial"/>
              </a:rPr>
              <a:t>Cancelar</a:t>
            </a:r>
            <a:endParaRPr/>
          </a:p>
        </p:txBody>
      </p:sp>
      <p:sp>
        <p:nvSpPr>
          <p:cNvPr id="939051389" name=""/>
          <p:cNvSpPr>
            <a:spLocks noGrp="1"/>
          </p:cNvSpPr>
          <p:nvPr/>
        </p:nvSpPr>
        <p:spPr bwMode="auto">
          <a:xfrm>
            <a:off x="8210550" y="5172075"/>
            <a:ext cx="3048000" cy="533400"/>
          </a:xfrm>
          <a:prstGeom prst="rect">
            <a:avLst/>
          </a:prstGeom>
          <a:noFill/>
          <a:ln w="0">
            <a:noFill/>
          </a:ln>
        </p:spPr>
        <p:txBody>
          <a:bodyPr anchor="ctr">
            <a:normAutofit fontScale="100000"/>
          </a:bodyPr>
          <a:lstStyle/>
          <a:p>
            <a:pPr algn="l">
              <a:buNone/>
              <a:defRPr sz="1650" b="0">
                <a:solidFill>
                  <a:srgbClr val="56657A"/>
                </a:solidFill>
                <a:latin typeface="Arial"/>
                <a:ea typeface="Arial"/>
                <a:cs typeface="Arial"/>
              </a:defRPr>
            </a:pPr>
            <a:r>
              <a:rPr sz="1650" b="0">
                <a:solidFill>
                  <a:srgbClr val="56657A"/>
                </a:solidFill>
                <a:latin typeface="Arial"/>
                <a:ea typeface="Arial"/>
                <a:cs typeface="Arial"/>
              </a:rPr>
              <a:t>Actualizar el estado de la cita.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091C42"/>
        </a:solidFill>
      </p:bgPr>
    </p:bg>
    <p:spTree>
      <p:nvGrpSpPr>
        <p:cNvPr id="1" name=""/>
        <p:cNvGrpSpPr/>
        <p:nvPr/>
      </p:nvGrpSpPr>
      <p:grpSpPr bwMode="auto">
        <a:xfrm>
          <a:off x="0" y="0"/>
          <a:ext cx="0" cy="0"/>
          <a:chOff x="0" y="0"/>
          <a:chExt cx="0" cy="0"/>
        </a:xfrm>
      </p:grpSpPr>
      <p:sp>
        <p:nvSpPr>
          <p:cNvPr id="2101729602" name=""/>
          <p:cNvSpPr>
            <a:spLocks noGrp="1"/>
          </p:cNvSpPr>
          <p:nvPr/>
        </p:nvSpPr>
        <p:spPr bwMode="auto">
          <a:xfrm>
            <a:off x="495300" y="419100"/>
            <a:ext cx="57150" cy="514350"/>
          </a:xfrm>
          <a:prstGeom prst="rect">
            <a:avLst/>
          </a:prstGeom>
          <a:solidFill>
            <a:srgbClr val="1CB7AE"/>
          </a:solidFill>
          <a:ln w="0">
            <a:solidFill>
              <a:srgbClr val="1CB7AE"/>
            </a:solidFill>
          </a:ln>
        </p:spPr>
      </p:sp>
      <p:sp>
        <p:nvSpPr>
          <p:cNvPr id="1943740391" name=""/>
          <p:cNvSpPr>
            <a:spLocks noGrp="1"/>
          </p:cNvSpPr>
          <p:nvPr/>
        </p:nvSpPr>
        <p:spPr bwMode="auto">
          <a:xfrm>
            <a:off x="742950" y="400050"/>
            <a:ext cx="9810750" cy="619125"/>
          </a:xfrm>
          <a:prstGeom prst="rect">
            <a:avLst/>
          </a:prstGeom>
          <a:noFill/>
          <a:ln w="0">
            <a:noFill/>
          </a:ln>
        </p:spPr>
        <p:txBody>
          <a:bodyPr anchor="ctr">
            <a:normAutofit fontScale="100000"/>
          </a:bodyPr>
          <a:lstStyle/>
          <a:p>
            <a:pPr algn="l">
              <a:buNone/>
              <a:defRPr sz="3150" b="1">
                <a:solidFill>
                  <a:srgbClr val="FFFFFF"/>
                </a:solidFill>
                <a:latin typeface="Arial"/>
                <a:ea typeface="Arial"/>
                <a:cs typeface="Arial"/>
              </a:defRPr>
            </a:pPr>
            <a:r>
              <a:rPr sz="3150" b="1">
                <a:solidFill>
                  <a:srgbClr val="FFFFFF"/>
                </a:solidFill>
                <a:latin typeface="Arial"/>
                <a:ea typeface="Arial"/>
                <a:cs typeface="Arial"/>
              </a:rPr>
              <a:t>ACCESIBILIDAD EN EL MISMO RECORRIDO</a:t>
            </a:r>
            <a:endParaRPr/>
          </a:p>
        </p:txBody>
      </p:sp>
      <p:sp>
        <p:nvSpPr>
          <p:cNvPr id="1569391291" name=""/>
          <p:cNvSpPr>
            <a:spLocks noGrp="1"/>
          </p:cNvSpPr>
          <p:nvPr/>
        </p:nvSpPr>
        <p:spPr bwMode="auto">
          <a:xfrm>
            <a:off x="10763250" y="447675"/>
            <a:ext cx="904875" cy="304800"/>
          </a:xfrm>
          <a:prstGeom prst="rect">
            <a:avLst/>
          </a:prstGeom>
          <a:noFill/>
          <a:ln w="0">
            <a:noFill/>
          </a:ln>
        </p:spPr>
        <p:txBody>
          <a:bodyPr anchor="ctr">
            <a:normAutofit fontScale="100000"/>
          </a:bodyPr>
          <a:lstStyle/>
          <a:p>
            <a:pPr algn="r">
              <a:buNone/>
              <a:defRPr sz="1300" b="1">
                <a:solidFill>
                  <a:srgbClr val="CFE5F2"/>
                </a:solidFill>
                <a:latin typeface="Arial"/>
                <a:ea typeface="Arial"/>
                <a:cs typeface="Arial"/>
              </a:defRPr>
            </a:pPr>
            <a:r>
              <a:rPr sz="1300" b="1">
                <a:solidFill>
                  <a:srgbClr val="CFE5F2"/>
                </a:solidFill>
                <a:latin typeface="Arial"/>
                <a:ea typeface="Arial"/>
                <a:cs typeface="Arial"/>
              </a:rPr>
              <a:t>15 / 19</a:t>
            </a:r>
            <a:endParaRPr/>
          </a:p>
        </p:txBody>
      </p:sp>
      <p:sp>
        <p:nvSpPr>
          <p:cNvPr id="2105554436" name=""/>
          <p:cNvSpPr>
            <a:spLocks noGrp="1"/>
          </p:cNvSpPr>
          <p:nvPr/>
        </p:nvSpPr>
        <p:spPr bwMode="auto">
          <a:xfrm>
            <a:off x="762000" y="1219200"/>
            <a:ext cx="10334625" cy="790575"/>
          </a:xfrm>
          <a:prstGeom prst="rect">
            <a:avLst/>
          </a:prstGeom>
          <a:noFill/>
          <a:ln w="0">
            <a:noFill/>
          </a:ln>
        </p:spPr>
        <p:txBody>
          <a:bodyPr anchor="ctr">
            <a:normAutofit fontScale="100000"/>
          </a:bodyPr>
          <a:lstStyle/>
          <a:p>
            <a:pPr algn="l">
              <a:buNone/>
              <a:defRPr sz="2200" b="0">
                <a:solidFill>
                  <a:srgbClr val="CFE5F2"/>
                </a:solidFill>
                <a:latin typeface="Arial"/>
                <a:ea typeface="Arial"/>
                <a:cs typeface="Arial"/>
              </a:defRPr>
            </a:pPr>
            <a:r>
              <a:rPr sz="2200" b="0">
                <a:solidFill>
                  <a:srgbClr val="CFE5F2"/>
                </a:solidFill>
                <a:latin typeface="Arial"/>
                <a:ea typeface="Arial"/>
                <a:cs typeface="Arial"/>
              </a:rPr>
              <a:t>Las ayudas se activan cuando la persona las necesita. No existe un formulario aparte.</a:t>
            </a:r>
            <a:endParaRPr/>
          </a:p>
        </p:txBody>
      </p:sp>
      <p:sp>
        <p:nvSpPr>
          <p:cNvPr id="909728524" name=""/>
          <p:cNvSpPr>
            <a:spLocks noGrp="1"/>
          </p:cNvSpPr>
          <p:nvPr/>
        </p:nvSpPr>
        <p:spPr bwMode="auto">
          <a:xfrm>
            <a:off x="762000" y="2400300"/>
            <a:ext cx="3810000" cy="409575"/>
          </a:xfrm>
          <a:prstGeom prst="rect">
            <a:avLst/>
          </a:prstGeom>
          <a:noFill/>
          <a:ln w="0">
            <a:noFill/>
          </a:ln>
        </p:spPr>
        <p:txBody>
          <a:bodyPr anchor="ctr">
            <a:normAutofit fontScale="99405"/>
          </a:bodyPr>
          <a:lstStyle/>
          <a:p>
            <a:pPr algn="l">
              <a:buNone/>
              <a:defRPr sz="2100" b="1">
                <a:solidFill>
                  <a:srgbClr val="1CB7AE"/>
                </a:solidFill>
                <a:latin typeface="Arial"/>
                <a:ea typeface="Arial"/>
                <a:cs typeface="Arial"/>
              </a:defRPr>
            </a:pPr>
            <a:r>
              <a:rPr sz="2100" b="1">
                <a:solidFill>
                  <a:srgbClr val="1CB7AE"/>
                </a:solidFill>
                <a:latin typeface="Arial"/>
                <a:ea typeface="Arial"/>
                <a:cs typeface="Arial"/>
              </a:rPr>
              <a:t>Texto y botones</a:t>
            </a:r>
            <a:endParaRPr/>
          </a:p>
        </p:txBody>
      </p:sp>
      <p:sp>
        <p:nvSpPr>
          <p:cNvPr id="210521236" name=""/>
          <p:cNvSpPr>
            <a:spLocks noGrp="1"/>
          </p:cNvSpPr>
          <p:nvPr/>
        </p:nvSpPr>
        <p:spPr bwMode="auto">
          <a:xfrm>
            <a:off x="762000" y="2752725"/>
            <a:ext cx="3810000" cy="371475"/>
          </a:xfrm>
          <a:prstGeom prst="rect">
            <a:avLst/>
          </a:prstGeom>
          <a:noFill/>
          <a:ln w="0">
            <a:noFill/>
          </a:ln>
        </p:spPr>
        <p:txBody>
          <a:bodyPr anchor="ctr">
            <a:normAutofit fontScale="100000"/>
          </a:bodyPr>
          <a:lstStyle/>
          <a:p>
            <a:pPr algn="l">
              <a:buNone/>
              <a:defRPr sz="1650" b="0">
                <a:solidFill>
                  <a:srgbClr val="FFFFFF"/>
                </a:solidFill>
                <a:latin typeface="Arial"/>
                <a:ea typeface="Arial"/>
                <a:cs typeface="Arial"/>
              </a:defRPr>
            </a:pPr>
            <a:r>
              <a:rPr sz="1650" b="0">
                <a:solidFill>
                  <a:srgbClr val="FFFFFF"/>
                </a:solidFill>
                <a:latin typeface="Arial"/>
                <a:ea typeface="Arial"/>
                <a:cs typeface="Arial"/>
              </a:rPr>
              <a:t>Tamaños ajustables</a:t>
            </a:r>
            <a:endParaRPr/>
          </a:p>
        </p:txBody>
      </p:sp>
      <p:sp>
        <p:nvSpPr>
          <p:cNvPr id="1222160566" name=""/>
          <p:cNvSpPr>
            <a:spLocks noGrp="1"/>
          </p:cNvSpPr>
          <p:nvPr/>
        </p:nvSpPr>
        <p:spPr bwMode="auto">
          <a:xfrm>
            <a:off x="762000" y="3162300"/>
            <a:ext cx="3810000" cy="9525"/>
          </a:xfrm>
          <a:prstGeom prst="rect">
            <a:avLst/>
          </a:prstGeom>
          <a:solidFill>
            <a:srgbClr val="56657A"/>
          </a:solidFill>
          <a:ln w="0">
            <a:solidFill>
              <a:srgbClr val="56657A"/>
            </a:solidFill>
          </a:ln>
        </p:spPr>
      </p:sp>
      <p:sp>
        <p:nvSpPr>
          <p:cNvPr id="547287271" name=""/>
          <p:cNvSpPr>
            <a:spLocks noGrp="1"/>
          </p:cNvSpPr>
          <p:nvPr/>
        </p:nvSpPr>
        <p:spPr bwMode="auto">
          <a:xfrm>
            <a:off x="762000" y="3219449"/>
            <a:ext cx="3810000" cy="409575"/>
          </a:xfrm>
          <a:prstGeom prst="rect">
            <a:avLst/>
          </a:prstGeom>
          <a:noFill/>
          <a:ln w="0">
            <a:noFill/>
          </a:ln>
        </p:spPr>
        <p:txBody>
          <a:bodyPr anchor="ctr">
            <a:normAutofit fontScale="99405"/>
          </a:bodyPr>
          <a:lstStyle/>
          <a:p>
            <a:pPr algn="l">
              <a:buNone/>
              <a:defRPr sz="2100" b="1">
                <a:solidFill>
                  <a:srgbClr val="1CB7AE"/>
                </a:solidFill>
                <a:latin typeface="Arial"/>
                <a:ea typeface="Arial"/>
                <a:cs typeface="Arial"/>
              </a:defRPr>
            </a:pPr>
            <a:r>
              <a:rPr sz="2100" b="1">
                <a:solidFill>
                  <a:srgbClr val="1CB7AE"/>
                </a:solidFill>
                <a:latin typeface="Arial"/>
                <a:ea typeface="Arial"/>
                <a:cs typeface="Arial"/>
              </a:rPr>
              <a:t>Contraste</a:t>
            </a:r>
            <a:endParaRPr/>
          </a:p>
        </p:txBody>
      </p:sp>
      <p:sp>
        <p:nvSpPr>
          <p:cNvPr id="1238592079" name=""/>
          <p:cNvSpPr>
            <a:spLocks noGrp="1"/>
          </p:cNvSpPr>
          <p:nvPr/>
        </p:nvSpPr>
        <p:spPr bwMode="auto">
          <a:xfrm>
            <a:off x="762000" y="3571875"/>
            <a:ext cx="3810000" cy="371475"/>
          </a:xfrm>
          <a:prstGeom prst="rect">
            <a:avLst/>
          </a:prstGeom>
          <a:noFill/>
          <a:ln w="0">
            <a:noFill/>
          </a:ln>
        </p:spPr>
        <p:txBody>
          <a:bodyPr anchor="ctr">
            <a:normAutofit fontScale="100000"/>
          </a:bodyPr>
          <a:lstStyle/>
          <a:p>
            <a:pPr algn="l">
              <a:buNone/>
              <a:defRPr sz="1650" b="0">
                <a:solidFill>
                  <a:srgbClr val="FFFFFF"/>
                </a:solidFill>
                <a:latin typeface="Arial"/>
                <a:ea typeface="Arial"/>
                <a:cs typeface="Arial"/>
              </a:defRPr>
            </a:pPr>
            <a:r>
              <a:rPr sz="1650" b="0">
                <a:solidFill>
                  <a:srgbClr val="FFFFFF"/>
                </a:solidFill>
                <a:latin typeface="Arial"/>
                <a:ea typeface="Arial"/>
                <a:cs typeface="Arial"/>
              </a:rPr>
              <a:t>Lectura más visible</a:t>
            </a:r>
            <a:endParaRPr/>
          </a:p>
        </p:txBody>
      </p:sp>
      <p:sp>
        <p:nvSpPr>
          <p:cNvPr id="618472127" name=""/>
          <p:cNvSpPr>
            <a:spLocks noGrp="1"/>
          </p:cNvSpPr>
          <p:nvPr/>
        </p:nvSpPr>
        <p:spPr bwMode="auto">
          <a:xfrm>
            <a:off x="762000" y="3981450"/>
            <a:ext cx="3810000" cy="9525"/>
          </a:xfrm>
          <a:prstGeom prst="rect">
            <a:avLst/>
          </a:prstGeom>
          <a:solidFill>
            <a:srgbClr val="56657A"/>
          </a:solidFill>
          <a:ln w="0">
            <a:solidFill>
              <a:srgbClr val="56657A"/>
            </a:solidFill>
          </a:ln>
        </p:spPr>
      </p:sp>
      <p:sp>
        <p:nvSpPr>
          <p:cNvPr id="109830225" name=""/>
          <p:cNvSpPr>
            <a:spLocks noGrp="1"/>
          </p:cNvSpPr>
          <p:nvPr/>
        </p:nvSpPr>
        <p:spPr bwMode="auto">
          <a:xfrm>
            <a:off x="762000" y="4038600"/>
            <a:ext cx="3810000" cy="409575"/>
          </a:xfrm>
          <a:prstGeom prst="rect">
            <a:avLst/>
          </a:prstGeom>
          <a:noFill/>
          <a:ln w="0">
            <a:noFill/>
          </a:ln>
        </p:spPr>
        <p:txBody>
          <a:bodyPr anchor="ctr">
            <a:normAutofit fontScale="99405"/>
          </a:bodyPr>
          <a:lstStyle/>
          <a:p>
            <a:pPr algn="l">
              <a:buNone/>
              <a:defRPr sz="2100" b="1">
                <a:solidFill>
                  <a:srgbClr val="1CB7AE"/>
                </a:solidFill>
                <a:latin typeface="Arial"/>
                <a:ea typeface="Arial"/>
                <a:cs typeface="Arial"/>
              </a:defRPr>
            </a:pPr>
            <a:r>
              <a:rPr sz="2100" b="1">
                <a:solidFill>
                  <a:srgbClr val="1CB7AE"/>
                </a:solidFill>
                <a:latin typeface="Arial"/>
                <a:ea typeface="Arial"/>
                <a:cs typeface="Arial"/>
              </a:rPr>
              <a:t>Teclado</a:t>
            </a:r>
            <a:endParaRPr/>
          </a:p>
        </p:txBody>
      </p:sp>
      <p:sp>
        <p:nvSpPr>
          <p:cNvPr id="1311576107" name=""/>
          <p:cNvSpPr>
            <a:spLocks noGrp="1"/>
          </p:cNvSpPr>
          <p:nvPr/>
        </p:nvSpPr>
        <p:spPr bwMode="auto">
          <a:xfrm>
            <a:off x="762000" y="4391025"/>
            <a:ext cx="3810000" cy="371475"/>
          </a:xfrm>
          <a:prstGeom prst="rect">
            <a:avLst/>
          </a:prstGeom>
          <a:noFill/>
          <a:ln w="0">
            <a:noFill/>
          </a:ln>
        </p:spPr>
        <p:txBody>
          <a:bodyPr anchor="ctr">
            <a:normAutofit fontScale="100000"/>
          </a:bodyPr>
          <a:lstStyle/>
          <a:p>
            <a:pPr algn="l">
              <a:buNone/>
              <a:defRPr sz="1650" b="0">
                <a:solidFill>
                  <a:srgbClr val="FFFFFF"/>
                </a:solidFill>
                <a:latin typeface="Arial"/>
                <a:ea typeface="Arial"/>
                <a:cs typeface="Arial"/>
              </a:defRPr>
            </a:pPr>
            <a:r>
              <a:rPr sz="1650" b="0">
                <a:solidFill>
                  <a:srgbClr val="FFFFFF"/>
                </a:solidFill>
                <a:latin typeface="Arial"/>
                <a:ea typeface="Arial"/>
                <a:cs typeface="Arial"/>
              </a:rPr>
              <a:t>Foco e interacción</a:t>
            </a:r>
            <a:endParaRPr/>
          </a:p>
        </p:txBody>
      </p:sp>
      <p:sp>
        <p:nvSpPr>
          <p:cNvPr id="1344445162" name=""/>
          <p:cNvSpPr>
            <a:spLocks noGrp="1"/>
          </p:cNvSpPr>
          <p:nvPr/>
        </p:nvSpPr>
        <p:spPr bwMode="auto">
          <a:xfrm>
            <a:off x="762000" y="4800600"/>
            <a:ext cx="3810000" cy="9525"/>
          </a:xfrm>
          <a:prstGeom prst="rect">
            <a:avLst/>
          </a:prstGeom>
          <a:solidFill>
            <a:srgbClr val="56657A"/>
          </a:solidFill>
          <a:ln w="0">
            <a:solidFill>
              <a:srgbClr val="56657A"/>
            </a:solidFill>
          </a:ln>
        </p:spPr>
      </p:sp>
      <p:sp>
        <p:nvSpPr>
          <p:cNvPr id="1247494469" name=""/>
          <p:cNvSpPr>
            <a:spLocks noGrp="1"/>
          </p:cNvSpPr>
          <p:nvPr/>
        </p:nvSpPr>
        <p:spPr bwMode="auto">
          <a:xfrm>
            <a:off x="762000" y="4857750"/>
            <a:ext cx="3810000" cy="409575"/>
          </a:xfrm>
          <a:prstGeom prst="rect">
            <a:avLst/>
          </a:prstGeom>
          <a:noFill/>
          <a:ln w="0">
            <a:noFill/>
          </a:ln>
        </p:spPr>
        <p:txBody>
          <a:bodyPr anchor="ctr">
            <a:normAutofit fontScale="99405"/>
          </a:bodyPr>
          <a:lstStyle/>
          <a:p>
            <a:pPr algn="l">
              <a:buNone/>
              <a:defRPr sz="2100" b="1">
                <a:solidFill>
                  <a:srgbClr val="1CB7AE"/>
                </a:solidFill>
                <a:latin typeface="Arial"/>
                <a:ea typeface="Arial"/>
                <a:cs typeface="Arial"/>
              </a:defRPr>
            </a:pPr>
            <a:r>
              <a:rPr sz="2100" b="1">
                <a:solidFill>
                  <a:srgbClr val="1CB7AE"/>
                </a:solidFill>
                <a:latin typeface="Arial"/>
                <a:ea typeface="Arial"/>
                <a:cs typeface="Arial"/>
              </a:rPr>
              <a:t>Voz</a:t>
            </a:r>
            <a:endParaRPr/>
          </a:p>
        </p:txBody>
      </p:sp>
      <p:sp>
        <p:nvSpPr>
          <p:cNvPr id="975768418" name=""/>
          <p:cNvSpPr>
            <a:spLocks noGrp="1"/>
          </p:cNvSpPr>
          <p:nvPr/>
        </p:nvSpPr>
        <p:spPr bwMode="auto">
          <a:xfrm>
            <a:off x="762000" y="5210175"/>
            <a:ext cx="3810000" cy="371475"/>
          </a:xfrm>
          <a:prstGeom prst="rect">
            <a:avLst/>
          </a:prstGeom>
          <a:noFill/>
          <a:ln w="0">
            <a:noFill/>
          </a:ln>
        </p:spPr>
        <p:txBody>
          <a:bodyPr anchor="ctr">
            <a:normAutofit fontScale="100000"/>
          </a:bodyPr>
          <a:lstStyle/>
          <a:p>
            <a:pPr algn="l">
              <a:buNone/>
              <a:defRPr sz="1650" b="0">
                <a:solidFill>
                  <a:srgbClr val="FFFFFF"/>
                </a:solidFill>
                <a:latin typeface="Arial"/>
                <a:ea typeface="Arial"/>
                <a:cs typeface="Arial"/>
              </a:defRPr>
            </a:pPr>
            <a:r>
              <a:rPr sz="1650" b="0">
                <a:solidFill>
                  <a:srgbClr val="FFFFFF"/>
                </a:solidFill>
                <a:latin typeface="Arial"/>
                <a:ea typeface="Arial"/>
                <a:cs typeface="Arial"/>
              </a:rPr>
              <a:t>Lectura opcional</a:t>
            </a:r>
            <a:endParaRPr/>
          </a:p>
        </p:txBody>
      </p:sp>
      <p:sp>
        <p:nvSpPr>
          <p:cNvPr id="458127715" name=""/>
          <p:cNvSpPr>
            <a:spLocks noGrp="1"/>
          </p:cNvSpPr>
          <p:nvPr/>
        </p:nvSpPr>
        <p:spPr bwMode="auto">
          <a:xfrm>
            <a:off x="5048250" y="2314575"/>
            <a:ext cx="6381750" cy="3457575"/>
          </a:xfrm>
          <a:prstGeom prst="rect">
            <a:avLst/>
          </a:prstGeom>
          <a:solidFill>
            <a:srgbClr val="FFFFFF"/>
          </a:solidFill>
          <a:ln w="0">
            <a:solidFill>
              <a:srgbClr val="FFFFFF"/>
            </a:solidFill>
          </a:ln>
        </p:spPr>
      </p:sp>
      <p:pic>
        <p:nvPicPr>
          <p:cNvPr id="1062552444" name=""/>
          <p:cNvPicPr>
            <a:picLocks noChangeAspect="1"/>
          </p:cNvPicPr>
          <p:nvPr/>
        </p:nvPicPr>
        <p:blipFill rotWithShape="1">
          <a:blip r:embed="rId3"/>
          <a:stretch/>
        </p:blipFill>
        <p:spPr bwMode="auto">
          <a:xfrm>
            <a:off x="5694045" y="2447925"/>
            <a:ext cx="5090160" cy="31813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8F6F1"/>
        </a:solidFill>
      </p:bgPr>
    </p:bg>
    <p:spTree>
      <p:nvGrpSpPr>
        <p:cNvPr id="1" name=""/>
        <p:cNvGrpSpPr/>
        <p:nvPr/>
      </p:nvGrpSpPr>
      <p:grpSpPr bwMode="auto">
        <a:xfrm>
          <a:off x="0" y="0"/>
          <a:ext cx="0" cy="0"/>
          <a:chOff x="0" y="0"/>
          <a:chExt cx="0" cy="0"/>
        </a:xfrm>
      </p:grpSpPr>
      <p:sp>
        <p:nvSpPr>
          <p:cNvPr id="1348171819" name=""/>
          <p:cNvSpPr>
            <a:spLocks noGrp="1"/>
          </p:cNvSpPr>
          <p:nvPr/>
        </p:nvSpPr>
        <p:spPr bwMode="auto">
          <a:xfrm>
            <a:off x="495300" y="419100"/>
            <a:ext cx="57150" cy="514350"/>
          </a:xfrm>
          <a:prstGeom prst="rect">
            <a:avLst/>
          </a:prstGeom>
          <a:solidFill>
            <a:srgbClr val="F0745B"/>
          </a:solidFill>
          <a:ln w="0">
            <a:solidFill>
              <a:srgbClr val="F0745B"/>
            </a:solidFill>
          </a:ln>
        </p:spPr>
      </p:sp>
      <p:sp>
        <p:nvSpPr>
          <p:cNvPr id="148458093" name=""/>
          <p:cNvSpPr>
            <a:spLocks noGrp="1"/>
          </p:cNvSpPr>
          <p:nvPr/>
        </p:nvSpPr>
        <p:spPr bwMode="auto">
          <a:xfrm>
            <a:off x="742950" y="400050"/>
            <a:ext cx="9810750" cy="619125"/>
          </a:xfrm>
          <a:prstGeom prst="rect">
            <a:avLst/>
          </a:prstGeom>
          <a:noFill/>
          <a:ln w="0">
            <a:noFill/>
          </a:ln>
        </p:spPr>
        <p:txBody>
          <a:bodyPr anchor="ctr">
            <a:normAutofit fontScale="100000"/>
          </a:bodyPr>
          <a:lstStyle/>
          <a:p>
            <a:pPr algn="l">
              <a:buNone/>
              <a:defRPr sz="3150" b="1">
                <a:solidFill>
                  <a:srgbClr val="102653"/>
                </a:solidFill>
                <a:latin typeface="Arial"/>
                <a:ea typeface="Arial"/>
                <a:cs typeface="Arial"/>
              </a:defRPr>
            </a:pPr>
            <a:r>
              <a:rPr sz="3150" b="1">
                <a:solidFill>
                  <a:srgbClr val="102653"/>
                </a:solidFill>
                <a:latin typeface="Arial"/>
                <a:ea typeface="Arial"/>
                <a:cs typeface="Arial"/>
              </a:rPr>
              <a:t>EJERCICIOS QUE TAMBIÉN SE PUEDEN LEER</a:t>
            </a:r>
            <a:endParaRPr/>
          </a:p>
        </p:txBody>
      </p:sp>
      <p:sp>
        <p:nvSpPr>
          <p:cNvPr id="1738891832" name=""/>
          <p:cNvSpPr>
            <a:spLocks noGrp="1"/>
          </p:cNvSpPr>
          <p:nvPr/>
        </p:nvSpPr>
        <p:spPr bwMode="auto">
          <a:xfrm>
            <a:off x="10763250" y="447675"/>
            <a:ext cx="904875" cy="304800"/>
          </a:xfrm>
          <a:prstGeom prst="rect">
            <a:avLst/>
          </a:prstGeom>
          <a:noFill/>
          <a:ln w="0">
            <a:noFill/>
          </a:ln>
        </p:spPr>
        <p:txBody>
          <a:bodyPr anchor="ctr">
            <a:normAutofit fontScale="100000"/>
          </a:bodyPr>
          <a:lstStyle/>
          <a:p>
            <a:pPr algn="r">
              <a:buNone/>
              <a:defRPr sz="1300" b="1">
                <a:solidFill>
                  <a:srgbClr val="56657A"/>
                </a:solidFill>
                <a:latin typeface="Arial"/>
                <a:ea typeface="Arial"/>
                <a:cs typeface="Arial"/>
              </a:defRPr>
            </a:pPr>
            <a:r>
              <a:rPr sz="1300" b="1">
                <a:solidFill>
                  <a:srgbClr val="56657A"/>
                </a:solidFill>
                <a:latin typeface="Arial"/>
                <a:ea typeface="Arial"/>
                <a:cs typeface="Arial"/>
              </a:rPr>
              <a:t>16 / 19</a:t>
            </a:r>
            <a:endParaRPr/>
          </a:p>
        </p:txBody>
      </p:sp>
      <p:sp>
        <p:nvSpPr>
          <p:cNvPr id="756596965" name=""/>
          <p:cNvSpPr>
            <a:spLocks noGrp="1"/>
          </p:cNvSpPr>
          <p:nvPr/>
        </p:nvSpPr>
        <p:spPr bwMode="auto">
          <a:xfrm>
            <a:off x="742950" y="1143000"/>
            <a:ext cx="10382250" cy="704850"/>
          </a:xfrm>
          <a:prstGeom prst="rect">
            <a:avLst/>
          </a:prstGeom>
          <a:noFill/>
          <a:ln w="0">
            <a:noFill/>
          </a:ln>
        </p:spPr>
        <p:txBody>
          <a:bodyPr anchor="ctr">
            <a:normAutofit fontScale="100000"/>
          </a:bodyPr>
          <a:lstStyle/>
          <a:p>
            <a:pPr algn="l">
              <a:buNone/>
              <a:defRPr sz="2100" b="0">
                <a:solidFill>
                  <a:srgbClr val="56657A"/>
                </a:solidFill>
                <a:latin typeface="Arial"/>
                <a:ea typeface="Arial"/>
                <a:cs typeface="Arial"/>
              </a:defRPr>
            </a:pPr>
            <a:r>
              <a:rPr sz="2100" b="0">
                <a:solidFill>
                  <a:srgbClr val="56657A"/>
                </a:solidFill>
                <a:latin typeface="Arial"/>
                <a:ea typeface="Arial"/>
                <a:cs typeface="Arial"/>
              </a:rPr>
              <a:t>Los tres videos incluyen subtítulos sincronizados y una transcripción textual.</a:t>
            </a:r>
            <a:endParaRPr/>
          </a:p>
        </p:txBody>
      </p:sp>
      <p:pic>
        <p:nvPicPr>
          <p:cNvPr id="392943856" name=""/>
          <p:cNvPicPr>
            <a:picLocks noChangeAspect="1"/>
          </p:cNvPicPr>
          <p:nvPr/>
        </p:nvPicPr>
        <p:blipFill rotWithShape="1">
          <a:blip r:embed="rId3"/>
          <a:srcRect l="13825" t="0" r="13825" b="0"/>
          <a:stretch>
            <a:fillRect l="0" t="0" r="0" b="0"/>
          </a:stretch>
        </p:blipFill>
        <p:spPr bwMode="auto">
          <a:xfrm>
            <a:off x="685800" y="2219325"/>
            <a:ext cx="3381375" cy="2628900"/>
          </a:xfrm>
          <a:prstGeom prst="rect">
            <a:avLst/>
          </a:prstGeom>
        </p:spPr>
      </p:pic>
      <p:sp>
        <p:nvSpPr>
          <p:cNvPr id="1594336019" name=""/>
          <p:cNvSpPr>
            <a:spLocks noGrp="1"/>
          </p:cNvSpPr>
          <p:nvPr/>
        </p:nvSpPr>
        <p:spPr bwMode="auto">
          <a:xfrm>
            <a:off x="685800" y="5029200"/>
            <a:ext cx="3381375" cy="47625"/>
          </a:xfrm>
          <a:prstGeom prst="rect">
            <a:avLst/>
          </a:prstGeom>
          <a:solidFill>
            <a:srgbClr val="F0745B"/>
          </a:solidFill>
          <a:ln w="0">
            <a:solidFill>
              <a:srgbClr val="F0745B"/>
            </a:solidFill>
          </a:ln>
        </p:spPr>
      </p:sp>
      <p:sp>
        <p:nvSpPr>
          <p:cNvPr id="1752280888" name=""/>
          <p:cNvSpPr>
            <a:spLocks noGrp="1"/>
          </p:cNvSpPr>
          <p:nvPr/>
        </p:nvSpPr>
        <p:spPr bwMode="auto">
          <a:xfrm>
            <a:off x="685800" y="5248275"/>
            <a:ext cx="3333750" cy="847725"/>
          </a:xfrm>
          <a:prstGeom prst="rect">
            <a:avLst/>
          </a:prstGeom>
          <a:noFill/>
          <a:ln w="0">
            <a:noFill/>
          </a:ln>
        </p:spPr>
        <p:txBody>
          <a:bodyPr anchor="ctr">
            <a:normAutofit fontScale="100000"/>
          </a:bodyPr>
          <a:lstStyle/>
          <a:p>
            <a:pPr algn="l">
              <a:buNone/>
              <a:defRPr sz="2200" b="1">
                <a:solidFill>
                  <a:srgbClr val="102653"/>
                </a:solidFill>
                <a:latin typeface="Arial"/>
                <a:ea typeface="Arial"/>
                <a:cs typeface="Arial"/>
              </a:defRPr>
            </a:pPr>
            <a:r>
              <a:rPr sz="2200" b="1">
                <a:solidFill>
                  <a:srgbClr val="102653"/>
                </a:solidFill>
                <a:latin typeface="Arial"/>
                <a:ea typeface="Arial"/>
                <a:cs typeface="Arial"/>
              </a:rPr>
              <a:t>Movilidad de hombro</a:t>
            </a:r>
            <a:endParaRPr/>
          </a:p>
        </p:txBody>
      </p:sp>
      <p:pic>
        <p:nvPicPr>
          <p:cNvPr id="360530586" name=""/>
          <p:cNvPicPr>
            <a:picLocks noChangeAspect="1"/>
          </p:cNvPicPr>
          <p:nvPr/>
        </p:nvPicPr>
        <p:blipFill rotWithShape="1">
          <a:blip r:embed="rId4"/>
          <a:srcRect l="13825" t="0" r="13825" b="0"/>
          <a:stretch>
            <a:fillRect l="0" t="0" r="0" b="0"/>
          </a:stretch>
        </p:blipFill>
        <p:spPr bwMode="auto">
          <a:xfrm>
            <a:off x="4400550" y="2219325"/>
            <a:ext cx="3381375" cy="2628900"/>
          </a:xfrm>
          <a:prstGeom prst="rect">
            <a:avLst/>
          </a:prstGeom>
        </p:spPr>
      </p:pic>
      <p:sp>
        <p:nvSpPr>
          <p:cNvPr id="618718489" name=""/>
          <p:cNvSpPr>
            <a:spLocks noGrp="1"/>
          </p:cNvSpPr>
          <p:nvPr/>
        </p:nvSpPr>
        <p:spPr bwMode="auto">
          <a:xfrm>
            <a:off x="4400550" y="5029200"/>
            <a:ext cx="3381375" cy="47625"/>
          </a:xfrm>
          <a:prstGeom prst="rect">
            <a:avLst/>
          </a:prstGeom>
          <a:solidFill>
            <a:srgbClr val="1CB7AE"/>
          </a:solidFill>
          <a:ln w="0">
            <a:solidFill>
              <a:srgbClr val="1CB7AE"/>
            </a:solidFill>
          </a:ln>
        </p:spPr>
      </p:sp>
      <p:sp>
        <p:nvSpPr>
          <p:cNvPr id="1646228785" name=""/>
          <p:cNvSpPr>
            <a:spLocks noGrp="1"/>
          </p:cNvSpPr>
          <p:nvPr/>
        </p:nvSpPr>
        <p:spPr bwMode="auto">
          <a:xfrm>
            <a:off x="4400550" y="5248275"/>
            <a:ext cx="3333750" cy="847725"/>
          </a:xfrm>
          <a:prstGeom prst="rect">
            <a:avLst/>
          </a:prstGeom>
          <a:noFill/>
          <a:ln w="0">
            <a:noFill/>
          </a:ln>
        </p:spPr>
        <p:txBody>
          <a:bodyPr anchor="ctr">
            <a:normAutofit fontScale="100000"/>
          </a:bodyPr>
          <a:lstStyle/>
          <a:p>
            <a:pPr algn="l">
              <a:buNone/>
              <a:defRPr sz="2200" b="1">
                <a:solidFill>
                  <a:srgbClr val="102653"/>
                </a:solidFill>
                <a:latin typeface="Arial"/>
                <a:ea typeface="Arial"/>
                <a:cs typeface="Arial"/>
              </a:defRPr>
            </a:pPr>
            <a:r>
              <a:rPr sz="2200" b="1">
                <a:solidFill>
                  <a:srgbClr val="102653"/>
                </a:solidFill>
                <a:latin typeface="Arial"/>
                <a:ea typeface="Arial"/>
                <a:cs typeface="Arial"/>
              </a:rPr>
              <a:t>Fortalecimiento de rodilla</a:t>
            </a:r>
            <a:endParaRPr/>
          </a:p>
        </p:txBody>
      </p:sp>
      <p:pic>
        <p:nvPicPr>
          <p:cNvPr id="1637150851" name=""/>
          <p:cNvPicPr>
            <a:picLocks noChangeAspect="1"/>
          </p:cNvPicPr>
          <p:nvPr/>
        </p:nvPicPr>
        <p:blipFill rotWithShape="1">
          <a:blip r:embed="rId5"/>
          <a:srcRect l="13825" t="0" r="13825" b="0"/>
          <a:stretch>
            <a:fillRect l="0" t="0" r="0" b="0"/>
          </a:stretch>
        </p:blipFill>
        <p:spPr bwMode="auto">
          <a:xfrm>
            <a:off x="8115300" y="2219325"/>
            <a:ext cx="3381375" cy="2628900"/>
          </a:xfrm>
          <a:prstGeom prst="rect">
            <a:avLst/>
          </a:prstGeom>
        </p:spPr>
      </p:pic>
      <p:sp>
        <p:nvSpPr>
          <p:cNvPr id="1101945945" name=""/>
          <p:cNvSpPr>
            <a:spLocks noGrp="1"/>
          </p:cNvSpPr>
          <p:nvPr/>
        </p:nvSpPr>
        <p:spPr bwMode="auto">
          <a:xfrm>
            <a:off x="8115300" y="5029200"/>
            <a:ext cx="3381375" cy="47625"/>
          </a:xfrm>
          <a:prstGeom prst="rect">
            <a:avLst/>
          </a:prstGeom>
          <a:solidFill>
            <a:srgbClr val="F0745B"/>
          </a:solidFill>
          <a:ln w="0">
            <a:solidFill>
              <a:srgbClr val="F0745B"/>
            </a:solidFill>
          </a:ln>
        </p:spPr>
      </p:sp>
      <p:sp>
        <p:nvSpPr>
          <p:cNvPr id="1412735733" name=""/>
          <p:cNvSpPr>
            <a:spLocks noGrp="1"/>
          </p:cNvSpPr>
          <p:nvPr/>
        </p:nvSpPr>
        <p:spPr bwMode="auto">
          <a:xfrm>
            <a:off x="8115300" y="5248275"/>
            <a:ext cx="3333750" cy="847725"/>
          </a:xfrm>
          <a:prstGeom prst="rect">
            <a:avLst/>
          </a:prstGeom>
          <a:noFill/>
          <a:ln w="0">
            <a:noFill/>
          </a:ln>
        </p:spPr>
        <p:txBody>
          <a:bodyPr anchor="ctr">
            <a:normAutofit fontScale="100000"/>
          </a:bodyPr>
          <a:lstStyle/>
          <a:p>
            <a:pPr algn="l">
              <a:buNone/>
              <a:defRPr sz="2200" b="1">
                <a:solidFill>
                  <a:srgbClr val="102653"/>
                </a:solidFill>
                <a:latin typeface="Arial"/>
                <a:ea typeface="Arial"/>
                <a:cs typeface="Arial"/>
              </a:defRPr>
            </a:pPr>
            <a:r>
              <a:rPr sz="2200" b="1">
                <a:solidFill>
                  <a:srgbClr val="102653"/>
                </a:solidFill>
                <a:latin typeface="Arial"/>
                <a:ea typeface="Arial"/>
                <a:cs typeface="Arial"/>
              </a:rPr>
              <a:t>Respiración diafragmática</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bg>
      <p:bgPr shadeToTitle="0">
        <a:solidFill>
          <a:srgbClr val="F8F6F1"/>
        </a:solidFill>
      </p:bgPr>
    </p:bg>
    <p:spTree>
      <p:nvGrpSpPr>
        <p:cNvPr id="1" name=""/>
        <p:cNvGrpSpPr/>
        <p:nvPr/>
      </p:nvGrpSpPr>
      <p:grpSpPr bwMode="auto">
        <a:xfrm>
          <a:off x="0" y="0"/>
          <a:ext cx="0" cy="0"/>
          <a:chOff x="0" y="0"/>
          <a:chExt cx="0" cy="0"/>
        </a:xfrm>
      </p:grpSpPr>
      <p:sp>
        <p:nvSpPr>
          <p:cNvPr id="1123650890" name=""/>
          <p:cNvSpPr>
            <a:spLocks noGrp="1"/>
          </p:cNvSpPr>
          <p:nvPr/>
        </p:nvSpPr>
        <p:spPr bwMode="auto">
          <a:xfrm>
            <a:off x="495300" y="419100"/>
            <a:ext cx="57150" cy="514350"/>
          </a:xfrm>
          <a:prstGeom prst="rect">
            <a:avLst/>
          </a:prstGeom>
          <a:solidFill>
            <a:srgbClr val="F0745B"/>
          </a:solidFill>
          <a:ln w="0">
            <a:solidFill>
              <a:srgbClr val="F0745B"/>
            </a:solidFill>
          </a:ln>
        </p:spPr>
      </p:sp>
      <p:sp>
        <p:nvSpPr>
          <p:cNvPr id="143729136" name=""/>
          <p:cNvSpPr>
            <a:spLocks noGrp="1"/>
          </p:cNvSpPr>
          <p:nvPr/>
        </p:nvSpPr>
        <p:spPr bwMode="auto">
          <a:xfrm>
            <a:off x="742950" y="400050"/>
            <a:ext cx="9810750" cy="619125"/>
          </a:xfrm>
          <a:prstGeom prst="rect">
            <a:avLst/>
          </a:prstGeom>
          <a:noFill/>
          <a:ln w="0">
            <a:noFill/>
          </a:ln>
        </p:spPr>
        <p:txBody>
          <a:bodyPr anchor="ctr">
            <a:normAutofit fontScale="100000"/>
          </a:bodyPr>
          <a:lstStyle/>
          <a:p>
            <a:pPr algn="l">
              <a:buNone/>
              <a:defRPr sz="3150" b="1">
                <a:solidFill>
                  <a:srgbClr val="102653"/>
                </a:solidFill>
                <a:latin typeface="Arial"/>
                <a:ea typeface="Arial"/>
                <a:cs typeface="Arial"/>
              </a:defRPr>
            </a:pPr>
            <a:r>
              <a:rPr sz="3150" b="1">
                <a:solidFill>
                  <a:srgbClr val="102653"/>
                </a:solidFill>
                <a:latin typeface="Arial"/>
                <a:ea typeface="Arial"/>
                <a:cs typeface="Arial"/>
              </a:rPr>
              <a:t>QUÉ ESTÁ COMPROBADO Y QUÉ FALTA</a:t>
            </a:r>
            <a:endParaRPr/>
          </a:p>
        </p:txBody>
      </p:sp>
      <p:sp>
        <p:nvSpPr>
          <p:cNvPr id="863414150" name=""/>
          <p:cNvSpPr>
            <a:spLocks noGrp="1"/>
          </p:cNvSpPr>
          <p:nvPr/>
        </p:nvSpPr>
        <p:spPr bwMode="auto">
          <a:xfrm>
            <a:off x="10763250" y="447675"/>
            <a:ext cx="904875" cy="304800"/>
          </a:xfrm>
          <a:prstGeom prst="rect">
            <a:avLst/>
          </a:prstGeom>
          <a:noFill/>
          <a:ln w="0">
            <a:noFill/>
          </a:ln>
        </p:spPr>
        <p:txBody>
          <a:bodyPr anchor="ctr">
            <a:normAutofit fontScale="100000"/>
          </a:bodyPr>
          <a:lstStyle/>
          <a:p>
            <a:pPr algn="r">
              <a:buNone/>
              <a:defRPr sz="1300" b="1">
                <a:solidFill>
                  <a:srgbClr val="56657A"/>
                </a:solidFill>
                <a:latin typeface="Arial"/>
                <a:ea typeface="Arial"/>
                <a:cs typeface="Arial"/>
              </a:defRPr>
            </a:pPr>
            <a:r>
              <a:rPr sz="1300" b="1">
                <a:solidFill>
                  <a:srgbClr val="56657A"/>
                </a:solidFill>
                <a:latin typeface="Arial"/>
                <a:ea typeface="Arial"/>
                <a:cs typeface="Arial"/>
              </a:rPr>
              <a:t>17 / 19</a:t>
            </a:r>
            <a:endParaRPr/>
          </a:p>
        </p:txBody>
      </p:sp>
      <p:sp>
        <p:nvSpPr>
          <p:cNvPr id="563225117" name=""/>
          <p:cNvSpPr>
            <a:spLocks noGrp="1"/>
          </p:cNvSpPr>
          <p:nvPr/>
        </p:nvSpPr>
        <p:spPr bwMode="auto">
          <a:xfrm>
            <a:off x="742950" y="1133475"/>
            <a:ext cx="10096500" cy="866775"/>
          </a:xfrm>
          <a:prstGeom prst="rect">
            <a:avLst/>
          </a:prstGeom>
          <a:noFill/>
          <a:ln w="0">
            <a:noFill/>
          </a:ln>
        </p:spPr>
        <p:txBody>
          <a:bodyPr anchor="ctr">
            <a:normAutofit fontScale="100000"/>
          </a:bodyPr>
          <a:lstStyle/>
          <a:p>
            <a:pPr algn="l">
              <a:buNone/>
              <a:defRPr sz="2200" b="0">
                <a:solidFill>
                  <a:srgbClr val="56657A"/>
                </a:solidFill>
                <a:latin typeface="Arial"/>
                <a:ea typeface="Arial"/>
                <a:cs typeface="Arial"/>
              </a:defRPr>
            </a:pPr>
            <a:r>
              <a:rPr sz="2200" b="0">
                <a:solidFill>
                  <a:srgbClr val="56657A"/>
                </a:solidFill>
                <a:latin typeface="Arial"/>
                <a:ea typeface="Arial"/>
                <a:cs typeface="Arial"/>
              </a:rPr>
              <a:t>El prototipo funciona como demostración. La usabilidad con personas reales aún debe medirse.</a:t>
            </a:r>
            <a:endParaRPr/>
          </a:p>
        </p:txBody>
      </p:sp>
      <p:sp>
        <p:nvSpPr>
          <p:cNvPr id="2023944166" name=""/>
          <p:cNvSpPr>
            <a:spLocks noGrp="1"/>
          </p:cNvSpPr>
          <p:nvPr/>
        </p:nvSpPr>
        <p:spPr bwMode="auto">
          <a:xfrm>
            <a:off x="762000" y="2286000"/>
            <a:ext cx="47625" cy="2752725"/>
          </a:xfrm>
          <a:prstGeom prst="rect">
            <a:avLst/>
          </a:prstGeom>
          <a:solidFill>
            <a:srgbClr val="1CB7AE"/>
          </a:solidFill>
          <a:ln w="0">
            <a:solidFill>
              <a:srgbClr val="1CB7AE"/>
            </a:solidFill>
          </a:ln>
        </p:spPr>
      </p:sp>
      <p:sp>
        <p:nvSpPr>
          <p:cNvPr id="1652868230" name=""/>
          <p:cNvSpPr>
            <a:spLocks noGrp="1"/>
          </p:cNvSpPr>
          <p:nvPr/>
        </p:nvSpPr>
        <p:spPr bwMode="auto">
          <a:xfrm>
            <a:off x="1028700" y="2266950"/>
            <a:ext cx="4191000" cy="533400"/>
          </a:xfrm>
          <a:prstGeom prst="rect">
            <a:avLst/>
          </a:prstGeom>
          <a:noFill/>
          <a:ln w="0">
            <a:noFill/>
          </a:ln>
        </p:spPr>
        <p:txBody>
          <a:bodyPr anchor="ctr">
            <a:normAutofit fontScale="100000"/>
          </a:bodyPr>
          <a:lstStyle/>
          <a:p>
            <a:pPr algn="l">
              <a:buNone/>
              <a:defRPr sz="2350" b="1">
                <a:solidFill>
                  <a:srgbClr val="0055AE"/>
                </a:solidFill>
                <a:latin typeface="Arial"/>
                <a:ea typeface="Arial"/>
                <a:cs typeface="Arial"/>
              </a:defRPr>
            </a:pPr>
            <a:r>
              <a:rPr sz="2350" b="1">
                <a:solidFill>
                  <a:srgbClr val="0055AE"/>
                </a:solidFill>
                <a:latin typeface="Arial"/>
                <a:ea typeface="Arial"/>
                <a:cs typeface="Arial"/>
              </a:rPr>
              <a:t>Comprobado</a:t>
            </a:r>
            <a:endParaRPr/>
          </a:p>
        </p:txBody>
      </p:sp>
      <p:sp>
        <p:nvSpPr>
          <p:cNvPr id="294266409" name=""/>
          <p:cNvSpPr>
            <a:spLocks noGrp="1"/>
          </p:cNvSpPr>
          <p:nvPr/>
        </p:nvSpPr>
        <p:spPr bwMode="auto">
          <a:xfrm>
            <a:off x="1028700" y="2971800"/>
            <a:ext cx="4191000" cy="1781175"/>
          </a:xfrm>
          <a:prstGeom prst="rect">
            <a:avLst/>
          </a:prstGeom>
          <a:noFill/>
          <a:ln w="0">
            <a:noFill/>
          </a:ln>
        </p:spPr>
        <p:txBody>
          <a:bodyPr anchor="ctr">
            <a:normAutofit fontScale="100000"/>
          </a:bodyPr>
          <a:lstStyle/>
          <a:p>
            <a:pPr algn="l">
              <a:buNone/>
              <a:defRPr sz="1900" b="0">
                <a:solidFill>
                  <a:srgbClr val="102653"/>
                </a:solidFill>
                <a:latin typeface="Arial"/>
                <a:ea typeface="Arial"/>
                <a:cs typeface="Arial"/>
              </a:defRPr>
            </a:pPr>
            <a:r>
              <a:rPr sz="1900" b="0">
                <a:solidFill>
                  <a:srgbClr val="102653"/>
                </a:solidFill>
                <a:latin typeface="Arial"/>
                <a:ea typeface="Arial"/>
                <a:cs typeface="Arial"/>
              </a:rPr>
              <a:t>Pruebas automáticas del código, revisión y compilación aprobadas. Navegación y flujo de cita probados en navegador.</a:t>
            </a:r>
            <a:endParaRPr/>
          </a:p>
        </p:txBody>
      </p:sp>
      <p:sp>
        <p:nvSpPr>
          <p:cNvPr id="287706686" name=""/>
          <p:cNvSpPr>
            <a:spLocks noGrp="1"/>
          </p:cNvSpPr>
          <p:nvPr/>
        </p:nvSpPr>
        <p:spPr bwMode="auto">
          <a:xfrm>
            <a:off x="6181725" y="2286000"/>
            <a:ext cx="47625" cy="2752725"/>
          </a:xfrm>
          <a:prstGeom prst="rect">
            <a:avLst/>
          </a:prstGeom>
          <a:solidFill>
            <a:srgbClr val="F0745B"/>
          </a:solidFill>
          <a:ln w="0">
            <a:solidFill>
              <a:srgbClr val="F0745B"/>
            </a:solidFill>
          </a:ln>
        </p:spPr>
      </p:sp>
      <p:sp>
        <p:nvSpPr>
          <p:cNvPr id="1807081981" name=""/>
          <p:cNvSpPr>
            <a:spLocks noGrp="1"/>
          </p:cNvSpPr>
          <p:nvPr/>
        </p:nvSpPr>
        <p:spPr bwMode="auto">
          <a:xfrm>
            <a:off x="6448425" y="2266950"/>
            <a:ext cx="4191000" cy="533400"/>
          </a:xfrm>
          <a:prstGeom prst="rect">
            <a:avLst/>
          </a:prstGeom>
          <a:noFill/>
          <a:ln w="0">
            <a:noFill/>
          </a:ln>
        </p:spPr>
        <p:txBody>
          <a:bodyPr anchor="ctr">
            <a:normAutofit fontScale="100000"/>
          </a:bodyPr>
          <a:lstStyle/>
          <a:p>
            <a:pPr algn="l">
              <a:buNone/>
              <a:defRPr sz="2350" b="1">
                <a:solidFill>
                  <a:srgbClr val="F0745B"/>
                </a:solidFill>
                <a:latin typeface="Arial"/>
                <a:ea typeface="Arial"/>
                <a:cs typeface="Arial"/>
              </a:defRPr>
            </a:pPr>
            <a:r>
              <a:rPr sz="2350" b="1">
                <a:solidFill>
                  <a:srgbClr val="F0745B"/>
                </a:solidFill>
                <a:latin typeface="Arial"/>
                <a:ea typeface="Arial"/>
                <a:cs typeface="Arial"/>
              </a:rPr>
              <a:t>Pendiente</a:t>
            </a:r>
            <a:endParaRPr/>
          </a:p>
        </p:txBody>
      </p:sp>
      <p:sp>
        <p:nvSpPr>
          <p:cNvPr id="1902948045" name=""/>
          <p:cNvSpPr>
            <a:spLocks noGrp="1"/>
          </p:cNvSpPr>
          <p:nvPr/>
        </p:nvSpPr>
        <p:spPr bwMode="auto">
          <a:xfrm>
            <a:off x="6448425" y="2971800"/>
            <a:ext cx="4191000" cy="1781175"/>
          </a:xfrm>
          <a:prstGeom prst="rect">
            <a:avLst/>
          </a:prstGeom>
          <a:noFill/>
          <a:ln w="0">
            <a:noFill/>
          </a:ln>
        </p:spPr>
        <p:txBody>
          <a:bodyPr anchor="ctr">
            <a:normAutofit fontScale="100000"/>
          </a:bodyPr>
          <a:lstStyle/>
          <a:p>
            <a:pPr algn="l">
              <a:buNone/>
              <a:defRPr sz="1900" b="0">
                <a:solidFill>
                  <a:srgbClr val="102653"/>
                </a:solidFill>
                <a:latin typeface="Arial"/>
                <a:ea typeface="Arial"/>
                <a:cs typeface="Arial"/>
              </a:defRPr>
            </a:pPr>
            <a:r>
              <a:rPr sz="1900" b="0">
                <a:solidFill>
                  <a:srgbClr val="102653"/>
                </a:solidFill>
                <a:latin typeface="Arial"/>
                <a:ea typeface="Arial"/>
                <a:cs typeface="Arial"/>
              </a:rPr>
              <a:t>Sesiones con participantes, lector de pantalla y medición del tiempo y los errores al solicitar una cita.</a:t>
            </a:r>
            <a:endParaRPr/>
          </a:p>
        </p:txBody>
      </p:sp>
      <p:sp>
        <p:nvSpPr>
          <p:cNvPr id="1855943657" name=""/>
          <p:cNvSpPr>
            <a:spLocks noGrp="1"/>
          </p:cNvSpPr>
          <p:nvPr/>
        </p:nvSpPr>
        <p:spPr bwMode="auto">
          <a:xfrm>
            <a:off x="0" y="5448300"/>
            <a:ext cx="12192000" cy="1409700"/>
          </a:xfrm>
          <a:prstGeom prst="rect">
            <a:avLst/>
          </a:prstGeom>
          <a:solidFill>
            <a:srgbClr val="102653"/>
          </a:solidFill>
          <a:ln w="0">
            <a:solidFill>
              <a:srgbClr val="102653"/>
            </a:solidFill>
          </a:ln>
        </p:spPr>
      </p:sp>
      <p:sp>
        <p:nvSpPr>
          <p:cNvPr id="897043435" name=""/>
          <p:cNvSpPr>
            <a:spLocks noGrp="1"/>
          </p:cNvSpPr>
          <p:nvPr/>
        </p:nvSpPr>
        <p:spPr bwMode="auto">
          <a:xfrm>
            <a:off x="704850" y="5743575"/>
            <a:ext cx="10715625" cy="704850"/>
          </a:xfrm>
          <a:prstGeom prst="rect">
            <a:avLst/>
          </a:prstGeom>
          <a:noFill/>
          <a:ln w="0">
            <a:noFill/>
          </a:ln>
        </p:spPr>
        <p:txBody>
          <a:bodyPr anchor="ctr">
            <a:normAutofit fontScale="100000"/>
          </a:bodyPr>
          <a:lstStyle/>
          <a:p>
            <a:pPr algn="l">
              <a:buNone/>
              <a:defRPr sz="2100" b="1">
                <a:solidFill>
                  <a:srgbClr val="FFFFFF"/>
                </a:solidFill>
                <a:latin typeface="Arial"/>
                <a:ea typeface="Arial"/>
                <a:cs typeface="Arial"/>
              </a:defRPr>
            </a:pPr>
            <a:r>
              <a:rPr sz="2100" b="1">
                <a:solidFill>
                  <a:srgbClr val="FFFFFF"/>
                </a:solidFill>
                <a:latin typeface="Arial"/>
                <a:ea typeface="Arial"/>
                <a:cs typeface="Arial"/>
              </a:rPr>
              <a:t>Citas y horarios simulados · Sin conexión con los sistemas del IESS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17</Slides>
  <Notes>17</Notes>
  <HiddenSlides>0</HiddenSlides>
  <MMClips>2</MMClips>
  <ScaleCrop>0</ScaleCrop>
  <HeadingPairs>
    <vt:vector size="4" baseType="variant">
      <vt:variant>
        <vt:lpstr>Theme</vt:lpstr>
      </vt:variant>
      <vt:variant>
        <vt:i4>1</vt:i4>
      </vt:variant>
      <vt:variant>
        <vt:lpstr>Slide Titles</vt:lpstr>
      </vt:variant>
      <vt:variant>
        <vt:i4>17</vt:i4>
      </vt:variant>
    </vt:vector>
  </HeadingPairs>
  <TitlesOfParts>
    <vt:vector size="18"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
  <cp:revision>1</cp:revision>
  <dcterms:modified xsi:type="dcterms:W3CDTF">2026-10-08T14:10:07Z</dcterms:modified>
</cp:coreProperties>
</file>